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0bb58a3ad4fdf" /><Relationship Type="http://schemas.openxmlformats.org/officeDocument/2006/relationships/extended-properties" Target="/docProps/app.xml" Id="R9af6971a92d74809" /><Relationship Type="http://schemas.openxmlformats.org/officeDocument/2006/relationships/officeDocument" Target="/ppt/presentation.xml" Id="Rfc318080efaa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6cdce22434e4e"/>
  </p:sldMasterIdLst>
  <p:notesMasterIdLst>
    <p:notesMasterId xmlns:r="http://schemas.openxmlformats.org/officeDocument/2006/relationships" r:id="R688bd834413a4730"/>
  </p:notesMasterIdLst>
  <p:sldIdLst>
    <p:sldId xmlns:r="http://schemas.openxmlformats.org/officeDocument/2006/relationships" id="256" r:id="R4889646bb82f409c"/>
    <p:sldId xmlns:r="http://schemas.openxmlformats.org/officeDocument/2006/relationships" id="257" r:id="R6b079bf1019f46fd"/>
    <p:sldId xmlns:r="http://schemas.openxmlformats.org/officeDocument/2006/relationships" id="258" r:id="Rf0bc4023c45a478d"/>
    <p:sldId xmlns:r="http://schemas.openxmlformats.org/officeDocument/2006/relationships" id="259" r:id="R9e8ee21bf8b44f39"/>
    <p:sldId xmlns:r="http://schemas.openxmlformats.org/officeDocument/2006/relationships" id="260" r:id="R74ffaee85dd84e3e"/>
    <p:sldId xmlns:r="http://schemas.openxmlformats.org/officeDocument/2006/relationships" id="261" r:id="R513355e222cb49d2"/>
    <p:sldId xmlns:r="http://schemas.openxmlformats.org/officeDocument/2006/relationships" id="262" r:id="Rf76e8d6f78df4370"/>
    <p:sldId xmlns:r="http://schemas.openxmlformats.org/officeDocument/2006/relationships" id="263" r:id="R038cc696119746a3"/>
    <p:sldId xmlns:r="http://schemas.openxmlformats.org/officeDocument/2006/relationships" id="264" r:id="R25cc5a363ad7484d"/>
    <p:sldId xmlns:r="http://schemas.openxmlformats.org/officeDocument/2006/relationships" id="265" r:id="Rc1057edcdaa8434d"/>
    <p:sldId xmlns:r="http://schemas.openxmlformats.org/officeDocument/2006/relationships" id="266" r:id="Rdca2e99ca921457d"/>
    <p:sldId xmlns:r="http://schemas.openxmlformats.org/officeDocument/2006/relationships" id="267" r:id="R1bed5ac581cd486d"/>
    <p:sldId xmlns:r="http://schemas.openxmlformats.org/officeDocument/2006/relationships" id="268" r:id="Rc1b0b08c7269420d"/>
    <p:sldId xmlns:r="http://schemas.openxmlformats.org/officeDocument/2006/relationships" id="269" r:id="Rd61ab6b3ce7943c8"/>
    <p:sldId xmlns:r="http://schemas.openxmlformats.org/officeDocument/2006/relationships" id="270" r:id="R8b2d051cbfce4e70"/>
    <p:sldId xmlns:r="http://schemas.openxmlformats.org/officeDocument/2006/relationships" id="271" r:id="R04ea6c91581448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8898343c514261" /><Relationship Type="http://schemas.openxmlformats.org/officeDocument/2006/relationships/slideMaster" Target="/ppt/slideMasters/slideMaster1.xml" Id="Rf996cdce22434e4e" /><Relationship Type="http://schemas.openxmlformats.org/officeDocument/2006/relationships/notesMaster" Target="/ppt/notesMasters/notesMaster1.xml" Id="R688bd834413a4730" /><Relationship Type="http://schemas.openxmlformats.org/officeDocument/2006/relationships/presProps" Target="/ppt/presProps.xml" Id="R94a845e495914533" /><Relationship Type="http://schemas.openxmlformats.org/officeDocument/2006/relationships/tableStyles" Target="/ppt/tableStyles.xml" Id="R9c8d37a4e8794ade" /><Relationship Type="http://schemas.openxmlformats.org/officeDocument/2006/relationships/slide" Target="/ppt/slides/slide1.xml" Id="R4889646bb82f409c" /><Relationship Type="http://schemas.openxmlformats.org/officeDocument/2006/relationships/slide" Target="/ppt/slides/slide2.xml" Id="R6b079bf1019f46fd" /><Relationship Type="http://schemas.openxmlformats.org/officeDocument/2006/relationships/slide" Target="/ppt/slides/slide3.xml" Id="Rf0bc4023c45a478d" /><Relationship Type="http://schemas.openxmlformats.org/officeDocument/2006/relationships/slide" Target="/ppt/slides/slide4.xml" Id="R9e8ee21bf8b44f39" /><Relationship Type="http://schemas.openxmlformats.org/officeDocument/2006/relationships/slide" Target="/ppt/slides/slide5.xml" Id="R74ffaee85dd84e3e" /><Relationship Type="http://schemas.openxmlformats.org/officeDocument/2006/relationships/slide" Target="/ppt/slides/slide6.xml" Id="R513355e222cb49d2" /><Relationship Type="http://schemas.openxmlformats.org/officeDocument/2006/relationships/slide" Target="/ppt/slides/slide7.xml" Id="Rf76e8d6f78df4370" /><Relationship Type="http://schemas.openxmlformats.org/officeDocument/2006/relationships/slide" Target="/ppt/slides/slide8.xml" Id="R038cc696119746a3" /><Relationship Type="http://schemas.openxmlformats.org/officeDocument/2006/relationships/slide" Target="/ppt/slides/slide9.xml" Id="R25cc5a363ad7484d" /><Relationship Type="http://schemas.openxmlformats.org/officeDocument/2006/relationships/slide" Target="/ppt/slides/slide10.xml" Id="Rc1057edcdaa8434d" /><Relationship Type="http://schemas.openxmlformats.org/officeDocument/2006/relationships/slide" Target="/ppt/slides/slide11.xml" Id="Rdca2e99ca921457d" /><Relationship Type="http://schemas.openxmlformats.org/officeDocument/2006/relationships/slide" Target="/ppt/slides/slide12.xml" Id="R1bed5ac581cd486d" /><Relationship Type="http://schemas.openxmlformats.org/officeDocument/2006/relationships/slide" Target="/ppt/slides/slide13.xml" Id="Rc1b0b08c7269420d" /><Relationship Type="http://schemas.openxmlformats.org/officeDocument/2006/relationships/slide" Target="/ppt/slides/slide14.xml" Id="Rd61ab6b3ce7943c8" /><Relationship Type="http://schemas.openxmlformats.org/officeDocument/2006/relationships/slide" Target="/ppt/slides/slide15.xml" Id="R8b2d051cbfce4e70" /><Relationship Type="http://schemas.openxmlformats.org/officeDocument/2006/relationships/slide" Target="/ppt/slides/slide16.xml" Id="R04ea6c91581448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1157ab550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958944d794904" /><Relationship Type="http://schemas.openxmlformats.org/officeDocument/2006/relationships/notesMaster" Target="/ppt/notesMasters/notesMaster1.xml" Id="Rc5474a6b579440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38464ab0f46a8" /><Relationship Type="http://schemas.openxmlformats.org/officeDocument/2006/relationships/notesMaster" Target="/ppt/notesMasters/notesMaster1.xml" Id="Rc268bcbc85bb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a09705826e4324" /><Relationship Type="http://schemas.openxmlformats.org/officeDocument/2006/relationships/notesMaster" Target="/ppt/notesMasters/notesMaster1.xml" Id="Rdfb2ec85071f44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561ba975314b69" /><Relationship Type="http://schemas.openxmlformats.org/officeDocument/2006/relationships/notesMaster" Target="/ppt/notesMasters/notesMaster1.xml" Id="Rd0bcd58331024b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e3b9a05fab4b40" /><Relationship Type="http://schemas.openxmlformats.org/officeDocument/2006/relationships/notesMaster" Target="/ppt/notesMasters/notesMaster1.xml" Id="R4fe0f0805a1048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a5c62ae7b9470a" /><Relationship Type="http://schemas.openxmlformats.org/officeDocument/2006/relationships/notesMaster" Target="/ppt/notesMasters/notesMaster1.xml" Id="Rd438d0b4575f47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5e9cdd95974a33" /><Relationship Type="http://schemas.openxmlformats.org/officeDocument/2006/relationships/notesMaster" Target="/ppt/notesMasters/notesMaster1.xml" Id="R94fb2bdaa6044c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5ac8eb02a14048" /><Relationship Type="http://schemas.openxmlformats.org/officeDocument/2006/relationships/notesMaster" Target="/ppt/notesMasters/notesMaster1.xml" Id="Rc4cfbc94abc048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0f0e137c494534" /><Relationship Type="http://schemas.openxmlformats.org/officeDocument/2006/relationships/notesMaster" Target="/ppt/notesMasters/notesMaster1.xml" Id="Ref2708b705014e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f8a0626647432b" /><Relationship Type="http://schemas.openxmlformats.org/officeDocument/2006/relationships/notesMaster" Target="/ppt/notesMasters/notesMaster1.xml" Id="R846b25ac42b643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9fb0b0a65b4de1" /><Relationship Type="http://schemas.openxmlformats.org/officeDocument/2006/relationships/notesMaster" Target="/ppt/notesMasters/notesMaster1.xml" Id="Ra1ca5a4d92fb49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e5645f57e54958" /><Relationship Type="http://schemas.openxmlformats.org/officeDocument/2006/relationships/notesMaster" Target="/ppt/notesMasters/notesMaster1.xml" Id="R9b7cc068d68f49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3384736cf94f6d" /><Relationship Type="http://schemas.openxmlformats.org/officeDocument/2006/relationships/notesMaster" Target="/ppt/notesMasters/notesMaster1.xml" Id="Raea81dfc6d7a4f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585086e93749fc" /><Relationship Type="http://schemas.openxmlformats.org/officeDocument/2006/relationships/notesMaster" Target="/ppt/notesMasters/notesMaster1.xml" Id="Rf7d556d025cf46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90dd1dca8647ad" /><Relationship Type="http://schemas.openxmlformats.org/officeDocument/2006/relationships/notesMaster" Target="/ppt/notesMasters/notesMaster1.xml" Id="R546e01b3ecb942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0e158cc6d9041dc" /><Relationship Type="http://schemas.openxmlformats.org/officeDocument/2006/relationships/notesMaster" Target="/ppt/notesMasters/notesMaster1.xml" Id="Raf0c5adca23948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0b0e01483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876938c7d84502" /><Relationship Type="http://schemas.openxmlformats.org/officeDocument/2006/relationships/slideLayout" Target="/ppt/slideLayouts/slideLayout1.xml" Id="Rc30a1a0515f4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0a1a0515f4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776d3bddd4dbc" /><Relationship Type="http://schemas.openxmlformats.org/officeDocument/2006/relationships/notesSlide" Target="/ppt/notesSlides/notesSlide1.xml" Id="Raed285a2b1a549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093203bde4ffa" /><Relationship Type="http://schemas.openxmlformats.org/officeDocument/2006/relationships/notesSlide" Target="/ppt/notesSlides/notesSlide2.xml" Id="R20f4895076fa48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bcecf2e1d42f0" /><Relationship Type="http://schemas.openxmlformats.org/officeDocument/2006/relationships/notesSlide" Target="/ppt/notesSlides/notesSlide3.xml" Id="R20365d33964048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a23831e034b78" /><Relationship Type="http://schemas.openxmlformats.org/officeDocument/2006/relationships/notesSlide" Target="/ppt/notesSlides/notesSlide4.xml" Id="Rb2536f228d2841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e6605a8c14f5b" /><Relationship Type="http://schemas.openxmlformats.org/officeDocument/2006/relationships/notesSlide" Target="/ppt/notesSlides/notesSlide5.xml" Id="R3b461cc701d142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b10b7f9f949ed" /><Relationship Type="http://schemas.openxmlformats.org/officeDocument/2006/relationships/image" Target="/ppt/media/image.png" Id="Rcd8c7c745b7644e4" /><Relationship Type="http://schemas.openxmlformats.org/officeDocument/2006/relationships/notesSlide" Target="/ppt/notesSlides/notesSlide6.xml" Id="Raf083871b6a944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a2ce3897f4ae1" /><Relationship Type="http://schemas.openxmlformats.org/officeDocument/2006/relationships/notesSlide" Target="/ppt/notesSlides/notesSlide7.xml" Id="R989c9cb1570a46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fd31748846e1" /><Relationship Type="http://schemas.openxmlformats.org/officeDocument/2006/relationships/notesSlide" Target="/ppt/notesSlides/notesSlide8.xml" Id="Rba8d66b944184a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3512cd7294249" /><Relationship Type="http://schemas.openxmlformats.org/officeDocument/2006/relationships/image" Target="/ppt/media/image2.png" Id="Rd3ea596531e64414" /><Relationship Type="http://schemas.openxmlformats.org/officeDocument/2006/relationships/notesSlide" Target="/ppt/notesSlides/notesSlide9.xml" Id="R5c961686de4441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10ac8a05f427c" /><Relationship Type="http://schemas.openxmlformats.org/officeDocument/2006/relationships/notesSlide" Target="/ppt/notesSlides/notesSlide10.xml" Id="Ra9ad46c45aa643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e1b87f5c84371" /><Relationship Type="http://schemas.openxmlformats.org/officeDocument/2006/relationships/notesSlide" Target="/ppt/notesSlides/notesSlide11.xml" Id="R766e3dc870954e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881a5032b4ee4" /><Relationship Type="http://schemas.openxmlformats.org/officeDocument/2006/relationships/notesSlide" Target="/ppt/notesSlides/notesSlide12.xml" Id="R1523b59641f548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a14aa9ea240b0" /><Relationship Type="http://schemas.openxmlformats.org/officeDocument/2006/relationships/notesSlide" Target="/ppt/notesSlides/notesSlide13.xml" Id="R41ca09c8e09e4f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9a3c146e34095" /><Relationship Type="http://schemas.openxmlformats.org/officeDocument/2006/relationships/notesSlide" Target="/ppt/notesSlides/notesSlide14.xml" Id="R1f63301b30de44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22010eddd4acf" /><Relationship Type="http://schemas.openxmlformats.org/officeDocument/2006/relationships/notesSlide" Target="/ppt/notesSlides/notesSlide15.xml" Id="Ra2e27336943d44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e55084c2e49df" /><Relationship Type="http://schemas.openxmlformats.org/officeDocument/2006/relationships/notesSlide" Target="/ppt/notesSlides/notesSlide16.xml" Id="R44a43922fb0f4d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9157F-6BC5-41A8-A140-07EC2569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D-cache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12A4F-10D7-4C9A-8434-038DBB3E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顶层设计说明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C479D-DE8F-4A13-9371-2BEE2ADD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面向 RTL 集成、功能原理与验证方法论的讲解型 PPT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F009E-F62D-4372-A121-3EC1B4E1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62000"/>
            <a:ext cx="3905250" cy="438150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03789-06F9-462B-961A-A567A7F7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38250"/>
            <a:ext cx="2571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dcache 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BBD30-B661-47CF-8AB1-E88D07EA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10477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tag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F4A60-EECB-4A0D-BB7D-EEAF10F3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10477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9D0C0-D3BE-48D9-B275-630CB7F0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0477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refill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1D350-9C6C-4C79-AF25-4B71C053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86125"/>
            <a:ext cx="10477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D8BE3-A3B5-4F60-AAE0-4D2B8C62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10477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ctrl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36076-4E10-4ABA-A090-664CDA73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FE3EA-AB0D-48E3-B772-453E7676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81325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01E47-7295-437F-9F31-BDBE869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967AB-671F-49D5-9FFB-0AFA72A5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核心观点：顶层只做互连和组合 mux，时序状态全部归属到已验证叶子模块。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3F50C-2293-4EDC-9CEA-7FBD0FC9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A0AEB-8289-4432-9B9F-7EC1676E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Direct-mapped，默认 16B 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D02A-C810-424A-BAB5-4B1949FF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A1336-30FD-4CB0-BD7C-EE60629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load miss allocate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70868-82C9-4F72-A082-43EEE10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1A667-79C2-4C64-8483-15500CAE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store write-through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D367F-A81B-4B36-8540-117B5A52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0FCD8-F01D-4CCD-A8B9-6E0BEA0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store miss no-write-allocate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4E366-EDE3-43DE-9EB4-28E664B6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E1792-080C-40D9-9DBD-B139EC4D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2072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C6878-547D-468C-89D3-B33B40B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DESIGN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4932A-B2EA-439C-97C5-5CF18A1A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设计目标：最小可综合、行为清晰、便于集成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E42EA-3B25-4BD3-8821-9800D4ED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9600"/>
            <a:ext cx="13335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clk_i/rst_ni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6F37E-0627-40A5-9803-F27E3310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49742-3964-4E26-85DD-031D92FC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C6DF6-0C86-4F9F-B67F-FFACF63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28575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目标约束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7A186-4228-4D51-9C27-3B20D3FF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F8397-DD59-4B0B-A403-E9FE88AE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RV32 数据侧 load/store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CC462-597B-4EFF-B2AD-5BAAB827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FBB26-0B48-4919-9809-97BE9A1A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66975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直接映射，减少替换复杂度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DCC96-35D0-4341-92C2-FCF33BC5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0DAC5-D244-41A8-BE1B-A3AB9537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写穿透，无 dirty/evict writeback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AF12F-F8D5-419A-804A-1E5C755D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B911D-B2DC-4391-B100-83A8242C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接口基于 valid/ready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9B579-17D4-4262-B2F2-9D937518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23199-E0F7-443D-A28F-BC104896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IC/FPGA 行为一致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EA5B0-7A10-41BE-A694-F210D0A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33500"/>
            <a:ext cx="32385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为什么不是更复杂的 cache？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4F294-9081-4DAC-8FE1-0D191FBD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05050"/>
            <a:ext cx="1714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35438-F789-4C38-852A-7098F56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333375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当前 SOC 阶段更需要：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可解释的时序边界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可验证的错误路径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可扩展的模块划分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35272-D3C9-418A-ABC2-12D6606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8575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政策选择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FA705-DE57-4CDC-9067-27B646F6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428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load hit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8FDA8-61D7-4419-8565-46FAD81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6192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return cached word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40BAF-B786-48FA-B3BE-4874C1B1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1428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load miss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C4E54-8BE9-43A9-BEAE-38A3A00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6192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refill + allocate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00103-C7DF-4A45-B95F-FE38366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1428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store hit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D2911-C25F-411E-96BB-732BE370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16192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write-through + merge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E0021-495B-4E42-9E35-5AD80DA4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1428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store miss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38CC7-46B5-4D67-80B3-047FDBE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16192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write only, no allocate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19A2B-4E7B-4C68-9FF3-1799914C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00199-7404-42E0-8E85-60731FF1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4552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0F718-966C-4838-8555-25323EC9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TOP-LEVEL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A0FEF-0FA7-4E7D-97D4-FC83FD83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顶层契约：两个接口、两个控制输入、一个时钟域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EF5F0-010A-4017-8F04-C627AB20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286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core_if.target</a:t>
            </a:r>
          </a:p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load/store req/rsp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BC032-1D2A-4ED5-B961-A8FA7EAF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143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0F22B-D166-428B-9656-A5C7089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2952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dcache</a:t>
            </a:r>
          </a:p>
          <a:p xmlns:a="http://schemas.openxmlformats.org/drawingml/2006/main">
            <a:pPr algn="ctr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wrapper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D2AAF-1C2F-4776-A30A-A9DAF0D1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1143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23C10-DC9F-42C0-8DAD-2CE229C4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23812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mem_if.initiator</a:t>
            </a:r>
          </a:p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downstream data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EF7E6-A3CF-44E8-81BD-0AEE4191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12858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clk_i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865AC-D3F3-434C-8239-BA02BF2F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12858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rst_ni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B5CF3-39B7-42AB-8736-3B576530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12858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flush_i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48D73-5A2D-4A93-BA84-17BECD77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72000"/>
            <a:ext cx="1285875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invalidate_i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4B311-1317-41C9-B7F2-A266D610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3261B-D6AE-4632-A2FC-88FC362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992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core_if 是 core/LSU 侧的请求响应端口，D-cache 作为 target。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C3669-965B-46BA-96D8-3A2B1DD6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347B5-1834-4D22-9BE1-51A591B9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992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mem_if 是下游数据存储路径，D-cache 作为 initiator。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B08C1-D291-4A59-B4F3-5F97CF3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F4B2B-DE62-466D-A320-7C5F8FC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92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flush_i 中止当前 refill/store/control 工作；invalidate_i 只清 tag valid。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EDF47-DA41-4E2E-A812-AB01F1C5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9F94B-B853-406D-A84A-8D16B27A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992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顶层没有新增寄存器，便于后续 tile 集成时定位状态责任。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5FE57-437A-4D1D-9AB1-C33D6FD3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E176E-DAFD-47B0-AA7F-569CBC2F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36792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22751-F22C-477C-816D-55BAED41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D21E1-68B6-46E8-A8BC-C850CB45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总体架构：真实叶子互连 + 组合 downstream mux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CB49-4C66-4FC3-9B37-2FB2976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9600"/>
            <a:ext cx="13335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clk_i/rst_ni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15220-2FF9-4062-9627-2B3CC0D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C8E8F-E4D4-4899-B712-314101AA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7A274-582B-49D2-9947-1F31E991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428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core_if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6ECD9-4ED7-4FD8-BAE6-B2FA4DD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5275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83F75-A888-4F11-AA46-2A29A04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33625"/>
            <a:ext cx="1619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dcache_ctrl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SEQ</a:t>
            </a:r>
          </a:p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policy FSM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F3185-C6DD-4733-B324-F8A4BA4A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646FC-175B-406C-BEEA-2013E424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57300"/>
            <a:ext cx="138112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dcache_tag</a:t>
            </a:r>
          </a:p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SEQ valid/tag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69738-FFFB-45B4-B9BF-2F264DE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138112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tag compare</a:t>
            </a:r>
          </a:p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COMB hit/miss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28E550-AC0F-46D7-B122-CA3776DA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B3255-B8C0-4400-AC48-4AED7F6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138112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dcache_data</a:t>
            </a:r>
          </a:p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SEQ line 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A1122-1FB6-4AD2-ABA8-445EFD3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138112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data merge</a:t>
            </a:r>
          </a:p>
          <a:p xmlns:a="http://schemas.openxmlformats.org/drawingml/2006/main"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COMB 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0F272-973E-41EF-B462-555D4EE4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AFE8D-1DED-4F66-9F02-150BA074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48125"/>
            <a:ext cx="13811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dcache_refill</a:t>
            </a:r>
          </a:p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CC2A0-7015-4C4B-9E11-6F44E8A4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00625"/>
            <a:ext cx="13811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dcache_store</a:t>
            </a:r>
          </a:p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SEQ FSM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9E444-CC1F-4CAD-935D-DBCFF718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7675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8326A-A625-4FD9-9667-B806306A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3400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B08A4-B756-4F3F-BC8E-88897A47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00550"/>
            <a:ext cx="1571625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COMB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refill/store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mux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40D20-2713-4B11-A911-0F535664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705350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5912D-8F8A-4C89-8BFA-A2BCFE54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666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mem_if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21E53-D398-4972-996D-8865279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图中已把 tag/data 的存储型 SEQ 与查询/合并型 COMB 拆开；所有 SEQ 均使用 clk_i/rst_ni。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35519E-1CF7-4C34-BB70-C9F0AAA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B6AD3-ABF7-4AE3-94FD-572987C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87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ctrl 决策，tag/data 判断与存储，refill/store 执行下游事务。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585D0-4F94-4D02-A2AB-37B8CA2E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33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C9958-10E9-47C9-AA9D-8A70B475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859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两个内部 initiator 经 mux 合成一个外部 mem_if。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729DF-61D2-4D13-9FA4-BF98B0D4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AC6E8-5757-40C1-871D-36A6AE24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互斥性来自 dcache_ctrl，因此 mux 不承担仲裁状态。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59566-E7B3-4E7F-8452-6C2D7167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576BA-D2CC-4742-A878-E46ED2A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5465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D4119-31C5-4144-ABD7-E0AE78A6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LOAD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6B6A8-5C6C-403A-BEE5-6715D05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Load 功能原理：hit 直接返回，miss 先 refill 后返回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623CE-1B00-4106-9FCD-B861D126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2382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core 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1043F-8CF9-48EA-B80F-40FB689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62125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A119C-65C3-4D94-AB15-7D3E2780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1714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lookup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addr -&gt; index/tag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A6534-0896-4D11-AF15-1B6E0EEB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000D6-B12E-4D29-960B-41B8A38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15716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HIT</a:t>
            </a:r>
          </a:p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return data_word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EA9CB-B857-4A84-BF72-A8CCC54B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28750"/>
            <a:ext cx="952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B724E-8AEF-4CAA-B26F-7E4051D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238250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core rsp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rdata + err=0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36723-1C58-494B-B6F3-BE40EA20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857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ABE0A-5A39-40E7-B966-D032EF7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5716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MISS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start refill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8CD22-6C76-4FB9-BD92-5F5559A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9525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21E92-74DE-4EF3-9B80-E67107F3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4 word reads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assemble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767F6-49E1-44AE-84E3-0C73B24E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381000" cy="904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2D4ED-DE56-4321-9ADA-C79E8116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2381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tag/data refill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388B9-CB92-4AAB-83D7-19F8CFD7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107BB-821B-42B1-B092-8991AF2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62450"/>
            <a:ext cx="1666875" cy="904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select requested word</a:t>
            </a:r>
          </a:p>
          <a:p xmlns:a="http://schemas.openxmlformats.org/drawingml/2006/main">
            <a:pPr algn="ctr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then core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F3ED4-8EB8-4EF4-9E5B-A5311CD0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BB0FD-E68B-4C61-9332-B4ED1773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根本原理：cache line 是空间局部性的最小搬运单位；load miss 不是只读一个 word，而是补齐整条 line。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FE527-0A8B-44BD-AFEA-DDE747CB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91027F-9483-49D6-A2E5-C651DDF5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refill_error 会通过 tag_refill_error 让 tag 保持 invalid，避免错误数据被后续命中。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6AB31-E050-469D-8A0D-B6E20A10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60151-A5DB-4678-8C0A-15FCB9BE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response backpressure 由 CTRL_RESP 状态持有，直到 core_if.rsp_ready。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58F3B-64E8-4D49-A95F-BA14657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B62C8-CCEB-49D1-8E0B-29D6D47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8657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EB002F-C58E-4D1E-9DF9-BCFA4849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REFILL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4A7E2-6419-4AB5-98B0-EE991C6E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Refill 机制：line 对齐、逐 word 读取、错误粘滞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c7c745b7644e4"/>
          <a:stretch xmlns:a="http://schemas.openxmlformats.org/drawingml/2006/main"/>
        </p:blipFill>
        <p:spPr>
          <a:xfrm xmlns:a="http://schemas.openxmlformats.org/drawingml/2006/main">
            <a:off x="419100" y="1964964"/>
            <a:ext cx="5810250" cy="250897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09995-9297-4CEC-B2EF-BCD806DA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85875"/>
            <a:ext cx="419100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为什么按 word beat？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44585-7BB8-49A1-A98E-4A96F4D1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2831D-3251-4046-9C9D-0A3B1D93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765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下游 mem_req_rsp_if 是 32-bit data beat。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89F0B-489A-4AC6-8344-FFD9D396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19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A39D1-0B80-40AB-BFA2-A69B4EAF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9718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默认 16B line = 4 个 32-bit beat。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3AFC1-5B02-4303-8FC3-F02A297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14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E2C6B-F708-4D0D-ADAF-98EAE9F8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beat_q 既是请求地址增量，也是 line_data 写入位置。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FA793-C046-4593-B30D-08CF766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0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8BDA8-1077-4C4F-8109-246B9B4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62400"/>
            <a:ext cx="3829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任意 beat 出错都会被 OR 到 line_error_o。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AF3B3-5C1E-4B64-A6D8-6A68362E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3714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验证根逻辑：逐 beat 检查地址、数据拼接和 error OR，才能证明 line 不是偶然看似正确。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8B818-36C2-4C45-9BB9-6C4432F2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3FB42-E07E-44A7-80C7-EF8E5A04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0030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CE83C-4291-40A8-A179-C08468C9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STORE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91BA2-9631-4EA0-A57B-2749E220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Store 功能原理：写穿透优先保证内存一致性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1046C-DFD7-4FCE-A118-58FC484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42875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core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9A014-5D44-4FC2-B6DA-77A7505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38300"/>
            <a:ext cx="857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3C4DB-6D81-461D-94E8-E78EAFBC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17145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lookup tag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capture hit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288E6-87AD-4868-ABAA-8E907675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38300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5A363-71E3-4EA4-82E6-58E0A171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85875"/>
            <a:ext cx="2000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dcache_store</a:t>
            </a:r>
          </a:p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write-through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B3978-4C02-4094-B171-3C0A634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100012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CA073-D665-4558-8F2F-C68EBDE2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28587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mem_if write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addr/data/strb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5869B-142A-4790-9FBB-825A3209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571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HIT &amp;&amp; !error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86940-EBC1-4A7B-96A5-7BE703D7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62325"/>
            <a:ext cx="100012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F83A6-3980-4246-87E7-DEEB19E2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00375"/>
            <a:ext cx="238125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dcache_data merge</a:t>
            </a:r>
          </a:p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selected byte lanes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0A37D-1199-4908-8501-C0889A4D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2571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MISS or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30B3A-0E7F-48C4-8BFB-8DEA1E5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1000125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69ED2-1B05-4C97-B9C3-33891A9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2381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no cache allocation</a:t>
            </a:r>
          </a:p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no data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93E46-CB07-488E-84B8-B962E33F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805D3-713C-4499-AA61-FA91799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写穿透意味着 store 完成条件由下游响应决定，而不是只改 cache。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C88D5-6FBE-4530-A627-2CE5BECD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9076B-0319-4D5B-B2D2-1E2644BC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 miss 不分配，避免引入 dirty/evict 复杂度。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95641-B6DB-42B0-937D-728A1678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73C70-4C83-477F-A5D1-E14BE40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byte/half/word 的本质是 wstrb 控制的 byte-lane merge。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CA736-20D9-4A6A-9391-DD94D02F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0A608-F0F2-424F-89B7-42718764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3753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F67E3-8EED-4714-93F2-4FD64C98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DOWNSTREAM MUX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68FF5-1D75-46FA-B25B-61ED8B6E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Downstream mux：不是仲裁器，而是互斥事务选择器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F4AD5-39CB-472D-AD05-5685DD41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2000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refill_mem_if</a:t>
            </a:r>
          </a:p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read-only beat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0A062-E9EC-4C64-B572-A3A3EFB2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000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store_mem_if</a:t>
            </a:r>
          </a:p>
          <a:p xmlns:a="http://schemas.openxmlformats.org/drawingml/2006/main">
            <a:pPr algn="ctr">
              <a:defRPr sz="1275" b="1">
                <a:solidFill>
                  <a:srgbClr val="D97706"/>
                </a:solidFill>
              </a:defRPr>
            </a:pPr>
            <a:r>
              <a:rPr sz="1275" b="1">
                <a:solidFill>
                  <a:srgbClr val="D97706"/>
                </a:solidFill>
              </a:rPr>
              <a:t>single write txn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4184F-B319-44DF-B08D-716768FE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1238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85D9C-59D2-4B84-B8B5-4D0E5344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1238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A62BA-A65F-4F44-B3D0-5EE97C14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COMB mux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req = store_valid ? store : refill</a:t>
            </a:r>
          </a:p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rsp_ready = refill_ready || store_ready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177F5-4165-43AC-ADDA-8AD05D30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2382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ADCFF-3F40-461E-87F5-E909962E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000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mem_if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single initiator 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925F8-80DB-4607-925A-236805EA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0FE29-268D-4F91-84AB-C6999CF9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768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dcache_ctrl 单 outstanding：load refill 与 store transaction 不会并发。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CEB83-DB8D-4C5D-9F51-2D0EE4F3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29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24BE2-B16A-42B8-B570-B5F21CE0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7816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因此 mux 不需要 round-robin、不需要 grant_q、不需要响应路由寄存器。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A90AB-29C0-4981-AC26-C0EF0496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341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E7743-3438-4A68-8747-3F4F0984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6086475"/>
            <a:ext cx="963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验证上必须覆盖 refill read 和 store write 都能穿过 mux，且 req_instr 恒为 0。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AA172-ADFD-401D-BD3F-A6EE4E8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8C2CB-32C1-4DE8-9D3E-147E9DE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01233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D8BAD-427F-4F8E-9B06-3531A961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E1DA3-E654-4AC1-B4AB-477680E4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状态归属：顶层无寄存器，状态全部留在叶子模块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a596531e64414"/>
          <a:stretch xmlns:a="http://schemas.openxmlformats.org/drawingml/2006/main"/>
        </p:blipFill>
        <p:spPr>
          <a:xfrm xmlns:a="http://schemas.openxmlformats.org/drawingml/2006/main">
            <a:off x="514350" y="1501223"/>
            <a:ext cx="5810250" cy="32840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05C1C-037A-46B1-9F4F-D81EC2B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1952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dcache_ctrl</a:t>
            </a:r>
          </a:p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control FSM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EFA7A-1F3C-4CB2-90FB-ED10CC05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38250"/>
            <a:ext cx="1952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dcache_tag</a:t>
            </a:r>
          </a:p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valid/tag array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2579F-63BD-4B3D-A63A-B04C001A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1952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dcache_data</a:t>
            </a:r>
          </a:p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line 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E9D1-5539-4871-BCE2-626D3ACB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86000"/>
            <a:ext cx="1952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dcache_refill</a:t>
            </a:r>
          </a:p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beat FSM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65D98-6A57-4297-AF32-A1E087DC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952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dcache_store</a:t>
            </a:r>
          </a:p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write FSM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D3DEB-BA0D-49F5-A4D7-A2469EEF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dcache top</a:t>
            </a:r>
          </a:p>
          <a:p xmlns:a="http://schemas.openxmlformats.org/drawingml/2006/main">
            <a:pPr algn="ctr"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COMB wiring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B3A4A-C2E1-4A4B-8E57-2958FEAF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16D1A-955E-4FEE-B75B-7ADE7C0D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430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根本原则：状态在哪里产生，验证责任就在哪里闭合。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2C105-0EB4-4F0A-BD33-DF42B0D5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292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72859-E064-4B5C-9CC8-E758CF8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81575"/>
            <a:ext cx="430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顶层只验证互连后的组合选择和端到端行为。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E1E11-88AE-442F-B608-9CE93EE0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38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47882-9824-45E5-B14C-534424C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91150"/>
            <a:ext cx="430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这样后续 tile 集成时，不会把 wrapper 错认为隐藏状态源。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EF4A9-BE09-4A8B-A761-474FEB81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ECF71-451B-4535-B4AC-00761714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5850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110DB-105F-4369-A39D-94D9D8A0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PHILOSOPHY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C0C8A-5B79-4E0E-86BD-9848F224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验证哲学：顶层验证不是重复叶子测试，而是证明互连性质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201C1-08C4-4B2D-8FA8-F2A07FE7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Leaf tests</a:t>
            </a:r>
          </a:p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证明局部功能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4289-FF89-4C90-8C94-1808DB3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1333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E7128-6910-4873-8E54-189EEABD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2667000" cy="12954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dcache integration</a:t>
            </a:r>
          </a:p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证明组合关系 + 时序协同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CF0BB-E3B6-443B-AA70-54757D8B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13335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E5315-F8E6-4946-B6DB-685B171E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1907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System use</a:t>
            </a:r>
          </a:p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给 tile/core 接口信心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E8040-8881-439A-A9AE-A15BE32E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381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正路径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5BB73-35C3-4297-8575-CAF9EC57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2381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反路径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FC4AB-A9D2-479E-8AE0-302A469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2381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压力路径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4636D-2FFB-443E-AD53-F826DC5E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381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随机路径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E5ADC-8E7B-482B-A398-23897C6D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load hit/miss</a:t>
            </a:r>
          </a:p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store hit/miss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672F1-B72F-4BD8-8371-AD79614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433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error</a:t>
            </a:r>
          </a:p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flush</a:t>
            </a:r>
          </a:p>
          <a:p xmlns:a="http://schemas.openxmlformats.org/drawingml/2006/main">
            <a:pPr algn="ctr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invalidate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5B913-5505-43D5-8D9D-F49450FF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req/rsp backpressure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core response stalls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1D46A-42E6-4085-9CF5-44DF647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767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deterministic streams</a:t>
            </a:r>
          </a:p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reference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F38DF-4A0E-4697-89B0-AD944E1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68732-DA07-45AF-ACCE-F38F421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1821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41F2EA-B7D3-49AC-8CE7-ACBA85C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DIRECTED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041C2-09AC-44F2-A26F-109D364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Directed cases：每个 case 都对应一个必须被证明的设计承诺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C9BF8-EB43-4C5A-B287-904228EC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21907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验证场景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5FC1-BD91-4A36-8D0A-C62BE588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38250"/>
            <a:ext cx="40957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根本目的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A7741-E916-4B6C-96E8-70AD42ED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47625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为什么必须这样测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CB924-7793-423A-90E1-88C4A1D7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190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load miss -&gt; hit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BBD48-C006-4A6B-B524-C6C62B9B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76400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证明 refill 更新 tag/data 后能够命中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05B60-9E7B-427A-958C-8C6EF69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762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若失败，说明 update 或 lookup 接错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24BC9-CF6C-41B0-B068-F2BD3E3A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190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same-line hit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F987C-EDC4-401F-809E-14542BE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24100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证明 line 内 word select 正确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46835-9FA3-4635-9D4B-DA9269CE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762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防止只验证同一 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13F72-8373-4DEE-945D-3EE27B1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2190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store hit merge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0D862-F9E4-4BE2-86A1-8CD464CF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71800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证明 wstrb byte-lane 合并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AB123-B55F-4421-92DA-6F8C9DD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762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防止全 word 误写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CBA48-9EFE-4DC5-BBDC-D53DEDBF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2190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store miss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0D1BA-4F06-41BB-8D55-69D8DF3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0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证明 no-write-allocate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F4CB6-A0AF-4817-B9F1-5E5E4CC8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762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防止 store 误分配 cache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65187-D8CB-4C12-A867-2F4FE8A7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2190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conflict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A966B-87AD-46F2-B715-0E0576ED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67200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证明 direct-mapped 替换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25801-FDD3-4357-9C94-6FA3660F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762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防止 index/tag 解码错误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C0DAE-0965-4514-8142-22A17E5D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2190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invalidate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8ECAA-BC51-456D-A4F0-CAE9A4E7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14900"/>
            <a:ext cx="40957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证明 valid bits 被清除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6062A-7390-4547-8731-E98B588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762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防止 stale hit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004B0-5D88-4EB3-A539-8053308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B1A90-295D-4CD0-8218-958DE8B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96616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AB281-399F-4431-B28D-0D69DA99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STORE VERIFICATION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88CCA-2A72-490F-9FE7-B744AF09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Store 验证逻辑：同时证明内存一致性与 cache 不被误污染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B3C9D-6388-4917-8547-FB4781F0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095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store hit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FC27A-1B0F-4894-9871-A76E8485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ECB17-EF79-42E5-ACD7-BD107B47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81125"/>
            <a:ext cx="24765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expect downstream write</a:t>
            </a:r>
          </a:p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record reference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8114A-D3A3-4396-B4A1-F1D216A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72EDE-18FF-456F-ACA7-04B05D82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81125"/>
            <a:ext cx="2952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later load hit must return</a:t>
            </a:r>
          </a:p>
          <a:p xmlns:a="http://schemas.openxmlformats.org/drawingml/2006/main">
            <a:pPr algn="ctr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merged cached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B774B-596E-4E2B-8B19-354129BA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095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store miss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A5453-907F-4B6E-B627-3AA7F903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21245-6036-40F3-BDAB-74D05D10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24765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expect downstream write</a:t>
            </a:r>
          </a:p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but no cache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3907A-79D8-4AA6-B78A-D28F112A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E08A3-3811-42AE-89D3-C7E70AC5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0375"/>
            <a:ext cx="2952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later load must miss</a:t>
            </a:r>
          </a:p>
          <a:p xmlns:a="http://schemas.openxmlformats.org/drawingml/2006/main"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then refill stored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31275-23C7-4EB9-A0CE-7392E296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095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store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203B7-F126-488D-AC5C-42105A5D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53000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E2516-3EBA-49B1-A2D7-E43EC747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19625"/>
            <a:ext cx="24765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core sees error</a:t>
            </a:r>
          </a:p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reference memory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06D87-E5A7-4F93-BD1F-92E293F6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9525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9CBE8-45E8-4412-99DF-4A267B9D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9625"/>
            <a:ext cx="2952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later load hit must return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old cached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5CC9E-38B4-4925-844E-10E05D3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4AC16-C134-45AE-B7A6-7CA98EBA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3094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7681D0-F1D6-4011-8E19-0C50C83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NEGATIVE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3236F-EDF6-4165-92F4-B253856C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负向路径验证：错误、flush、invalidate 是防止隐藏状态失控的关键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53EA-2A61-4E08-A9E7-A6519707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575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Refill error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2C2C5-3A24-4B8F-927E-C8956ED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期望：core response error，tag 不 valid。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验证逻辑：随后同地址再次访问必须重新 refill。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0D241-5483-489C-A994-D4B104DC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28575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Flush abort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8B455-E680-4943-8B23-69A6EA4E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期望：active load/store 无 response、无 update。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验证逻辑：flush 后等待数拍检查无残留 valid。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E7A00-E266-4A17-BF0D-67FD05C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28750"/>
            <a:ext cx="28575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Invalidate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41E0D-9892-4203-99DE-237E624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47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期望：valid bits 清除，data RAM 不必清。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验证逻辑：原 hit line 在 invalidate 后必须 miss。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72CC9-E008-48F9-8488-5B20BFCD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334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CC1AF-E4FD-401F-9149-525A0A32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291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正向路径证明“能工作”；负向路径证明“不会在不该工作时工作”。对于 cache 来说，错误数据被错误命中、flush 后旧响应冒出、invalidate 后 stale line 继续命中，都是最危险的集成 bug。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256C1-4A63-47CE-B348-F6A132EB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68EED-3E49-4C44-A8E1-9617EA4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08694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3459D-9798-42BC-9F77-2FE7C47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C83CD-6B9C-4746-B326-13F23ACC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覆盖结果：顶层集成验证的证据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7EE1B-B056-4952-9B08-9BFDC697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953000" cy="4333875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tb_dcache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4F333-FB43-400A-B2EB-2FF8C23A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pass_count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61C3A-0C39-48D0-AE5A-BB1EE07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90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F5A14-D874-4F42-B4FC-CACBECBE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90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AFE76-000D-4C33-A973-510DD3B2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43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505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C0D60-86E5-4A88-AFA1-E66FBD25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load_miss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645D5-DEB1-4F53-AE58-80B78B61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71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7F3AC-F07D-412F-A3EE-79E2585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71700"/>
            <a:ext cx="1294279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D575B-41E8-4161-8255-54C54F3A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24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2516C-CBDF-41C7-8227-25FED3C6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load_hit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CD5CD-6052-416D-9725-DC8D7494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52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80BB0-292F-461E-BCDC-9B01FF2F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52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4E063-1718-4F64-B1A7-C504693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7E0D2-A4BE-4977-9B1C-0F19F1B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store_hit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800D0-A319-4BA7-A5A4-49CB7B50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93B52-6D60-4457-909A-0F919C84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33700"/>
            <a:ext cx="882463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C48D7-EE77-453E-AFE4-9655D4F8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86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A53A7-7672-469C-B7AE-428D2273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store_update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497B2-4C43-40BB-9FF6-5948409E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14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004EE-03C9-40E8-B7F6-1744CC9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14700"/>
            <a:ext cx="823632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88813-83B6-4700-8846-4A5B7FE8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67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A113E-A00D-4E78-8176-3C15248E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backpressure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8F016-00B0-4D15-A9CF-F4CF60F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95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BC820-9E4D-45A7-B840-BE5D866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95700"/>
            <a:ext cx="1846385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9A99B-393A-44AB-8F6C-9A3CDF92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96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98716-B287-4B35-AE73-07BFD387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mem_req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8374E3-4EAF-4BF0-94A6-FD44ACBA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76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9918D-D1B6-40BC-AAF5-4C577DBE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76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885FED-444A-4147-B9F8-43F4BDFD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29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106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AECA74-10A7-4D2A-9370-26EE2EF5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mem_rsp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D9D68-6BB4-4D6D-BBC7-BEFFE51D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57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A93340-EC0E-4BE1-AAFD-2CF9F014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57700"/>
            <a:ext cx="1962509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6DA6D0-8CCC-4BC7-96F5-8CE7F0BC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10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104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9D6AA2-2FB3-4B0A-8C61-C73846F4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random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1F52B3-2B19-4F24-8877-05ABD53F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2000250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9B7EE8-051A-426C-A89C-36B65BCE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705971" cy="114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99959-B24B-4AAD-B31A-515B22BF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910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7E1941-5D84-4D91-A27C-99B0BC99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476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这些数字不是性能指标，而是验证证据。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415EBD-70CD-445F-8A5D-7B2F6A4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C96ECC-82A5-401E-AA2B-5ABB8DB0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3924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mem_req/mem_rsp 数量证明 refill/store 均真实穿过顶层 mux。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7CDE9C-EC70-4B49-8505-295BA3F3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38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AE9A39-A217-49B4-A653-631AB458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90900"/>
            <a:ext cx="3924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store_update 小于 store_hit 是因为错误 store 不允许更新 cache。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3CB9AC-D7A7-4F22-94A9-1F5EE30C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71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17E772-E026-438E-BF05-62A297B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3924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flush=2 分别覆盖 active load miss 和 active store。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B94E62-ECA8-4ECA-9D43-597E763D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053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281929-4D62-4064-BEEE-122E7B5F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3924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random stream 用确定性伪随机，失败可复现。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8047A8-45B0-47E0-8842-3F34996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E704E2-BE02-4CF1-9967-4B6B017B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3908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B93323-B56C-4841-8EB7-AECFB763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7A91F-C417-41BC-99E2-FCD4BA00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设计承诺到验证证据的追踪矩阵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CCBFB-1DC5-4C62-B2AD-94B865AD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2571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设计承诺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EABBB-21D1-42A1-A2DE-3B11F32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38250"/>
            <a:ext cx="3714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验证方法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6CF7D-4661-452E-B031-D0ECAEF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238250"/>
            <a:ext cx="47625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91FE5-E33F-4C1E-A9EC-213D72C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571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顶层无新增状态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E7744-26CE-4BD4-8221-9C230702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7640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lint + design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293F7-A332-48FA-8729-D1396B72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dcache.sv only COMB mux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4779B-FB78-46AB-9822-12379575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2571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load miss allocate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B6415-C5C4-4EC3-99CA-682E66AC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2885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load_miss -&gt; load_hit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31D61-91DC-4C01-A9B3-EF2CA34F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2885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22 misses / 34 hits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9C805-E3E3-4B97-B8B3-1BEACFD7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571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store hit merge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496D9-0F58-4208-BFB1-0EF9CB82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post-store load hit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77322-6DA8-4362-997C-6E342D0E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14 store updates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F4F49-8330-42F2-B4B3-9DF50ADC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2571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store miss no allocate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7E947-545F-4887-A940-78AF2AB7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store miss then later load miss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50CAE-DBFB-4334-8E12-E6A6151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store_miss=1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59F24-9BF6-4F7D-BE4A-1EE6FE7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2571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refill error invalid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67BB2-82E3-4FD7-96AF-8440E0FB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8620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error then recovery refill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F81CB-6395-4029-B89E-D56F6BE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err=6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36233-CE8C-41DE-87D4-0544BE41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2571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flush abort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FB8FF-C611-4EF5-B33C-3E10700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3865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load/store flush checks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AE55B-AD1C-4C2C-8051-0DDFBCDC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flush=2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F5335-9B46-4CF5-AD9A-6F5BD15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2571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downstream mux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A181A-D63C-409A-BBE2-24628A4B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91100"/>
            <a:ext cx="37147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read and write request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F3BC9-9396-407C-850B-ABFDC865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91100"/>
            <a:ext cx="4762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mem_req=106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9283B3-B4F8-426F-B4CA-A0B7BEBC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804BB-DCC6-434B-A6AF-A714DF8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53841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FA9AD-4B74-4170-B409-A2438DD5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70005-31A9-4431-9D2D-56005E7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结论：dcache 顶层已经形成可进入 tile 集成的边界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76DF9-BE56-4A56-94D0-E7EC1298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048000" cy="3429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37AA8-08D7-421A-94CB-957468D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05771-CF7D-4223-9DC6-5CF7D4D9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907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顶层接口清晰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5BC8B-A5C8-4A96-90B0-28E3F3E3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57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93A91-B2DF-414E-B87A-C9C10E77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98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状态责任清晰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335A2-C686-4B90-886E-1DE18955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4F775-643E-4793-AB19-5809AC99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load/store 策略闭合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CA31B-F00D-4663-BAA3-E1328950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766C4-2313-47F5-80BA-7177D838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refill/store 共享下游端口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C132C-BF3F-4F73-B802-BFCB5428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3E17F-0510-4E40-83CC-940D3323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671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无 dirty/evict 复杂状态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FF05E-4B9C-42EA-8AF2-BE0EC1F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3048000" cy="3429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3A72D-6F23-47A0-A1DF-E22A269E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BCBF5-4BB0-4A24-9B11-9341ACC0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正向功能被覆盖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5DA63-49D4-4D4A-BF98-16E74F18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57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A099B-5127-42DE-A712-059309F1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错误与 abort 被覆盖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2738C-83E4-46F2-AFB1-6DCA2FD6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6747D-6DBF-477D-B763-7205A10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backpressure 被覆盖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00083-C3E7-44AC-B5C8-82BC24ED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95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4C1E2-7BC6-48A8-AA09-A18EC68C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480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随机流可复现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A35E1-8057-450B-A8CE-2861FA60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14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76321-B223-4A50-9605-8C36CF1C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671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集成风险转入 tile 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3B61A-C279-4F3E-A04E-6ABC6F13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048000" cy="3429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</a:defRPr>
            </a:pPr>
            <a:r>
              <a:rPr sz="1950" b="1">
                <a:solidFill>
                  <a:srgbClr val="7C3AED"/>
                </a:solidFill>
              </a:rPr>
              <a:t>下一步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AB432-0A41-49F4-A395-9FDFA50C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9D345-3142-4BD1-A303-D5F209D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连接 core/frontend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14CA12-D8DE-4161-ACB5-7D0F2268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57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CC5595-049F-4F86-8ADD-A80C9D4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连接 icache/dcache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F369D-49AE-4FD0-8CA9-345C9D91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CA482D-E969-4467-B878-9B422C29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定义 tile memory 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07AFE-D88B-4991-AAFE-1E6EC3F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95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74FC2F-6EC1-407D-A10E-B5F00033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480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验证双 cache 与 core stall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13EAC5-0B7C-4E1B-8E56-722FE25D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147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86C2BB-E62A-40C7-8E20-595795CF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6715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再向 SoC/AHB 过渡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D5D6F0-D557-411A-8D8D-4C9094C6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关键判断：当前 dcache 顶层的设计重点不是“复杂”，而是“可解释、可综合、可验证、可集成”。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3691CA-12AC-4291-A28D-DEC03537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dcache top-level design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ECB825-8054-4FE0-AEEC-02BCA82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913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2117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2026-06-18T05:30:31.5030000Z</dcterms:created>
  <dcterms:modified xsi:type="dcterms:W3CDTF">2026-06-18T05:30:31.5030000Z</dcterms:modified>
</coreProperties>
</file>