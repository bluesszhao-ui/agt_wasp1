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ca9ac41324e59" /><Relationship Type="http://schemas.openxmlformats.org/officeDocument/2006/relationships/extended-properties" Target="/docProps/app.xml" Id="R3e99a24c1d354217" /><Relationship Type="http://schemas.openxmlformats.org/officeDocument/2006/relationships/officeDocument" Target="/ppt/presentation.xml" Id="Rb132cc5a6a4e43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8c043f5bc442ad"/>
  </p:sldMasterIdLst>
  <p:notesMasterIdLst>
    <p:notesMasterId xmlns:r="http://schemas.openxmlformats.org/officeDocument/2006/relationships" r:id="Racd062dfce0546cf"/>
  </p:notesMasterIdLst>
  <p:sldIdLst>
    <p:sldId xmlns:r="http://schemas.openxmlformats.org/officeDocument/2006/relationships" id="256" r:id="R465b4cbd6d474fab"/>
    <p:sldId xmlns:r="http://schemas.openxmlformats.org/officeDocument/2006/relationships" id="257" r:id="R5c0147b9821d4d4d"/>
    <p:sldId xmlns:r="http://schemas.openxmlformats.org/officeDocument/2006/relationships" id="258" r:id="Re1a1bfe573d54aca"/>
    <p:sldId xmlns:r="http://schemas.openxmlformats.org/officeDocument/2006/relationships" id="259" r:id="Rba92d9a3e7d243ca"/>
    <p:sldId xmlns:r="http://schemas.openxmlformats.org/officeDocument/2006/relationships" id="260" r:id="R0f373a92a2964bf6"/>
    <p:sldId xmlns:r="http://schemas.openxmlformats.org/officeDocument/2006/relationships" id="261" r:id="Rb7c3983224d24ac7"/>
    <p:sldId xmlns:r="http://schemas.openxmlformats.org/officeDocument/2006/relationships" id="262" r:id="Rb9193150b1364b35"/>
    <p:sldId xmlns:r="http://schemas.openxmlformats.org/officeDocument/2006/relationships" id="263" r:id="Rb7be81e119904ff1"/>
    <p:sldId xmlns:r="http://schemas.openxmlformats.org/officeDocument/2006/relationships" id="264" r:id="R963d3de16c274ad9"/>
    <p:sldId xmlns:r="http://schemas.openxmlformats.org/officeDocument/2006/relationships" id="265" r:id="Rb0b68121fda24966"/>
    <p:sldId xmlns:r="http://schemas.openxmlformats.org/officeDocument/2006/relationships" id="266" r:id="Rf13855a9d6ed4a24"/>
    <p:sldId xmlns:r="http://schemas.openxmlformats.org/officeDocument/2006/relationships" id="267" r:id="R5d255dd53c0247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43378fa074165" /><Relationship Type="http://schemas.openxmlformats.org/officeDocument/2006/relationships/slideMaster" Target="/ppt/slideMasters/slideMaster1.xml" Id="Re38c043f5bc442ad" /><Relationship Type="http://schemas.openxmlformats.org/officeDocument/2006/relationships/notesMaster" Target="/ppt/notesMasters/notesMaster1.xml" Id="Racd062dfce0546cf" /><Relationship Type="http://schemas.openxmlformats.org/officeDocument/2006/relationships/presProps" Target="/ppt/presProps.xml" Id="R8d7534e9ee3e4252" /><Relationship Type="http://schemas.openxmlformats.org/officeDocument/2006/relationships/tableStyles" Target="/ppt/tableStyles.xml" Id="Rf157d80e38954405" /><Relationship Type="http://schemas.openxmlformats.org/officeDocument/2006/relationships/slide" Target="/ppt/slides/slide1.xml" Id="R465b4cbd6d474fab" /><Relationship Type="http://schemas.openxmlformats.org/officeDocument/2006/relationships/slide" Target="/ppt/slides/slide2.xml" Id="R5c0147b9821d4d4d" /><Relationship Type="http://schemas.openxmlformats.org/officeDocument/2006/relationships/slide" Target="/ppt/slides/slide3.xml" Id="Re1a1bfe573d54aca" /><Relationship Type="http://schemas.openxmlformats.org/officeDocument/2006/relationships/slide" Target="/ppt/slides/slide4.xml" Id="Rba92d9a3e7d243ca" /><Relationship Type="http://schemas.openxmlformats.org/officeDocument/2006/relationships/slide" Target="/ppt/slides/slide5.xml" Id="R0f373a92a2964bf6" /><Relationship Type="http://schemas.openxmlformats.org/officeDocument/2006/relationships/slide" Target="/ppt/slides/slide6.xml" Id="Rb7c3983224d24ac7" /><Relationship Type="http://schemas.openxmlformats.org/officeDocument/2006/relationships/slide" Target="/ppt/slides/slide7.xml" Id="Rb9193150b1364b35" /><Relationship Type="http://schemas.openxmlformats.org/officeDocument/2006/relationships/slide" Target="/ppt/slides/slide8.xml" Id="Rb7be81e119904ff1" /><Relationship Type="http://schemas.openxmlformats.org/officeDocument/2006/relationships/slide" Target="/ppt/slides/slide9.xml" Id="R963d3de16c274ad9" /><Relationship Type="http://schemas.openxmlformats.org/officeDocument/2006/relationships/slide" Target="/ppt/slides/slide10.xml" Id="Rb0b68121fda24966" /><Relationship Type="http://schemas.openxmlformats.org/officeDocument/2006/relationships/slide" Target="/ppt/slides/slide11.xml" Id="Rf13855a9d6ed4a24" /><Relationship Type="http://schemas.openxmlformats.org/officeDocument/2006/relationships/slide" Target="/ppt/slides/slide12.xml" Id="R5d255dd53c0247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15650650454a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6ebb6d0a914a89" /><Relationship Type="http://schemas.openxmlformats.org/officeDocument/2006/relationships/notesMaster" Target="/ppt/notesMasters/notesMaster1.xml" Id="Ra4e2f197427343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06e602e232421e" /><Relationship Type="http://schemas.openxmlformats.org/officeDocument/2006/relationships/notesMaster" Target="/ppt/notesMasters/notesMaster1.xml" Id="R5f64e5c641e1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d7510768924fab" /><Relationship Type="http://schemas.openxmlformats.org/officeDocument/2006/relationships/notesMaster" Target="/ppt/notesMasters/notesMaster1.xml" Id="R36b5822c1f7c4a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e4fd81520b4c2e" /><Relationship Type="http://schemas.openxmlformats.org/officeDocument/2006/relationships/notesMaster" Target="/ppt/notesMasters/notesMaster1.xml" Id="Rb9cfcf73461e4d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c73bbe610a4fda" /><Relationship Type="http://schemas.openxmlformats.org/officeDocument/2006/relationships/notesMaster" Target="/ppt/notesMasters/notesMaster1.xml" Id="R681ad1d98d6a43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fffc43da32460c" /><Relationship Type="http://schemas.openxmlformats.org/officeDocument/2006/relationships/notesMaster" Target="/ppt/notesMasters/notesMaster1.xml" Id="Rb582856211bb47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b82b2884cc47be" /><Relationship Type="http://schemas.openxmlformats.org/officeDocument/2006/relationships/notesMaster" Target="/ppt/notesMasters/notesMaster1.xml" Id="R5814ba03bcd34f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7fa6533a7f4f75" /><Relationship Type="http://schemas.openxmlformats.org/officeDocument/2006/relationships/notesMaster" Target="/ppt/notesMasters/notesMaster1.xml" Id="Rfbdb6d6ec34746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10a5f642e44d4b" /><Relationship Type="http://schemas.openxmlformats.org/officeDocument/2006/relationships/notesMaster" Target="/ppt/notesMasters/notesMaster1.xml" Id="R2fa2a83d9ac54a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f235cc1d824446" /><Relationship Type="http://schemas.openxmlformats.org/officeDocument/2006/relationships/notesMaster" Target="/ppt/notesMasters/notesMaster1.xml" Id="R3478461cee7b46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ded42567fe40bc" /><Relationship Type="http://schemas.openxmlformats.org/officeDocument/2006/relationships/notesMaster" Target="/ppt/notesMasters/notesMaster1.xml" Id="Rc131fe6e9cdd4a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9250b1ebfc40b3" /><Relationship Type="http://schemas.openxmlformats.org/officeDocument/2006/relationships/notesMaster" Target="/ppt/notesMasters/notesMaster1.xml" Id="R9c047d3128d9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13a8d827a4e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c9034ad00f45f9" /><Relationship Type="http://schemas.openxmlformats.org/officeDocument/2006/relationships/slideLayout" Target="/ppt/slideLayouts/slideLayout1.xml" Id="R58ae95df816141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e95df816141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3bf86897f41b2" /><Relationship Type="http://schemas.openxmlformats.org/officeDocument/2006/relationships/notesSlide" Target="/ppt/notesSlides/notesSlide1.xml" Id="R074f3ff729d3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ab89521bd45a0" /><Relationship Type="http://schemas.openxmlformats.org/officeDocument/2006/relationships/notesSlide" Target="/ppt/notesSlides/notesSlide2.xml" Id="R3b5f1f12cc784c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cc31e66a04233" /><Relationship Type="http://schemas.openxmlformats.org/officeDocument/2006/relationships/notesSlide" Target="/ppt/notesSlides/notesSlide3.xml" Id="R5f332e14ead340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5de7c45f04dd2" /><Relationship Type="http://schemas.openxmlformats.org/officeDocument/2006/relationships/notesSlide" Target="/ppt/notesSlides/notesSlide4.xml" Id="Rbaeb409e20404d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df124675c4301" /><Relationship Type="http://schemas.openxmlformats.org/officeDocument/2006/relationships/notesSlide" Target="/ppt/notesSlides/notesSlide5.xml" Id="R4b0278f15cae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69eb84e1b4c4b" /><Relationship Type="http://schemas.openxmlformats.org/officeDocument/2006/relationships/notesSlide" Target="/ppt/notesSlides/notesSlide6.xml" Id="R8b0bdf41e38c45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6c0f17ba249b8" /><Relationship Type="http://schemas.openxmlformats.org/officeDocument/2006/relationships/notesSlide" Target="/ppt/notesSlides/notesSlide7.xml" Id="Rf071f9efa66643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15bbbe92542e5" /><Relationship Type="http://schemas.openxmlformats.org/officeDocument/2006/relationships/notesSlide" Target="/ppt/notesSlides/notesSlide8.xml" Id="R618f7e76a0da4f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fa1e840344421" /><Relationship Type="http://schemas.openxmlformats.org/officeDocument/2006/relationships/notesSlide" Target="/ppt/notesSlides/notesSlide9.xml" Id="R7f720bf128274a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26942c77846db" /><Relationship Type="http://schemas.openxmlformats.org/officeDocument/2006/relationships/notesSlide" Target="/ppt/notesSlides/notesSlide10.xml" Id="R7ee1603e27b242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f99085bdc47b4" /><Relationship Type="http://schemas.openxmlformats.org/officeDocument/2006/relationships/notesSlide" Target="/ppt/notesSlides/notesSlide11.xml" Id="R8362b9d2a53d44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bfab3e96a45f0" /><Relationship Type="http://schemas.openxmlformats.org/officeDocument/2006/relationships/notesSlide" Target="/ppt/notesSlides/notesSlide12.xml" Id="Rba25da36fef444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67D1E1B-3A83-4FAA-828A-09A8466F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A5A5A"/>
                </a:solidFill>
              </a:defRPr>
            </a:pPr>
            <a:r>
              <a:rPr sz="1350" b="1">
                <a:solidFill>
                  <a:srgbClr val="5A5A5A"/>
                </a:solidFill>
              </a:rPr>
              <a:t>wasp1 / RV32I + Zicsr / RISC-V Debug 0.13.x target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246A94-5258-4AA5-8565-AE179C67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Debug Module</a:t>
            </a:r>
          </a:p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Design PPT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AA56D114-BC3C-40B1-B631-BD0CF536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5A5A"/>
                </a:solidFill>
              </a:defRPr>
            </a:pPr>
            <a:r>
              <a:rPr sz="1650">
                <a:solidFill>
                  <a:srgbClr val="5A5A5A"/>
                </a:solidFill>
              </a:rPr>
              <a:t>面向 OpenOCD/GDB 兼容目标的早期 Debug leaf 设计：DMI register file、halt/resume 控制、abstract GPR command、core GPR transport。</a:t>
            </a:r>
          </a:p>
        </p:txBody>
      </p:sp>
      <p:sp>
        <p:nvSpPr>
          <p:cNvPr id="4" name="cover-dtm">
            <a:extLst xmlns:a="http://schemas.openxmlformats.org/drawingml/2006/main">
              <a:ext uri="{FF2B5EF4-FFF2-40B4-BE49-F238E27FC236}">
                <a16:creationId xmlns:a16="http://schemas.microsoft.com/office/drawing/2014/main" id="{BB22F086-2DBA-499D-A1B1-0E6E84E0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382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JTAG DTM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future</a:t>
            </a:r>
          </a:p>
        </p:txBody>
      </p:sp>
      <p:sp>
        <p:nvSpPr>
          <p:cNvPr id="5" name="cover-dmi">
            <a:extLst xmlns:a="http://schemas.openxmlformats.org/drawingml/2006/main">
              <a:ext uri="{FF2B5EF4-FFF2-40B4-BE49-F238E27FC236}">
                <a16:creationId xmlns:a16="http://schemas.microsoft.com/office/drawing/2014/main" id="{9C6A0130-EE73-49EB-805E-164BA3FB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38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debug_dmi_if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req/rsp</a:t>
            </a:r>
          </a:p>
        </p:txBody>
      </p:sp>
      <p:sp>
        <p:nvSpPr>
          <p:cNvPr id="6" name="cover-dm">
            <a:extLst xmlns:a="http://schemas.openxmlformats.org/drawingml/2006/main">
              <a:ext uri="{FF2B5EF4-FFF2-40B4-BE49-F238E27FC236}">
                <a16:creationId xmlns:a16="http://schemas.microsoft.com/office/drawing/2014/main" id="{48A3848C-3437-430B-A3B5-6824DC71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debug_dmi_regs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 state</a:t>
            </a:r>
          </a:p>
        </p:txBody>
      </p:sp>
      <p:sp>
        <p:nvSpPr>
          <p:cNvPr id="7" name="cover-core">
            <a:extLst xmlns:a="http://schemas.openxmlformats.org/drawingml/2006/main">
              <a:ext uri="{FF2B5EF4-FFF2-40B4-BE49-F238E27FC236}">
                <a16:creationId xmlns:a16="http://schemas.microsoft.com/office/drawing/2014/main" id="{BDB07AB6-B684-4150-AFDE-D887FB0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8625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core debug_if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halt/GPR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763000" y="1676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9191625" y="2114550"/>
            <a:ext cx="857250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191625" y="37052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1" name="tag-editable native PowerPoint shapes">
            <a:extLst xmlns:a="http://schemas.openxmlformats.org/drawingml/2006/main">
              <a:ext uri="{FF2B5EF4-FFF2-40B4-BE49-F238E27FC236}">
                <a16:creationId xmlns:a16="http://schemas.microsoft.com/office/drawing/2014/main" id="{C0AC6F55-8629-4057-8891-84C9F58D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editable native PowerPoint shapes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8ABE5778-BBA3-4429-8F6C-E2766E5C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9370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B5BCE69-D632-4CE4-B442-E79DBE82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8DCBE6-7259-4075-A9BB-1D4C9CF2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设计目标与边界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C0C5CAC-685F-41B1-B545-04BB4458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先做 OpenOCD/GDB 所需的最小可验证 Debug Module 骨架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47D5705-79C1-4D89-87D4-6965CA5B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als">
            <a:extLst xmlns:a="http://schemas.openxmlformats.org/drawingml/2006/main">
              <a:ext uri="{FF2B5EF4-FFF2-40B4-BE49-F238E27FC236}">
                <a16:creationId xmlns:a16="http://schemas.microsoft.com/office/drawing/2014/main" id="{C4644801-0521-4B1C-B295-0A6883F1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符合 RISC-V External Debug Spec 0.13.x 的核心可见行为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单 hart，hart 0 有效；非零 hartsel 返回 nonexistent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支持 DM activation、halt/resume、havereset/resumeack 轮询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支持 RV32 GPR Access Register abstract command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所有状态使用 clk_i/rst_ni，IC / Virtex-7 / sim 行为一致</a:t>
            </a:r>
          </a:p>
        </p:txBody>
      </p:sp>
      <p:sp>
        <p:nvSpPr>
          <p:cNvPr id="6" name="goal-dmi">
            <a:extLst xmlns:a="http://schemas.openxmlformats.org/drawingml/2006/main">
              <a:ext uri="{FF2B5EF4-FFF2-40B4-BE49-F238E27FC236}">
                <a16:creationId xmlns:a16="http://schemas.microsoft.com/office/drawing/2014/main" id="{67595D32-3542-4737-94ED-406D67A4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DMI transport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ready/valid</a:t>
            </a:r>
          </a:p>
        </p:txBody>
      </p:sp>
      <p:sp>
        <p:nvSpPr>
          <p:cNvPr id="7" name="goal-regs">
            <a:extLst xmlns:a="http://schemas.openxmlformats.org/drawingml/2006/main">
              <a:ext uri="{FF2B5EF4-FFF2-40B4-BE49-F238E27FC236}">
                <a16:creationId xmlns:a16="http://schemas.microsoft.com/office/drawing/2014/main" id="{C33CCB2A-C9BC-4C00-80BB-6CB981AB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2143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 registers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state + response slot</a:t>
            </a:r>
          </a:p>
        </p:txBody>
      </p:sp>
      <p:sp>
        <p:nvSpPr>
          <p:cNvPr id="8" name="goal-halt">
            <a:extLst xmlns:a="http://schemas.openxmlformats.org/drawingml/2006/main">
              <a:ext uri="{FF2B5EF4-FFF2-40B4-BE49-F238E27FC236}">
                <a16:creationId xmlns:a16="http://schemas.microsoft.com/office/drawing/2014/main" id="{8263FA53-BD08-408A-A740-E4B869ED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1762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halt_ctrl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transaction FSM</a:t>
            </a:r>
          </a:p>
        </p:txBody>
      </p:sp>
      <p:sp>
        <p:nvSpPr>
          <p:cNvPr id="9" name="goal-acmd">
            <a:extLst xmlns:a="http://schemas.openxmlformats.org/drawingml/2006/main">
              <a:ext uri="{FF2B5EF4-FFF2-40B4-BE49-F238E27FC236}">
                <a16:creationId xmlns:a16="http://schemas.microsoft.com/office/drawing/2014/main" id="{3BEBABEC-F0CE-4077-887A-B2C872AB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143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abstract_cmd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command FSM</a:t>
            </a:r>
          </a:p>
        </p:txBody>
      </p:sp>
      <p:sp>
        <p:nvSpPr>
          <p:cNvPr id="10" name="goal-racc">
            <a:extLst xmlns:a="http://schemas.openxmlformats.org/drawingml/2006/main">
              <a:ext uri="{FF2B5EF4-FFF2-40B4-BE49-F238E27FC236}">
                <a16:creationId xmlns:a16="http://schemas.microsoft.com/office/drawing/2014/main" id="{EB557EEC-6B14-4522-893A-AB2E4A0B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05375"/>
            <a:ext cx="2143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reg_access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GPR sequencer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048625" y="2247900"/>
            <a:ext cx="714375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167563" y="2771775"/>
            <a:ext cx="2667000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34563" y="2771775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8596313" y="4295775"/>
            <a:ext cx="12382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5" name="footer-2">
            <a:extLst xmlns:a="http://schemas.openxmlformats.org/drawingml/2006/main">
              <a:ext uri="{FF2B5EF4-FFF2-40B4-BE49-F238E27FC236}">
                <a16:creationId xmlns:a16="http://schemas.microsoft.com/office/drawing/2014/main" id="{06A78281-8AF8-40DA-886A-D4DA37F7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309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C201B5C-CA3A-4BAA-8E7E-3B37C845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AF8289-DCDC-49D5-AF8C-4B48E2DC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Debug leaf 总体结构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CCED528-4B11-424C-8D53-1989FE92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DMI register file 负责软件可见寄存器；控制器和 sequencer 负责可验证的时序语义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2A0DCE-246A-4B28-A326-BC7EEF07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ch-dtm">
            <a:extLst xmlns:a="http://schemas.openxmlformats.org/drawingml/2006/main">
              <a:ext uri="{FF2B5EF4-FFF2-40B4-BE49-F238E27FC236}">
                <a16:creationId xmlns:a16="http://schemas.microsoft.com/office/drawing/2014/main" id="{5CA74A19-0AB3-4496-8544-C6014532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Future JTAG DTM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scan / op / addr / data</a:t>
            </a:r>
          </a:p>
        </p:txBody>
      </p:sp>
      <p:sp>
        <p:nvSpPr>
          <p:cNvPr id="6" name="arch-if">
            <a:extLst xmlns:a="http://schemas.openxmlformats.org/drawingml/2006/main">
              <a:ext uri="{FF2B5EF4-FFF2-40B4-BE49-F238E27FC236}">
                <a16:creationId xmlns:a16="http://schemas.microsoft.com/office/drawing/2014/main" id="{BA623D4C-C7BC-4261-9036-ADCFAD8E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debug_dmi_if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modports</a:t>
            </a:r>
          </a:p>
        </p:txBody>
      </p:sp>
      <p:sp>
        <p:nvSpPr>
          <p:cNvPr id="7" name="arch-regs">
            <a:extLst xmlns:a="http://schemas.openxmlformats.org/drawingml/2006/main">
              <a:ext uri="{FF2B5EF4-FFF2-40B4-BE49-F238E27FC236}">
                <a16:creationId xmlns:a16="http://schemas.microsoft.com/office/drawing/2014/main" id="{5DB478FC-DCD6-4A23-B624-BC029AAF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57375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debug_dmi_regs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dmcontrol/dmstatus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abstractcs/data0</a:t>
            </a:r>
          </a:p>
        </p:txBody>
      </p:sp>
      <p:sp>
        <p:nvSpPr>
          <p:cNvPr id="8" name="arch-halt">
            <a:extLst xmlns:a="http://schemas.openxmlformats.org/drawingml/2006/main">
              <a:ext uri="{FF2B5EF4-FFF2-40B4-BE49-F238E27FC236}">
                <a16:creationId xmlns:a16="http://schemas.microsoft.com/office/drawing/2014/main" id="{3E0A96D8-5D78-481A-8BDA-DF279243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debug_halt_ctrl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halt/resume transaction</a:t>
            </a:r>
          </a:p>
        </p:txBody>
      </p:sp>
      <p:sp>
        <p:nvSpPr>
          <p:cNvPr id="9" name="arch-acmd">
            <a:extLst xmlns:a="http://schemas.openxmlformats.org/drawingml/2006/main">
              <a:ext uri="{FF2B5EF4-FFF2-40B4-BE49-F238E27FC236}">
                <a16:creationId xmlns:a16="http://schemas.microsoft.com/office/drawing/2014/main" id="{CFF3F4C7-8604-45E8-98A8-40194B35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debug_abstract_cmd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RV32 GPR command decode</a:t>
            </a:r>
          </a:p>
        </p:txBody>
      </p:sp>
      <p:sp>
        <p:nvSpPr>
          <p:cNvPr id="10" name="arch-racc">
            <a:extLst xmlns:a="http://schemas.openxmlformats.org/drawingml/2006/main">
              <a:ext uri="{FF2B5EF4-FFF2-40B4-BE49-F238E27FC236}">
                <a16:creationId xmlns:a16="http://schemas.microsoft.com/office/drawing/2014/main" id="{05DB0681-A3EF-4758-9855-79A89477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debug_reg_access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core GPR request/response</a:t>
            </a:r>
          </a:p>
        </p:txBody>
      </p:sp>
      <p:sp>
        <p:nvSpPr>
          <p:cNvPr id="11" name="arch-core">
            <a:extLst xmlns:a="http://schemas.openxmlformats.org/drawingml/2006/main">
              <a:ext uri="{FF2B5EF4-FFF2-40B4-BE49-F238E27FC236}">
                <a16:creationId xmlns:a16="http://schemas.microsoft.com/office/drawing/2014/main" id="{720DB887-0018-4214-9C38-82A5AD1A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00375"/>
            <a:ext cx="133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core debug_if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halt/run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GPR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81250" y="2524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572000" y="2524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334250" y="2000250"/>
            <a:ext cx="76200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334250" y="2524125"/>
            <a:ext cx="76200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167813" y="39528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239375" y="2000250"/>
            <a:ext cx="2857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0239375" y="3619500"/>
            <a:ext cx="285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9" name="tag-软件可见面">
            <a:extLst xmlns:a="http://schemas.openxmlformats.org/drawingml/2006/main">
              <a:ext uri="{FF2B5EF4-FFF2-40B4-BE49-F238E27FC236}">
                <a16:creationId xmlns:a16="http://schemas.microsoft.com/office/drawing/2014/main" id="{900A34B7-37CD-4A61-8AE1-B09CAF8B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软件可见面</a:t>
            </a:r>
          </a:p>
        </p:txBody>
      </p:sp>
      <p:sp>
        <p:nvSpPr>
          <p:cNvPr id="20" name="tag-hart 控制面">
            <a:extLst xmlns:a="http://schemas.openxmlformats.org/drawingml/2006/main">
              <a:ext uri="{FF2B5EF4-FFF2-40B4-BE49-F238E27FC236}">
                <a16:creationId xmlns:a16="http://schemas.microsoft.com/office/drawing/2014/main" id="{88B04026-A5B9-42CB-A77F-E36C9FF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953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hart 控制面</a:t>
            </a:r>
          </a:p>
        </p:txBody>
      </p:sp>
      <p:sp>
        <p:nvSpPr>
          <p:cNvPr id="21" name="tag-GPR 数据面">
            <a:extLst xmlns:a="http://schemas.openxmlformats.org/drawingml/2006/main">
              <a:ext uri="{FF2B5EF4-FFF2-40B4-BE49-F238E27FC236}">
                <a16:creationId xmlns:a16="http://schemas.microsoft.com/office/drawing/2014/main" id="{52A64E11-AD62-49C9-9974-90605D50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GPR 数据面</a:t>
            </a:r>
          </a:p>
        </p:txBody>
      </p:sp>
      <p:sp>
        <p:nvSpPr>
          <p:cNvPr id="22" name="footer-3">
            <a:extLst xmlns:a="http://schemas.openxmlformats.org/drawingml/2006/main">
              <a:ext uri="{FF2B5EF4-FFF2-40B4-BE49-F238E27FC236}">
                <a16:creationId xmlns:a16="http://schemas.microsoft.com/office/drawing/2014/main" id="{F9F49CBB-20DF-4CB3-8212-E313326F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6480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BC292CC-24E7-419A-B381-B03DD099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5A81C4-C318-4ED2-B5B2-F36D860F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DMI register file 原理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9266E48-756B-4AB9-B9AE-19B86A4C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一个 response slot 让 DMI backpressure 和同周期替换行为确定化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434BF0-0DC8-46D6-9378-1DA994F6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dmi-bullets">
            <a:extLst xmlns:a="http://schemas.openxmlformats.org/drawingml/2006/main">
              <a:ext uri="{FF2B5EF4-FFF2-40B4-BE49-F238E27FC236}">
                <a16:creationId xmlns:a16="http://schemas.microsoft.com/office/drawing/2014/main" id="{043F60CF-BC57-4074-AC74-DE8DB56D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- 实现 6 个 DMI regs：data0、dmcontrol、dmstatus 等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- 未知地址或保留 op 返回 FAILED；只读写入成功但无副作用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- dmactive 清零会复位 DM 控制和 abstract 状态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- response slot 在空闲或本周期消费时接收新 request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- executor completion 独立于 DMI backpressure 更新 data0/cmderr</a:t>
            </a:r>
          </a:p>
        </p:txBody>
      </p:sp>
      <p:sp>
        <p:nvSpPr>
          <p:cNvPr id="6" name="dmi-req">
            <a:extLst xmlns:a="http://schemas.openxmlformats.org/drawingml/2006/main">
              <a:ext uri="{FF2B5EF4-FFF2-40B4-BE49-F238E27FC236}">
                <a16:creationId xmlns:a16="http://schemas.microsoft.com/office/drawing/2014/main" id="{2B283B1A-0150-4BC2-854C-F6421358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62125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DTM request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op/addr/data</a:t>
            </a:r>
          </a:p>
        </p:txBody>
      </p:sp>
      <p:sp>
        <p:nvSpPr>
          <p:cNvPr id="7" name="dmi-dec">
            <a:extLst xmlns:a="http://schemas.openxmlformats.org/drawingml/2006/main">
              <a:ext uri="{FF2B5EF4-FFF2-40B4-BE49-F238E27FC236}">
                <a16:creationId xmlns:a16="http://schemas.microsoft.com/office/drawing/2014/main" id="{0DCE0039-7405-4D08-A031-91B1D3D5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op/address decode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read/write strobes</a:t>
            </a:r>
          </a:p>
        </p:txBody>
      </p:sp>
      <p:sp>
        <p:nvSpPr>
          <p:cNvPr id="8" name="dmi-rsp">
            <a:extLst xmlns:a="http://schemas.openxmlformats.org/drawingml/2006/main">
              <a:ext uri="{FF2B5EF4-FFF2-40B4-BE49-F238E27FC236}">
                <a16:creationId xmlns:a16="http://schemas.microsoft.com/office/drawing/2014/main" id="{00C02795-A204-4050-9EF3-DA0BEC13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62125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response slot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valid/resp/data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clk_i/rst_ni</a:t>
            </a:r>
          </a:p>
        </p:txBody>
      </p:sp>
      <p:sp>
        <p:nvSpPr>
          <p:cNvPr id="9" name="dmi-dm">
            <a:extLst xmlns:a="http://schemas.openxmlformats.org/drawingml/2006/main">
              <a:ext uri="{FF2B5EF4-FFF2-40B4-BE49-F238E27FC236}">
                <a16:creationId xmlns:a16="http://schemas.microsoft.com/office/drawing/2014/main" id="{75BA4C44-6A56-4B18-9995-60B0AD1A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1952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dmcontrol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dmactive/hartsel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halt/resume/reset</a:t>
            </a:r>
          </a:p>
        </p:txBody>
      </p:sp>
      <p:sp>
        <p:nvSpPr>
          <p:cNvPr id="10" name="dmi-ab">
            <a:extLst xmlns:a="http://schemas.openxmlformats.org/drawingml/2006/main">
              <a:ext uri="{FF2B5EF4-FFF2-40B4-BE49-F238E27FC236}">
                <a16:creationId xmlns:a16="http://schemas.microsoft.com/office/drawing/2014/main" id="{A00A5052-C4A8-49FC-8123-2135E665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abstract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command/data0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cmderr W1C</a:t>
            </a:r>
          </a:p>
        </p:txBody>
      </p:sp>
      <p:sp>
        <p:nvSpPr>
          <p:cNvPr id="11" name="dmi-mux">
            <a:extLst xmlns:a="http://schemas.openxmlformats.org/drawingml/2006/main">
              <a:ext uri="{FF2B5EF4-FFF2-40B4-BE49-F238E27FC236}">
                <a16:creationId xmlns:a16="http://schemas.microsoft.com/office/drawing/2014/main" id="{A5577DE0-9237-471C-A506-B4D1523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read images mux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dmstatus/abstractcs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43750" y="2133600"/>
            <a:ext cx="523875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2171700"/>
            <a:ext cx="47625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6596063" y="2581275"/>
            <a:ext cx="2047875" cy="1133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8643938" y="2581275"/>
            <a:ext cx="404813" cy="1133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72375" y="3600450"/>
            <a:ext cx="2905125" cy="67627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53625" y="42767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10906125" y="2762250"/>
            <a:ext cx="2857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0C2A65D9-57F8-4928-B066-79747495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89098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079F725-6A43-4A80-855F-45A6AFD9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E1A76B-EA4B-40E5-8185-C2E9330A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dmcontrol / dmstatus 的根本逻辑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6EC6B21-2615-4838-A3C1-E87CB0AC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单 hart 系统里 any/all 状态成对相同；非零 hartsel 明确返回 nonexistent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B0E890D-69BA-4A44-9644-D5C45AB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g-table-h-0">
            <a:extLst xmlns:a="http://schemas.openxmlformats.org/drawingml/2006/main">
              <a:ext uri="{FF2B5EF4-FFF2-40B4-BE49-F238E27FC236}">
                <a16:creationId xmlns:a16="http://schemas.microsoft.com/office/drawing/2014/main" id="{712343B0-EF72-4EED-A844-361101DA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寄存器</a:t>
            </a:r>
          </a:p>
        </p:txBody>
      </p:sp>
      <p:sp>
        <p:nvSpPr>
          <p:cNvPr id="6" name="reg-table-h-1">
            <a:extLst xmlns:a="http://schemas.openxmlformats.org/drawingml/2006/main">
              <a:ext uri="{FF2B5EF4-FFF2-40B4-BE49-F238E27FC236}">
                <a16:creationId xmlns:a16="http://schemas.microsoft.com/office/drawing/2014/main" id="{A7677F09-73D2-4B33-8999-52689B71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19050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关键字段</a:t>
            </a:r>
          </a:p>
        </p:txBody>
      </p:sp>
      <p:sp>
        <p:nvSpPr>
          <p:cNvPr id="7" name="reg-table-h-2">
            <a:extLst xmlns:a="http://schemas.openxmlformats.org/drawingml/2006/main">
              <a:ext uri="{FF2B5EF4-FFF2-40B4-BE49-F238E27FC236}">
                <a16:creationId xmlns:a16="http://schemas.microsoft.com/office/drawing/2014/main" id="{C8BFDE0F-C6A9-4548-A6B9-160A7B32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19050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设计理由</a:t>
            </a:r>
          </a:p>
        </p:txBody>
      </p:sp>
      <p:sp>
        <p:nvSpPr>
          <p:cNvPr id="8" name="reg-table-0-0">
            <a:extLst xmlns:a="http://schemas.openxmlformats.org/drawingml/2006/main">
              <a:ext uri="{FF2B5EF4-FFF2-40B4-BE49-F238E27FC236}">
                <a16:creationId xmlns:a16="http://schemas.microsoft.com/office/drawing/2014/main" id="{51C16263-48F1-4910-A38A-B57AD447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dmcontrol</a:t>
            </a:r>
          </a:p>
        </p:txBody>
      </p:sp>
      <p:sp>
        <p:nvSpPr>
          <p:cNvPr id="9" name="reg-table-0-1">
            <a:extLst xmlns:a="http://schemas.openxmlformats.org/drawingml/2006/main">
              <a:ext uri="{FF2B5EF4-FFF2-40B4-BE49-F238E27FC236}">
                <a16:creationId xmlns:a16="http://schemas.microsoft.com/office/drawing/2014/main" id="{E8332387-6F66-47C9-9C7B-77806EEA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25908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dmactive, haltreq, resumereq, ndmreset, hartsel</a:t>
            </a:r>
          </a:p>
        </p:txBody>
      </p:sp>
      <p:sp>
        <p:nvSpPr>
          <p:cNvPr id="10" name="reg-table-0-2">
            <a:extLst xmlns:a="http://schemas.openxmlformats.org/drawingml/2006/main">
              <a:ext uri="{FF2B5EF4-FFF2-40B4-BE49-F238E27FC236}">
                <a16:creationId xmlns:a16="http://schemas.microsoft.com/office/drawing/2014/main" id="{9FC63A9E-FE4F-4C19-9F8C-68F50543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5908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调试器用一个寄存器完成激活、hart 选择和控制意图</a:t>
            </a:r>
          </a:p>
        </p:txBody>
      </p:sp>
      <p:sp>
        <p:nvSpPr>
          <p:cNvPr id="11" name="reg-table-1-0">
            <a:extLst xmlns:a="http://schemas.openxmlformats.org/drawingml/2006/main">
              <a:ext uri="{FF2B5EF4-FFF2-40B4-BE49-F238E27FC236}">
                <a16:creationId xmlns:a16="http://schemas.microsoft.com/office/drawing/2014/main" id="{FB209E9B-3132-4719-8436-179A359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dmstatus</a:t>
            </a:r>
          </a:p>
        </p:txBody>
      </p:sp>
      <p:sp>
        <p:nvSpPr>
          <p:cNvPr id="12" name="reg-table-1-1">
            <a:extLst xmlns:a="http://schemas.openxmlformats.org/drawingml/2006/main">
              <a:ext uri="{FF2B5EF4-FFF2-40B4-BE49-F238E27FC236}">
                <a16:creationId xmlns:a16="http://schemas.microsoft.com/office/drawing/2014/main" id="{8D1C52A8-36A5-4C59-87CF-B0DE2533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32766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version=2, authenticated=1, halted/running/resumeack/havereset</a:t>
            </a:r>
          </a:p>
        </p:txBody>
      </p:sp>
      <p:sp>
        <p:nvSpPr>
          <p:cNvPr id="13" name="reg-table-1-2">
            <a:extLst xmlns:a="http://schemas.openxmlformats.org/drawingml/2006/main">
              <a:ext uri="{FF2B5EF4-FFF2-40B4-BE49-F238E27FC236}">
                <a16:creationId xmlns:a16="http://schemas.microsoft.com/office/drawing/2014/main" id="{7F5E9D15-B76C-4627-9394-FC6CCC15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32766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OpenOCD/GDB 轮询 hart 可用性与状态</a:t>
            </a:r>
          </a:p>
        </p:txBody>
      </p:sp>
      <p:sp>
        <p:nvSpPr>
          <p:cNvPr id="14" name="reg-table-2-0">
            <a:extLst xmlns:a="http://schemas.openxmlformats.org/drawingml/2006/main">
              <a:ext uri="{FF2B5EF4-FFF2-40B4-BE49-F238E27FC236}">
                <a16:creationId xmlns:a16="http://schemas.microsoft.com/office/drawing/2014/main" id="{A0F91843-34EA-426E-84D3-52066B0F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abstractcs</a:t>
            </a:r>
          </a:p>
        </p:txBody>
      </p:sp>
      <p:sp>
        <p:nvSpPr>
          <p:cNvPr id="15" name="reg-table-2-1">
            <a:extLst xmlns:a="http://schemas.openxmlformats.org/drawingml/2006/main">
              <a:ext uri="{FF2B5EF4-FFF2-40B4-BE49-F238E27FC236}">
                <a16:creationId xmlns:a16="http://schemas.microsoft.com/office/drawing/2014/main" id="{BB7AE9CB-FD0B-46DF-8E70-ED1BED87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39624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busy, cmderr, datacount=1, progbufsize=0</a:t>
            </a:r>
          </a:p>
        </p:txBody>
      </p:sp>
      <p:sp>
        <p:nvSpPr>
          <p:cNvPr id="16" name="reg-table-2-2">
            <a:extLst xmlns:a="http://schemas.openxmlformats.org/drawingml/2006/main">
              <a:ext uri="{FF2B5EF4-FFF2-40B4-BE49-F238E27FC236}">
                <a16:creationId xmlns:a16="http://schemas.microsoft.com/office/drawing/2014/main" id="{C8DD67F4-FE18-4500-A2F4-ABF57BCE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39624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把最小 GPR abstract command 的 busy/error 状态暴露给软件</a:t>
            </a:r>
          </a:p>
        </p:txBody>
      </p:sp>
      <p:sp>
        <p:nvSpPr>
          <p:cNvPr id="17" name="reg-table-3-0">
            <a:extLst xmlns:a="http://schemas.openxmlformats.org/drawingml/2006/main">
              <a:ext uri="{FF2B5EF4-FFF2-40B4-BE49-F238E27FC236}">
                <a16:creationId xmlns:a16="http://schemas.microsoft.com/office/drawing/2014/main" id="{536E017C-3E30-4CF3-9531-BD44D053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command/data0</a:t>
            </a:r>
          </a:p>
        </p:txBody>
      </p:sp>
      <p:sp>
        <p:nvSpPr>
          <p:cNvPr id="18" name="reg-table-3-1">
            <a:extLst xmlns:a="http://schemas.openxmlformats.org/drawingml/2006/main">
              <a:ext uri="{FF2B5EF4-FFF2-40B4-BE49-F238E27FC236}">
                <a16:creationId xmlns:a16="http://schemas.microsoft.com/office/drawing/2014/main" id="{AD535E7D-38F6-41F7-9BEC-8DBD2F90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46482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accepted command, one 32-bit data register</a:t>
            </a:r>
          </a:p>
        </p:txBody>
      </p:sp>
      <p:sp>
        <p:nvSpPr>
          <p:cNvPr id="19" name="reg-table-3-2">
            <a:extLst xmlns:a="http://schemas.openxmlformats.org/drawingml/2006/main">
              <a:ext uri="{FF2B5EF4-FFF2-40B4-BE49-F238E27FC236}">
                <a16:creationId xmlns:a16="http://schemas.microsoft.com/office/drawing/2014/main" id="{1E6DFD82-A424-4E06-8851-1491C8CD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4648200"/>
            <a:ext cx="177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RV32 GPR 读写的数据通道</a:t>
            </a:r>
          </a:p>
        </p:txBody>
      </p:sp>
      <p:sp>
        <p:nvSpPr>
          <p:cNvPr id="20" name="hartsel0">
            <a:extLst xmlns:a="http://schemas.openxmlformats.org/drawingml/2006/main">
              <a:ext uri="{FF2B5EF4-FFF2-40B4-BE49-F238E27FC236}">
                <a16:creationId xmlns:a16="http://schemas.microsoft.com/office/drawing/2014/main" id="{25DFA04E-430D-46FC-A2A6-3771947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hartsel == 0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selected_hart_exists</a:t>
            </a:r>
          </a:p>
        </p:txBody>
      </p:sp>
      <p:sp>
        <p:nvSpPr>
          <p:cNvPr id="21" name="hartseln">
            <a:extLst xmlns:a="http://schemas.openxmlformats.org/drawingml/2006/main">
              <a:ext uri="{FF2B5EF4-FFF2-40B4-BE49-F238E27FC236}">
                <a16:creationId xmlns:a16="http://schemas.microsoft.com/office/drawing/2014/main" id="{C8C5CCDF-54A9-4B72-964F-702D1DCE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1950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hartsel != 0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any/all nonexistent</a:t>
            </a:r>
          </a:p>
        </p:txBody>
      </p:sp>
      <p:sp>
        <p:nvSpPr>
          <p:cNvPr id="22" name="status-if">
            <a:extLst xmlns:a="http://schemas.openxmlformats.org/drawingml/2006/main">
              <a:ext uri="{FF2B5EF4-FFF2-40B4-BE49-F238E27FC236}">
                <a16:creationId xmlns:a16="http://schemas.microsoft.com/office/drawing/2014/main" id="{6B8FBA2E-0627-4372-9668-F7F87742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90750"/>
            <a:ext cx="1857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hart status inputs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halted/running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resumeack/havereset</a:t>
            </a:r>
          </a:p>
        </p:txBody>
      </p:sp>
      <p:sp>
        <p:nvSpPr>
          <p:cNvPr id="23" name="status-out">
            <a:extLst xmlns:a="http://schemas.openxmlformats.org/drawingml/2006/main">
              <a:ext uri="{FF2B5EF4-FFF2-40B4-BE49-F238E27FC236}">
                <a16:creationId xmlns:a16="http://schemas.microsoft.com/office/drawing/2014/main" id="{CCDB8E23-8309-4519-A24D-64F7256D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57625"/>
            <a:ext cx="1857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dmstatus image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any/all mirrors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version/auth fixed</a:t>
            </a:r>
          </a:p>
        </p:txBody>
      </p:sp>
      <p:cxnSp>
        <p:nvCxnSpPr>
          <p:cNvPr id="51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667750" y="2600325"/>
            <a:ext cx="714375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310813" y="323850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67750" y="4029075"/>
            <a:ext cx="714375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7" name="footer-5">
            <a:extLst xmlns:a="http://schemas.openxmlformats.org/drawingml/2006/main">
              <a:ext uri="{FF2B5EF4-FFF2-40B4-BE49-F238E27FC236}">
                <a16:creationId xmlns:a16="http://schemas.microsoft.com/office/drawing/2014/main" id="{70CD43F4-F453-4B01-B9EC-5F593D5E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72588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2DC5D6C-65CA-4D71-BB2D-4C15ADEA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8C1C58-FBE7-44AB-AE5A-A7A3F220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halt_ctrl：halt/resume 事务控制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5603349-1B93-4664-B0D2-C004E28B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把 DM 的 level intent 变成 core 可接收的 transaction，并保持 sticky software-visible 状态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1A4D12B-4ACD-48BF-AC0C-CA2EA592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halt-text">
            <a:extLst xmlns:a="http://schemas.openxmlformats.org/drawingml/2006/main">
              <a:ext uri="{FF2B5EF4-FFF2-40B4-BE49-F238E27FC236}">
                <a16:creationId xmlns:a16="http://schemas.microsoft.com/office/drawing/2014/main" id="{B88E2353-810B-4DF9-ACC7-75256673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IDLE 只在需要时发起 HALT_WAIT 或 RESUME_WAIT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halt 与 resume 同时出现时 halt 优先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DM inactive、取消、core 完成或 hart reset 都会终止事务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resumeack 和 havereset 做 sticky 保存，避免软件轮询漏掉短事件</a:t>
            </a:r>
          </a:p>
        </p:txBody>
      </p:sp>
      <p:sp>
        <p:nvSpPr>
          <p:cNvPr id="6" name="halt-idle">
            <a:extLst xmlns:a="http://schemas.openxmlformats.org/drawingml/2006/main">
              <a:ext uri="{FF2B5EF4-FFF2-40B4-BE49-F238E27FC236}">
                <a16:creationId xmlns:a16="http://schemas.microsoft.com/office/drawing/2014/main" id="{D386C845-AC77-43A0-AEF3-A84C1B4C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IDLE</a:t>
            </a:r>
          </a:p>
        </p:txBody>
      </p:sp>
      <p:sp>
        <p:nvSpPr>
          <p:cNvPr id="7" name="halt-hw">
            <a:extLst xmlns:a="http://schemas.openxmlformats.org/drawingml/2006/main">
              <a:ext uri="{FF2B5EF4-FFF2-40B4-BE49-F238E27FC236}">
                <a16:creationId xmlns:a16="http://schemas.microsoft.com/office/drawing/2014/main" id="{E8D23309-8EA9-4C8E-BE4E-64B878B8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HALT_WAIT</a:t>
            </a:r>
          </a:p>
        </p:txBody>
      </p:sp>
      <p:sp>
        <p:nvSpPr>
          <p:cNvPr id="8" name="halt-rw">
            <a:extLst xmlns:a="http://schemas.openxmlformats.org/drawingml/2006/main">
              <a:ext uri="{FF2B5EF4-FFF2-40B4-BE49-F238E27FC236}">
                <a16:creationId xmlns:a16="http://schemas.microsoft.com/office/drawing/2014/main" id="{2F164CA5-C634-40D8-8379-A58D2E26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RESUME_WAIT</a:t>
            </a:r>
          </a:p>
        </p:txBody>
      </p:sp>
      <p:cxnSp>
        <p:nvCxnSpPr>
          <p:cNvPr id="24" name=""/>
          <p:cNvCxnSpPr>
            <a:stCxn xmlns:a="http://schemas.openxmlformats.org/drawingml/2006/main" id="6" idx="4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5715000" y="2990850"/>
            <a:ext cx="1428750" cy="1009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6" idx="4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143750" y="2990850"/>
            <a:ext cx="1428750" cy="1009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8" idx="2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6667500" y="43053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5715000" y="2686050"/>
            <a:ext cx="476250" cy="1314450"/>
          </a:xfrm>
          <a:prstGeom xmlns:a="http://schemas.openxmlformats.org/drawingml/2006/main" prst="bentConnector5">
            <a:avLst>
              <a:gd name="adj1" fmla="val 0"/>
              <a:gd name="adj2" fmla="val 17391"/>
              <a:gd name="adj3" fmla="val 52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8" idx="0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8096250" y="2686050"/>
            <a:ext cx="476250" cy="1314450"/>
          </a:xfrm>
          <a:prstGeom xmlns:a="http://schemas.openxmlformats.org/drawingml/2006/main" prst="bentConnector5">
            <a:avLst>
              <a:gd name="adj1" fmla="val 0"/>
              <a:gd name="adj2" fmla="val 17391"/>
              <a:gd name="adj3" fmla="val 52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4" name="halt-labels">
            <a:extLst xmlns:a="http://schemas.openxmlformats.org/drawingml/2006/main">
              <a:ext uri="{FF2B5EF4-FFF2-40B4-BE49-F238E27FC236}">
                <a16:creationId xmlns:a16="http://schemas.microsoft.com/office/drawing/2014/main" id="{23EAD4A8-6515-4C6B-9A77-3D902BF2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28637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IDLE -&gt; HALT_WAIT: dmactive &amp;&amp; haltreq &amp;&amp; !core_halted</a:t>
            </a:r>
          </a:p>
          <a:p xmlns:a="http://schemas.openxmlformats.org/drawingml/2006/main">
            <a:pPr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IDLE -&gt; RESUME_WAIT: dmactive &amp;&amp; !haltreq &amp;&amp; resumereq &amp;&amp; !core_running</a:t>
            </a:r>
          </a:p>
          <a:p xmlns:a="http://schemas.openxmlformats.org/drawingml/2006/main">
            <a:pPr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WAIT -&gt; IDLE: completion, cancel, dmactive clear, or reset event</a:t>
            </a:r>
          </a:p>
        </p:txBody>
      </p:sp>
      <p:sp>
        <p:nvSpPr>
          <p:cNvPr id="15" name="footer-6">
            <a:extLst xmlns:a="http://schemas.openxmlformats.org/drawingml/2006/main">
              <a:ext uri="{FF2B5EF4-FFF2-40B4-BE49-F238E27FC236}">
                <a16:creationId xmlns:a16="http://schemas.microsoft.com/office/drawing/2014/main" id="{C9EA711E-924D-4212-B106-331E4EA7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34802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314F982-A230-451D-AE4D-33D9BA6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549C17-9E3A-4D66-A084-59163B4C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abstract_cmd：RV32 GPR Access Register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7ADB2C8-2A84-4C81-9FED-BE22E8E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先做能被 OpenOCD/GDB 基础寄存器读写用上的最小 command executor 前级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F0E4016-95F9-4BA7-A55F-472521EB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cmd-fields">
            <a:extLst xmlns:a="http://schemas.openxmlformats.org/drawingml/2006/main">
              <a:ext uri="{FF2B5EF4-FFF2-40B4-BE49-F238E27FC236}">
                <a16:creationId xmlns:a16="http://schemas.microsoft.com/office/drawing/2014/main" id="{34F286EC-1A72-4E75-BDD6-2227E583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cmdtype=0 Access Register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aarsize=2 when transfer=1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regno=0x1000..0x101F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transfer=0 is halted no-op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write=1 writes data0 to GPR</a:t>
            </a:r>
          </a:p>
        </p:txBody>
      </p:sp>
      <p:sp>
        <p:nvSpPr>
          <p:cNvPr id="6" name="acmd-idle">
            <a:extLst xmlns:a="http://schemas.openxmlformats.org/drawingml/2006/main">
              <a:ext uri="{FF2B5EF4-FFF2-40B4-BE49-F238E27FC236}">
                <a16:creationId xmlns:a16="http://schemas.microsoft.com/office/drawing/2014/main" id="{035AADDA-4C69-40D9-BB77-75B574B9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IDLE</a:t>
            </a:r>
          </a:p>
        </p:txBody>
      </p:sp>
      <p:sp>
        <p:nvSpPr>
          <p:cNvPr id="7" name="acmd-issue">
            <a:extLst xmlns:a="http://schemas.openxmlformats.org/drawingml/2006/main">
              <a:ext uri="{FF2B5EF4-FFF2-40B4-BE49-F238E27FC236}">
                <a16:creationId xmlns:a16="http://schemas.microsoft.com/office/drawing/2014/main" id="{6F598F3F-A087-4F10-B6AD-F8C15CD5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ISSUE</a:t>
            </a:r>
          </a:p>
        </p:txBody>
      </p:sp>
      <p:sp>
        <p:nvSpPr>
          <p:cNvPr id="8" name="acmd-wait">
            <a:extLst xmlns:a="http://schemas.openxmlformats.org/drawingml/2006/main">
              <a:ext uri="{FF2B5EF4-FFF2-40B4-BE49-F238E27FC236}">
                <a16:creationId xmlns:a16="http://schemas.microsoft.com/office/drawing/2014/main" id="{F398F753-3A9F-4BD5-954F-9FD9C1CF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WAIT</a:t>
            </a:r>
          </a:p>
        </p:txBody>
      </p:sp>
      <p:sp>
        <p:nvSpPr>
          <p:cNvPr id="9" name="acmd-comp">
            <a:extLst xmlns:a="http://schemas.openxmlformats.org/drawingml/2006/main">
              <a:ext uri="{FF2B5EF4-FFF2-40B4-BE49-F238E27FC236}">
                <a16:creationId xmlns:a16="http://schemas.microsoft.com/office/drawing/2014/main" id="{ED4D7C11-D634-4974-B24B-0F7E1463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00500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COMPLETE</a:t>
            </a:r>
          </a:p>
        </p:txBody>
      </p:sp>
      <p:cxnSp>
        <p:nvCxnSpPr>
          <p:cNvPr id="28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7381875" y="25431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4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572500" y="2847975"/>
            <a:ext cx="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7381875" y="43053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9" idx="0"/>
            <a:endCxn xmlns:a="http://schemas.openxmlformats.org/drawingml/2006/main" id="6" idx="4"/>
          </p:cNvCxnSpPr>
          <p:nvPr/>
        </p:nvCxnSpPr>
        <p:spPr>
          <a:xfrm xmlns:a="http://schemas.openxmlformats.org/drawingml/2006/main" flipV="1">
            <a:off x="6429375" y="2847975"/>
            <a:ext cx="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4" name="acmd-err">
            <a:extLst xmlns:a="http://schemas.openxmlformats.org/drawingml/2006/main">
              <a:ext uri="{FF2B5EF4-FFF2-40B4-BE49-F238E27FC236}">
                <a16:creationId xmlns:a16="http://schemas.microsoft.com/office/drawing/2014/main" id="{8689C84B-D259-490B-A49E-09FD8C3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error mapping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NOTSUP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HALT_RESUME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EXCEPTION</a:t>
            </a:r>
          </a:p>
        </p:txBody>
      </p:sp>
      <p:cxnSp>
        <p:nvCxnSpPr>
          <p:cNvPr id="33" name=""/>
          <p:cNvCxnSpPr>
            <a:stCxn xmlns:a="http://schemas.openxmlformats.org/drawingml/2006/main" id="8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7505700" y="3524250"/>
            <a:ext cx="2133600" cy="120015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14" idx="1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7381875" y="3524250"/>
            <a:ext cx="2238375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7" name="acmd-note">
            <a:extLst xmlns:a="http://schemas.openxmlformats.org/drawingml/2006/main">
              <a:ext uri="{FF2B5EF4-FFF2-40B4-BE49-F238E27FC236}">
                <a16:creationId xmlns:a16="http://schemas.microsoft.com/office/drawing/2014/main" id="{580EF91C-97F1-4BD0-A929-3234CBE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5A5A"/>
                </a:solidFill>
              </a:defRPr>
            </a:pPr>
            <a:r>
              <a:rPr sz="1500">
                <a:solidFill>
                  <a:srgbClr val="5A5A5A"/>
                </a:solidFill>
              </a:rPr>
              <a:t>关键原则：command capture 后请求字段保持稳定；读成功才 data0_we；DM deactivation 是 silent abort。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29FA6816-F31E-4584-A0FD-4527DF8D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58173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0B5CB1F-D157-4F28-9540-5FCD5F38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55B17D-E9AA-4CA2-8556-DE09C865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reg_access：core GPR transport sequencer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68B74EB-2158-4792-A014-87859412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不解码 abstract command，只保证一条 GPR 命令与 core response 精确配对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4B545D-35ED-481F-AA71-6C1BC096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acc-text">
            <a:extLst xmlns:a="http://schemas.openxmlformats.org/drawingml/2006/main">
              <a:ext uri="{FF2B5EF4-FFF2-40B4-BE49-F238E27FC236}">
                <a16:creationId xmlns:a16="http://schemas.microsoft.com/office/drawing/2014/main" id="{7CA1E6B5-B749-468A-9B1A-C323C6F3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- cmd handshake 后锁存 write/address/wdata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- core request backpressure 下字段保持稳定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- same-cycle core response 可直接进入 LOCAL_RSP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- flush 后若 core 已接收请求，进入 DROP_RSP 消耗 stale response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- 每个非 flushed command 恰好产生一个 upstream response</a:t>
            </a:r>
          </a:p>
        </p:txBody>
      </p:sp>
      <p:sp>
        <p:nvSpPr>
          <p:cNvPr id="6" name="ra-idle">
            <a:extLst xmlns:a="http://schemas.openxmlformats.org/drawingml/2006/main">
              <a:ext uri="{FF2B5EF4-FFF2-40B4-BE49-F238E27FC236}">
                <a16:creationId xmlns:a16="http://schemas.microsoft.com/office/drawing/2014/main" id="{5CEB2BC6-0161-4438-A6E0-062ECC29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IDLE</a:t>
            </a:r>
          </a:p>
        </p:txBody>
      </p:sp>
      <p:sp>
        <p:nvSpPr>
          <p:cNvPr id="7" name="ra-req">
            <a:extLst xmlns:a="http://schemas.openxmlformats.org/drawingml/2006/main">
              <a:ext uri="{FF2B5EF4-FFF2-40B4-BE49-F238E27FC236}">
                <a16:creationId xmlns:a16="http://schemas.microsoft.com/office/drawing/2014/main" id="{DB463D38-DA15-4F4F-AFB7-4E7E2C46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CORE_REQ</a:t>
            </a:r>
          </a:p>
        </p:txBody>
      </p:sp>
      <p:sp>
        <p:nvSpPr>
          <p:cNvPr id="8" name="ra-wait">
            <a:extLst xmlns:a="http://schemas.openxmlformats.org/drawingml/2006/main">
              <a:ext uri="{FF2B5EF4-FFF2-40B4-BE49-F238E27FC236}">
                <a16:creationId xmlns:a16="http://schemas.microsoft.com/office/drawing/2014/main" id="{ACF7802C-DDE0-47CF-8BDF-D4F70B0F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CORE_WAIT</a:t>
            </a:r>
          </a:p>
        </p:txBody>
      </p:sp>
      <p:sp>
        <p:nvSpPr>
          <p:cNvPr id="9" name="ra-rsp">
            <a:extLst xmlns:a="http://schemas.openxmlformats.org/drawingml/2006/main">
              <a:ext uri="{FF2B5EF4-FFF2-40B4-BE49-F238E27FC236}">
                <a16:creationId xmlns:a16="http://schemas.microsoft.com/office/drawing/2014/main" id="{92D3FE98-0EBD-417B-B817-3CDE634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LOCAL_RSP</a:t>
            </a:r>
          </a:p>
        </p:txBody>
      </p:sp>
      <p:sp>
        <p:nvSpPr>
          <p:cNvPr id="10" name="ra-drop">
            <a:extLst xmlns:a="http://schemas.openxmlformats.org/drawingml/2006/main">
              <a:ext uri="{FF2B5EF4-FFF2-40B4-BE49-F238E27FC236}">
                <a16:creationId xmlns:a16="http://schemas.microsoft.com/office/drawing/2014/main" id="{98A7A178-A77E-4C54-AD82-F7C219D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67125"/>
            <a:ext cx="19050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DROP_RSP</a:t>
            </a:r>
          </a:p>
        </p:txBody>
      </p:sp>
      <p:cxnSp>
        <p:nvCxnSpPr>
          <p:cNvPr id="29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7429500" y="22574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4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572500" y="2562225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7429500" y="39719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9" idx="0"/>
            <a:endCxn xmlns:a="http://schemas.openxmlformats.org/drawingml/2006/main" id="6" idx="4"/>
          </p:cNvCxnSpPr>
          <p:nvPr/>
        </p:nvCxnSpPr>
        <p:spPr>
          <a:xfrm xmlns:a="http://schemas.openxmlformats.org/drawingml/2006/main" flipV="1">
            <a:off x="6477000" y="2562225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8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9525000" y="397192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10" idx="0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7429500" y="2257425"/>
            <a:ext cx="3143250" cy="14097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7" name="ra-note">
            <a:extLst xmlns:a="http://schemas.openxmlformats.org/drawingml/2006/main">
              <a:ext uri="{FF2B5EF4-FFF2-40B4-BE49-F238E27FC236}">
                <a16:creationId xmlns:a16="http://schemas.microsoft.com/office/drawing/2014/main" id="{8FABACF2-EED5-47F2-A922-52D728CE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958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DROP_RSP 不是错误态，而是 ownership barrier：防止旧 core response 被错误配给下一条命令。</a:t>
            </a:r>
          </a:p>
        </p:txBody>
      </p:sp>
      <p:sp>
        <p:nvSpPr>
          <p:cNvPr id="18" name="footer-8">
            <a:extLst xmlns:a="http://schemas.openxmlformats.org/drawingml/2006/main">
              <a:ext uri="{FF2B5EF4-FFF2-40B4-BE49-F238E27FC236}">
                <a16:creationId xmlns:a16="http://schemas.microsoft.com/office/drawing/2014/main" id="{EE3779DC-32F2-44A6-93CF-F933B9EB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11985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0507FEC-04C9-4F08-9C23-B96A3647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860CD3-9E91-47AE-88DD-EF6EB50D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debug_dmi_if：只定义连接，不藏状态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8B8B974-5347-489F-AAD4-EF6676EE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interface 本身没有 storage、FSM、always_comb 或 always_ff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5853BE-7BBC-44E0-9687-3798C93F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if-dtm">
            <a:extLst xmlns:a="http://schemas.openxmlformats.org/drawingml/2006/main">
              <a:ext uri="{FF2B5EF4-FFF2-40B4-BE49-F238E27FC236}">
                <a16:creationId xmlns:a16="http://schemas.microsoft.com/office/drawing/2014/main" id="{92105E87-A340-4771-B81B-E905356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dtm modport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request producer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response consumer</a:t>
            </a:r>
          </a:p>
        </p:txBody>
      </p:sp>
      <p:sp>
        <p:nvSpPr>
          <p:cNvPr id="6" name="if-bus">
            <a:extLst xmlns:a="http://schemas.openxmlformats.org/drawingml/2006/main">
              <a:ext uri="{FF2B5EF4-FFF2-40B4-BE49-F238E27FC236}">
                <a16:creationId xmlns:a16="http://schemas.microsoft.com/office/drawing/2014/main" id="{7C69C47E-9E4B-4C57-9BEF-DDB3D135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debug_dmi_if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req_valid/ready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op/addr/data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rsp_valid/ready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resp/data</a:t>
            </a:r>
          </a:p>
        </p:txBody>
      </p:sp>
      <p:sp>
        <p:nvSpPr>
          <p:cNvPr id="7" name="if-dm">
            <a:extLst xmlns:a="http://schemas.openxmlformats.org/drawingml/2006/main">
              <a:ext uri="{FF2B5EF4-FFF2-40B4-BE49-F238E27FC236}">
                <a16:creationId xmlns:a16="http://schemas.microsoft.com/office/drawing/2014/main" id="{0F194044-0C02-4088-B425-E934B859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 modport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request consumer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response producer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2881313"/>
            <a:ext cx="161925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2881313"/>
            <a:ext cx="161925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239000" y="2881313"/>
            <a:ext cx="161925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3333750" y="2881313"/>
            <a:ext cx="161925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2" name="if-text">
            <a:extLst xmlns:a="http://schemas.openxmlformats.org/drawingml/2006/main">
              <a:ext uri="{FF2B5EF4-FFF2-40B4-BE49-F238E27FC236}">
                <a16:creationId xmlns:a16="http://schemas.microsoft.com/office/drawing/2014/main" id="{FF2CAB3D-488E-42F4-97E7-79C37808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req channel: fields stable while req_valid &amp;&amp; !req_ready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rsp channel: fields stable while rsp_valid &amp;&amp; !rsp_ready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monitor modport is passive for assertions and scoreboards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all buffering policy belongs to connected DTM/DM blocks</a:t>
            </a:r>
          </a:p>
        </p:txBody>
      </p:sp>
      <p:sp>
        <p:nvSpPr>
          <p:cNvPr id="13" name="footer-9">
            <a:extLst xmlns:a="http://schemas.openxmlformats.org/drawingml/2006/main">
              <a:ext uri="{FF2B5EF4-FFF2-40B4-BE49-F238E27FC236}">
                <a16:creationId xmlns:a16="http://schemas.microsoft.com/office/drawing/2014/main" id="{C3EA1DB2-19C3-425F-A905-221DC307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908463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AC6BAA3-7E4C-4D6E-95B6-709433B5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24AC3A-3259-42C6-85DD-4EEEA182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验证方法：为什么这样测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A65F389-2A36-4729-AB0E-2C3667DD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每个 debug leaf 都用自检查 testbench 覆盖正常路径、边界、错误和 backpressure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D71933-194F-460E-90C7-2B728808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why-table-h-0">
            <a:extLst xmlns:a="http://schemas.openxmlformats.org/drawingml/2006/main">
              <a:ext uri="{FF2B5EF4-FFF2-40B4-BE49-F238E27FC236}">
                <a16:creationId xmlns:a16="http://schemas.microsoft.com/office/drawing/2014/main" id="{AF72038D-CDB0-4040-9D88-A605BE4B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目标风险</a:t>
            </a:r>
          </a:p>
        </p:txBody>
      </p:sp>
      <p:sp>
        <p:nvSpPr>
          <p:cNvPr id="6" name="why-table-h-1">
            <a:extLst xmlns:a="http://schemas.openxmlformats.org/drawingml/2006/main">
              <a:ext uri="{FF2B5EF4-FFF2-40B4-BE49-F238E27FC236}">
                <a16:creationId xmlns:a16="http://schemas.microsoft.com/office/drawing/2014/main" id="{1A1BE354-38ED-4199-AB5A-D9E8ABE0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验证方法</a:t>
            </a:r>
          </a:p>
        </p:txBody>
      </p:sp>
      <p:sp>
        <p:nvSpPr>
          <p:cNvPr id="7" name="why-table-h-2">
            <a:extLst xmlns:a="http://schemas.openxmlformats.org/drawingml/2006/main">
              <a:ext uri="{FF2B5EF4-FFF2-40B4-BE49-F238E27FC236}">
                <a16:creationId xmlns:a16="http://schemas.microsoft.com/office/drawing/2014/main" id="{733A80AE-8232-4F76-ACFF-7B7FA038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573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根本逻辑</a:t>
            </a:r>
          </a:p>
        </p:txBody>
      </p:sp>
      <p:sp>
        <p:nvSpPr>
          <p:cNvPr id="8" name="why-table-0-0">
            <a:extLst xmlns:a="http://schemas.openxmlformats.org/drawingml/2006/main">
              <a:ext uri="{FF2B5EF4-FFF2-40B4-BE49-F238E27FC236}">
                <a16:creationId xmlns:a16="http://schemas.microsoft.com/office/drawing/2014/main" id="{5D3BDCF8-B427-4565-9678-7BCA0DA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479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DMI backpressure</a:t>
            </a:r>
          </a:p>
        </p:txBody>
      </p:sp>
      <p:sp>
        <p:nvSpPr>
          <p:cNvPr id="9" name="why-table-0-1">
            <a:extLst xmlns:a="http://schemas.openxmlformats.org/drawingml/2006/main">
              <a:ext uri="{FF2B5EF4-FFF2-40B4-BE49-F238E27FC236}">
                <a16:creationId xmlns:a16="http://schemas.microsoft.com/office/drawing/2014/main" id="{41E2DC2C-1C4B-4D32-82E5-C1C2494A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479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response hold + same-edge replace</a:t>
            </a:r>
          </a:p>
        </p:txBody>
      </p:sp>
      <p:sp>
        <p:nvSpPr>
          <p:cNvPr id="10" name="why-table-0-2">
            <a:extLst xmlns:a="http://schemas.openxmlformats.org/drawingml/2006/main">
              <a:ext uri="{FF2B5EF4-FFF2-40B4-BE49-F238E27FC236}">
                <a16:creationId xmlns:a16="http://schemas.microsoft.com/office/drawing/2014/main" id="{DB4EFC39-8447-4B61-9AD4-B362EF80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479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DMI 是请求/响应分离协议，必须证明无气泡替换和稳定保持</a:t>
            </a:r>
          </a:p>
        </p:txBody>
      </p:sp>
      <p:sp>
        <p:nvSpPr>
          <p:cNvPr id="11" name="why-table-1-0">
            <a:extLst xmlns:a="http://schemas.openxmlformats.org/drawingml/2006/main">
              <a:ext uri="{FF2B5EF4-FFF2-40B4-BE49-F238E27FC236}">
                <a16:creationId xmlns:a16="http://schemas.microsoft.com/office/drawing/2014/main" id="{EB051A41-6C1D-4B0F-B386-59C52BCC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384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halt/resume race</a:t>
            </a:r>
          </a:p>
        </p:txBody>
      </p:sp>
      <p:sp>
        <p:nvSpPr>
          <p:cNvPr id="12" name="why-table-1-1">
            <a:extLst xmlns:a="http://schemas.openxmlformats.org/drawingml/2006/main">
              <a:ext uri="{FF2B5EF4-FFF2-40B4-BE49-F238E27FC236}">
                <a16:creationId xmlns:a16="http://schemas.microsoft.com/office/drawing/2014/main" id="{E2CA1F20-5592-41F2-A6BB-65A98349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384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directed cancellation + random latency</a:t>
            </a:r>
          </a:p>
        </p:txBody>
      </p:sp>
      <p:sp>
        <p:nvSpPr>
          <p:cNvPr id="13" name="why-table-1-2">
            <a:extLst xmlns:a="http://schemas.openxmlformats.org/drawingml/2006/main">
              <a:ext uri="{FF2B5EF4-FFF2-40B4-BE49-F238E27FC236}">
                <a16:creationId xmlns:a16="http://schemas.microsoft.com/office/drawing/2014/main" id="{787CF43C-04ED-47BB-8647-FC9E3B2D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384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core 状态变化不是固定延迟，事务控制必须对延迟不敏感</a:t>
            </a:r>
          </a:p>
        </p:txBody>
      </p:sp>
      <p:sp>
        <p:nvSpPr>
          <p:cNvPr id="14" name="why-table-2-0">
            <a:extLst xmlns:a="http://schemas.openxmlformats.org/drawingml/2006/main">
              <a:ext uri="{FF2B5EF4-FFF2-40B4-BE49-F238E27FC236}">
                <a16:creationId xmlns:a16="http://schemas.microsoft.com/office/drawing/2014/main" id="{354E00C6-79BA-4242-971C-FDCCC849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290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abstract command legality</a:t>
            </a:r>
          </a:p>
        </p:txBody>
      </p:sp>
      <p:sp>
        <p:nvSpPr>
          <p:cNvPr id="15" name="why-table-2-1">
            <a:extLst xmlns:a="http://schemas.openxmlformats.org/drawingml/2006/main">
              <a:ext uri="{FF2B5EF4-FFF2-40B4-BE49-F238E27FC236}">
                <a16:creationId xmlns:a16="http://schemas.microsoft.com/office/drawing/2014/main" id="{91C739B5-F4A0-47CA-B6B6-FC6D71F6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290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unsupported field/error mapping sweep</a:t>
            </a:r>
          </a:p>
        </p:txBody>
      </p:sp>
      <p:sp>
        <p:nvSpPr>
          <p:cNvPr id="16" name="why-table-2-2">
            <a:extLst xmlns:a="http://schemas.openxmlformats.org/drawingml/2006/main">
              <a:ext uri="{FF2B5EF4-FFF2-40B4-BE49-F238E27FC236}">
                <a16:creationId xmlns:a16="http://schemas.microsoft.com/office/drawing/2014/main" id="{82D89EF4-270A-49BD-9B79-F851CFA9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290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调试器依赖 cmderr 精确区分 NOTSUP/HALT_RESUME/EXCEPTION</a:t>
            </a:r>
          </a:p>
        </p:txBody>
      </p:sp>
      <p:sp>
        <p:nvSpPr>
          <p:cNvPr id="17" name="why-table-3-0">
            <a:extLst xmlns:a="http://schemas.openxmlformats.org/drawingml/2006/main">
              <a:ext uri="{FF2B5EF4-FFF2-40B4-BE49-F238E27FC236}">
                <a16:creationId xmlns:a16="http://schemas.microsoft.com/office/drawing/2014/main" id="{E798B182-7661-40D3-885F-D23E0AC5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GPR response ownership</a:t>
            </a:r>
          </a:p>
        </p:txBody>
      </p:sp>
      <p:sp>
        <p:nvSpPr>
          <p:cNvPr id="18" name="why-table-3-1">
            <a:extLst xmlns:a="http://schemas.openxmlformats.org/drawingml/2006/main">
              <a:ext uri="{FF2B5EF4-FFF2-40B4-BE49-F238E27FC236}">
                <a16:creationId xmlns:a16="http://schemas.microsoft.com/office/drawing/2014/main" id="{955D0F71-5078-4FCA-97FE-88CE0D62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195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flush phase sweep + stale drain</a:t>
            </a:r>
          </a:p>
        </p:txBody>
      </p:sp>
      <p:sp>
        <p:nvSpPr>
          <p:cNvPr id="19" name="why-table-3-2">
            <a:extLst xmlns:a="http://schemas.openxmlformats.org/drawingml/2006/main">
              <a:ext uri="{FF2B5EF4-FFF2-40B4-BE49-F238E27FC236}">
                <a16:creationId xmlns:a16="http://schemas.microsoft.com/office/drawing/2014/main" id="{1426A9B3-F11A-4AB9-AB08-EEE61B8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195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取消后旧 response 不能污染下一条 command</a:t>
            </a:r>
          </a:p>
        </p:txBody>
      </p:sp>
      <p:sp>
        <p:nvSpPr>
          <p:cNvPr id="20" name="why-table-4-0">
            <a:extLst xmlns:a="http://schemas.openxmlformats.org/drawingml/2006/main">
              <a:ext uri="{FF2B5EF4-FFF2-40B4-BE49-F238E27FC236}">
                <a16:creationId xmlns:a16="http://schemas.microsoft.com/office/drawing/2014/main" id="{84C4B745-8697-4706-B4AB-056EBCAB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target portability</a:t>
            </a:r>
          </a:p>
        </p:txBody>
      </p:sp>
      <p:sp>
        <p:nvSpPr>
          <p:cNvPr id="21" name="why-table-4-1">
            <a:extLst xmlns:a="http://schemas.openxmlformats.org/drawingml/2006/main">
              <a:ext uri="{FF2B5EF4-FFF2-40B4-BE49-F238E27FC236}">
                <a16:creationId xmlns:a16="http://schemas.microsoft.com/office/drawing/2014/main" id="{3249866C-E73E-4937-A170-FF0318A1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101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generic/IC/Virtex-7 lint matrix</a:t>
            </a:r>
          </a:p>
        </p:txBody>
      </p:sp>
      <p:sp>
        <p:nvSpPr>
          <p:cNvPr id="22" name="why-table-4-2">
            <a:extLst xmlns:a="http://schemas.openxmlformats.org/drawingml/2006/main">
              <a:ext uri="{FF2B5EF4-FFF2-40B4-BE49-F238E27FC236}">
                <a16:creationId xmlns:a16="http://schemas.microsoft.com/office/drawing/2014/main" id="{8A43A8A4-56D2-4C49-A7C6-C571A9B7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101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宏选择不能改变软件可见 Debug 行为</a:t>
            </a:r>
          </a:p>
        </p:txBody>
      </p:sp>
      <p:sp>
        <p:nvSpPr>
          <p:cNvPr id="23" name="verif-ref">
            <a:extLst xmlns:a="http://schemas.openxmlformats.org/drawingml/2006/main">
              <a:ext uri="{FF2B5EF4-FFF2-40B4-BE49-F238E27FC236}">
                <a16:creationId xmlns:a16="http://schemas.microsoft.com/office/drawing/2014/main" id="{4F4A0C63-9713-4F1D-95A4-A68EFC81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reference model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scoreboard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phase counters</a:t>
            </a:r>
          </a:p>
        </p:txBody>
      </p:sp>
      <p:sp>
        <p:nvSpPr>
          <p:cNvPr id="24" name="verif-tb">
            <a:extLst xmlns:a="http://schemas.openxmlformats.org/drawingml/2006/main">
              <a:ext uri="{FF2B5EF4-FFF2-40B4-BE49-F238E27FC236}">
                <a16:creationId xmlns:a16="http://schemas.microsoft.com/office/drawing/2014/main" id="{C3506B62-1A44-4408-90B5-199364D2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self-checking TB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directed + random</a:t>
            </a:r>
          </a:p>
        </p:txBody>
      </p:sp>
      <p:sp>
        <p:nvSpPr>
          <p:cNvPr id="25" name="verif-pass">
            <a:extLst xmlns:a="http://schemas.openxmlformats.org/drawingml/2006/main">
              <a:ext uri="{FF2B5EF4-FFF2-40B4-BE49-F238E27FC236}">
                <a16:creationId xmlns:a16="http://schemas.microsoft.com/office/drawing/2014/main" id="{A78B1589-B9EB-4030-97C2-3D8BCD21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575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PASS criteria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first mismatch fatal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coverage summary</a:t>
            </a:r>
          </a:p>
        </p:txBody>
      </p:sp>
      <p:cxnSp>
        <p:nvCxnSpPr>
          <p:cNvPr id="55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096375" y="3000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8077200" y="3381375"/>
            <a:ext cx="2038350" cy="140017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77200" y="1933575"/>
            <a:ext cx="2038350" cy="14478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9" name="footer-10">
            <a:extLst xmlns:a="http://schemas.openxmlformats.org/drawingml/2006/main">
              <a:ext uri="{FF2B5EF4-FFF2-40B4-BE49-F238E27FC236}">
                <a16:creationId xmlns:a16="http://schemas.microsoft.com/office/drawing/2014/main" id="{3D992EFF-FB3C-4CF4-9C40-37A67C3F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00390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96F5731-7120-4318-8406-B1D2BC1D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DCAC3F-EFB7-4F34-A552-611F50D4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验证结果快照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E98421-9851-4120-B32A-16B98068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当前报告是 functional self-check coverage；未声明 structural code/toggle coverage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892F82F-06DD-4B81-A233-F4064D20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sult-table-h-0">
            <a:extLst xmlns:a="http://schemas.openxmlformats.org/drawingml/2006/main">
              <a:ext uri="{FF2B5EF4-FFF2-40B4-BE49-F238E27FC236}">
                <a16:creationId xmlns:a16="http://schemas.microsoft.com/office/drawing/2014/main" id="{E9EE247D-8831-419D-800C-D00501FD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6" name="result-table-h-1">
            <a:extLst xmlns:a="http://schemas.openxmlformats.org/drawingml/2006/main">
              <a:ext uri="{FF2B5EF4-FFF2-40B4-BE49-F238E27FC236}">
                <a16:creationId xmlns:a16="http://schemas.microsoft.com/office/drawing/2014/main" id="{0EFA6D07-7CC6-447E-9762-86B308B8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sim end</a:t>
            </a:r>
          </a:p>
        </p:txBody>
      </p:sp>
      <p:sp>
        <p:nvSpPr>
          <p:cNvPr id="7" name="result-table-h-2">
            <a:extLst xmlns:a="http://schemas.openxmlformats.org/drawingml/2006/main">
              <a:ext uri="{FF2B5EF4-FFF2-40B4-BE49-F238E27FC236}">
                <a16:creationId xmlns:a16="http://schemas.microsoft.com/office/drawing/2014/main" id="{48F7E4FF-610D-40FB-8B02-4FD38429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self-check</a:t>
            </a:r>
          </a:p>
        </p:txBody>
      </p:sp>
      <p:sp>
        <p:nvSpPr>
          <p:cNvPr id="8" name="result-table-h-3">
            <a:extLst xmlns:a="http://schemas.openxmlformats.org/drawingml/2006/main">
              <a:ext uri="{FF2B5EF4-FFF2-40B4-BE49-F238E27FC236}">
                <a16:creationId xmlns:a16="http://schemas.microsoft.com/office/drawing/2014/main" id="{11A064BE-29AE-4398-8C40-2FE649B7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随机/关键覆盖</a:t>
            </a:r>
          </a:p>
        </p:txBody>
      </p:sp>
      <p:sp>
        <p:nvSpPr>
          <p:cNvPr id="9" name="result-table-0-0">
            <a:extLst xmlns:a="http://schemas.openxmlformats.org/drawingml/2006/main">
              <a:ext uri="{FF2B5EF4-FFF2-40B4-BE49-F238E27FC236}">
                <a16:creationId xmlns:a16="http://schemas.microsoft.com/office/drawing/2014/main" id="{E2706F1A-1FC5-4B56-88EA-B6FC210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debug_dmi_regs</a:t>
            </a:r>
          </a:p>
        </p:txBody>
      </p:sp>
      <p:sp>
        <p:nvSpPr>
          <p:cNvPr id="10" name="result-table-0-1">
            <a:extLst xmlns:a="http://schemas.openxmlformats.org/drawingml/2006/main">
              <a:ext uri="{FF2B5EF4-FFF2-40B4-BE49-F238E27FC236}">
                <a16:creationId xmlns:a16="http://schemas.microsoft.com/office/drawing/2014/main" id="{C661B0CA-2C7B-4807-9967-0407226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2116ns</a:t>
            </a:r>
          </a:p>
        </p:txBody>
      </p:sp>
      <p:sp>
        <p:nvSpPr>
          <p:cNvPr id="11" name="result-table-0-2">
            <a:extLst xmlns:a="http://schemas.openxmlformats.org/drawingml/2006/main">
              <a:ext uri="{FF2B5EF4-FFF2-40B4-BE49-F238E27FC236}">
                <a16:creationId xmlns:a16="http://schemas.microsoft.com/office/drawing/2014/main" id="{E90E2F0D-1698-4361-B3BB-2994BEC1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74</a:t>
            </a:r>
          </a:p>
        </p:txBody>
      </p:sp>
      <p:sp>
        <p:nvSpPr>
          <p:cNvPr id="12" name="result-table-0-3">
            <a:extLst xmlns:a="http://schemas.openxmlformats.org/drawingml/2006/main">
              <a:ext uri="{FF2B5EF4-FFF2-40B4-BE49-F238E27FC236}">
                <a16:creationId xmlns:a16="http://schemas.microsoft.com/office/drawing/2014/main" id="{6A26173B-0381-4032-95C2-3EF672F2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16 random data0, response hold 67</a:t>
            </a:r>
          </a:p>
        </p:txBody>
      </p:sp>
      <p:sp>
        <p:nvSpPr>
          <p:cNvPr id="13" name="result-table-1-0">
            <a:extLst xmlns:a="http://schemas.openxmlformats.org/drawingml/2006/main">
              <a:ext uri="{FF2B5EF4-FFF2-40B4-BE49-F238E27FC236}">
                <a16:creationId xmlns:a16="http://schemas.microsoft.com/office/drawing/2014/main" id="{E6349129-4013-4956-9461-5B43D5D5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debug_halt_ctrl</a:t>
            </a:r>
          </a:p>
        </p:txBody>
      </p:sp>
      <p:sp>
        <p:nvSpPr>
          <p:cNvPr id="14" name="result-table-1-1">
            <a:extLst xmlns:a="http://schemas.openxmlformats.org/drawingml/2006/main">
              <a:ext uri="{FF2B5EF4-FFF2-40B4-BE49-F238E27FC236}">
                <a16:creationId xmlns:a16="http://schemas.microsoft.com/office/drawing/2014/main" id="{B58DF089-72AE-49DA-AD93-30DD971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1056ns</a:t>
            </a:r>
          </a:p>
        </p:txBody>
      </p:sp>
      <p:sp>
        <p:nvSpPr>
          <p:cNvPr id="15" name="result-table-1-2">
            <a:extLst xmlns:a="http://schemas.openxmlformats.org/drawingml/2006/main">
              <a:ext uri="{FF2B5EF4-FFF2-40B4-BE49-F238E27FC236}">
                <a16:creationId xmlns:a16="http://schemas.microsoft.com/office/drawing/2014/main" id="{0F8CEAFD-111A-46D1-A65B-284C2C98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102</a:t>
            </a:r>
          </a:p>
        </p:txBody>
      </p:sp>
      <p:sp>
        <p:nvSpPr>
          <p:cNvPr id="16" name="result-table-1-3">
            <a:extLst xmlns:a="http://schemas.openxmlformats.org/drawingml/2006/main">
              <a:ext uri="{FF2B5EF4-FFF2-40B4-BE49-F238E27FC236}">
                <a16:creationId xmlns:a16="http://schemas.microsoft.com/office/drawing/2014/main" id="{14D24B2C-B645-436A-966A-FD639FF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8 random halt/resume pairs, held cycles 39</a:t>
            </a:r>
          </a:p>
        </p:txBody>
      </p:sp>
      <p:sp>
        <p:nvSpPr>
          <p:cNvPr id="17" name="result-table-2-0">
            <a:extLst xmlns:a="http://schemas.openxmlformats.org/drawingml/2006/main">
              <a:ext uri="{FF2B5EF4-FFF2-40B4-BE49-F238E27FC236}">
                <a16:creationId xmlns:a16="http://schemas.microsoft.com/office/drawing/2014/main" id="{135D48C2-78C1-4A6F-AF38-92CABAFB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debug_reg_access</a:t>
            </a:r>
          </a:p>
        </p:txBody>
      </p:sp>
      <p:sp>
        <p:nvSpPr>
          <p:cNvPr id="18" name="result-table-2-1">
            <a:extLst xmlns:a="http://schemas.openxmlformats.org/drawingml/2006/main">
              <a:ext uri="{FF2B5EF4-FFF2-40B4-BE49-F238E27FC236}">
                <a16:creationId xmlns:a16="http://schemas.microsoft.com/office/drawing/2014/main" id="{C506B91D-0E1F-46D1-B1C7-CE68E1C5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1866ns</a:t>
            </a:r>
          </a:p>
        </p:txBody>
      </p:sp>
      <p:sp>
        <p:nvSpPr>
          <p:cNvPr id="19" name="result-table-2-2">
            <a:extLst xmlns:a="http://schemas.openxmlformats.org/drawingml/2006/main">
              <a:ext uri="{FF2B5EF4-FFF2-40B4-BE49-F238E27FC236}">
                <a16:creationId xmlns:a16="http://schemas.microsoft.com/office/drawing/2014/main" id="{A2EA0F36-93EA-440B-B3D4-EC955C60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528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181</a:t>
            </a:r>
          </a:p>
        </p:txBody>
      </p:sp>
      <p:sp>
        <p:nvSpPr>
          <p:cNvPr id="20" name="result-table-2-3">
            <a:extLst xmlns:a="http://schemas.openxmlformats.org/drawingml/2006/main">
              <a:ext uri="{FF2B5EF4-FFF2-40B4-BE49-F238E27FC236}">
                <a16:creationId xmlns:a16="http://schemas.microsoft.com/office/drawing/2014/main" id="{05C1268D-6A9A-4CCF-A874-71D77E54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20 random transactions, flush phases 4</a:t>
            </a:r>
          </a:p>
        </p:txBody>
      </p:sp>
      <p:sp>
        <p:nvSpPr>
          <p:cNvPr id="21" name="result-table-3-0">
            <a:extLst xmlns:a="http://schemas.openxmlformats.org/drawingml/2006/main">
              <a:ext uri="{FF2B5EF4-FFF2-40B4-BE49-F238E27FC236}">
                <a16:creationId xmlns:a16="http://schemas.microsoft.com/office/drawing/2014/main" id="{39F3D28C-0811-4478-AD8E-ED5628F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debug_abstract_cmd</a:t>
            </a:r>
          </a:p>
        </p:txBody>
      </p:sp>
      <p:sp>
        <p:nvSpPr>
          <p:cNvPr id="22" name="result-table-3-1">
            <a:extLst xmlns:a="http://schemas.openxmlformats.org/drawingml/2006/main">
              <a:ext uri="{FF2B5EF4-FFF2-40B4-BE49-F238E27FC236}">
                <a16:creationId xmlns:a16="http://schemas.microsoft.com/office/drawing/2014/main" id="{D690BC9E-EC81-4A5A-A575-2F5BC3D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2066ns</a:t>
            </a:r>
          </a:p>
        </p:txBody>
      </p:sp>
      <p:sp>
        <p:nvSpPr>
          <p:cNvPr id="23" name="result-table-3-2">
            <a:extLst xmlns:a="http://schemas.openxmlformats.org/drawingml/2006/main">
              <a:ext uri="{FF2B5EF4-FFF2-40B4-BE49-F238E27FC236}">
                <a16:creationId xmlns:a16="http://schemas.microsoft.com/office/drawing/2014/main" id="{03CBCD23-A3B0-411D-8967-9F02919C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202</a:t>
            </a:r>
          </a:p>
        </p:txBody>
      </p:sp>
      <p:sp>
        <p:nvSpPr>
          <p:cNvPr id="24" name="result-table-3-3">
            <a:extLst xmlns:a="http://schemas.openxmlformats.org/drawingml/2006/main">
              <a:ext uri="{FF2B5EF4-FFF2-40B4-BE49-F238E27FC236}">
                <a16:creationId xmlns:a16="http://schemas.microsoft.com/office/drawing/2014/main" id="{2CC36173-3156-4800-B30F-117E7E5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20 random commands, unsupported classes 7</a:t>
            </a:r>
          </a:p>
        </p:txBody>
      </p:sp>
      <p:sp>
        <p:nvSpPr>
          <p:cNvPr id="25" name="tag-Generic lint PASS">
            <a:extLst xmlns:a="http://schemas.openxmlformats.org/drawingml/2006/main">
              <a:ext uri="{FF2B5EF4-FFF2-40B4-BE49-F238E27FC236}">
                <a16:creationId xmlns:a16="http://schemas.microsoft.com/office/drawing/2014/main" id="{7582914A-9BB7-44CA-ADF8-5CB5818E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Generic lint PASS</a:t>
            </a:r>
          </a:p>
        </p:txBody>
      </p:sp>
      <p:sp>
        <p:nvSpPr>
          <p:cNvPr id="26" name="tag-IC lint PASS">
            <a:extLst xmlns:a="http://schemas.openxmlformats.org/drawingml/2006/main">
              <a:ext uri="{FF2B5EF4-FFF2-40B4-BE49-F238E27FC236}">
                <a16:creationId xmlns:a16="http://schemas.microsoft.com/office/drawing/2014/main" id="{966B6DF2-7DB6-41B2-BE3A-DB9A3B0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IC lint PASS</a:t>
            </a:r>
          </a:p>
        </p:txBody>
      </p:sp>
      <p:sp>
        <p:nvSpPr>
          <p:cNvPr id="27" name="tag-Virtex-7 lint PASS">
            <a:extLst xmlns:a="http://schemas.openxmlformats.org/drawingml/2006/main">
              <a:ext uri="{FF2B5EF4-FFF2-40B4-BE49-F238E27FC236}">
                <a16:creationId xmlns:a16="http://schemas.microsoft.com/office/drawing/2014/main" id="{6A78D97B-C1EC-43DB-9598-A0326D7D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Virtex-7 lint PASS</a:t>
            </a:r>
          </a:p>
        </p:txBody>
      </p:sp>
      <p:sp>
        <p:nvSpPr>
          <p:cNvPr id="28" name="tag-Functional sim PASS">
            <a:extLst xmlns:a="http://schemas.openxmlformats.org/drawingml/2006/main">
              <a:ext uri="{FF2B5EF4-FFF2-40B4-BE49-F238E27FC236}">
                <a16:creationId xmlns:a16="http://schemas.microsoft.com/office/drawing/2014/main" id="{D463E12E-78A0-4CE4-9238-EBE456D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Functional sim PASS</a:t>
            </a:r>
          </a:p>
        </p:txBody>
      </p:sp>
      <p:sp>
        <p:nvSpPr>
          <p:cNvPr id="29" name="result-note">
            <a:extLst xmlns:a="http://schemas.openxmlformats.org/drawingml/2006/main">
              <a:ext uri="{FF2B5EF4-FFF2-40B4-BE49-F238E27FC236}">
                <a16:creationId xmlns:a16="http://schemas.microsoft.com/office/drawing/2014/main" id="{A011B3C6-11C7-4223-9C53-BBA47F8E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A5A5A"/>
                </a:solidFill>
              </a:defRPr>
            </a:pPr>
            <a:r>
              <a:rPr sz="1425">
                <a:solidFill>
                  <a:srgbClr val="5A5A5A"/>
                </a:solidFill>
              </a:rPr>
              <a:t>所有 testbench 使用 1ns/1ps、10ns clock。覆盖重点是功能语义与协议持稳；后续集成阶段再加入端到端 OpenOCD/GDB 与结构覆盖。</a:t>
            </a:r>
          </a:p>
        </p:txBody>
      </p:sp>
      <p:sp>
        <p:nvSpPr>
          <p:cNvPr id="30" name="footer-11">
            <a:extLst xmlns:a="http://schemas.openxmlformats.org/drawingml/2006/main">
              <a:ext uri="{FF2B5EF4-FFF2-40B4-BE49-F238E27FC236}">
                <a16:creationId xmlns:a16="http://schemas.microsoft.com/office/drawing/2014/main" id="{486FA0E5-1EA7-486A-BCF2-035E6921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3628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FA801F0-8632-4166-AC20-DCB29CFF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Debug Module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E7A316-5271-43A6-AF10-54C4685D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后续集成关注点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C4C4CFC-F8AD-48EE-8491-1CF22FC0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leaf 已验证，但完整 debug 链路还需要 JTAG DTM、core Debug Mode 和端到端调试器验证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518461B-4C78-4CF5-8FE6-30CE1B2B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ext-dm">
            <a:extLst xmlns:a="http://schemas.openxmlformats.org/drawingml/2006/main">
              <a:ext uri="{FF2B5EF4-FFF2-40B4-BE49-F238E27FC236}">
                <a16:creationId xmlns:a16="http://schemas.microsoft.com/office/drawing/2014/main" id="{B083AC07-1CFB-448C-A540-B9A0A8A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current verified leaves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dmi_regs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halt_ctrl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abstract_cmd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reg_access</a:t>
            </a:r>
          </a:p>
        </p:txBody>
      </p:sp>
      <p:sp>
        <p:nvSpPr>
          <p:cNvPr id="6" name="next-integrate">
            <a:extLst xmlns:a="http://schemas.openxmlformats.org/drawingml/2006/main">
              <a:ext uri="{FF2B5EF4-FFF2-40B4-BE49-F238E27FC236}">
                <a16:creationId xmlns:a16="http://schemas.microsoft.com/office/drawing/2014/main" id="{7C6AC1C9-731C-4FC9-AE8B-9A832B9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integration work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JTAG DTM/TAP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core debug mode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 ROM policy</a:t>
            </a:r>
          </a:p>
        </p:txBody>
      </p:sp>
      <p:sp>
        <p:nvSpPr>
          <p:cNvPr id="7" name="next-tools">
            <a:extLst xmlns:a="http://schemas.openxmlformats.org/drawingml/2006/main">
              <a:ext uri="{FF2B5EF4-FFF2-40B4-BE49-F238E27FC236}">
                <a16:creationId xmlns:a16="http://schemas.microsoft.com/office/drawing/2014/main" id="{C3115A35-89D5-4BBC-B38A-2F667D33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tool compatibility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OpenOCD probe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GDB register read/write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halt/resume session</a:t>
            </a:r>
          </a:p>
        </p:txBody>
      </p: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3000375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000375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0" name="next-bullets">
            <a:extLst xmlns:a="http://schemas.openxmlformats.org/drawingml/2006/main">
              <a:ext uri="{FF2B5EF4-FFF2-40B4-BE49-F238E27FC236}">
                <a16:creationId xmlns:a16="http://schemas.microsoft.com/office/drawing/2014/main" id="{81724849-4BEE-45F8-8B53-E5F37EF0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把 Debug Module 接入 wasp1 顶层和 interrupt/core reset 策略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补齐 core-side dcsr/dpc/debug entry/exit 语义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建立 OpenOCD/GDB smoke + directed script 回归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在集成稳定后补 structural code/toggle coverage</a:t>
            </a:r>
          </a:p>
        </p:txBody>
      </p:sp>
      <p:sp>
        <p:nvSpPr>
          <p:cNvPr id="11" name="footer-12">
            <a:extLst xmlns:a="http://schemas.openxmlformats.org/drawingml/2006/main">
              <a:ext uri="{FF2B5EF4-FFF2-40B4-BE49-F238E27FC236}">
                <a16:creationId xmlns:a16="http://schemas.microsoft.com/office/drawing/2014/main" id="{F9BA218F-4F3F-43C2-BB2C-B6F63A6E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0229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2026-06-29T10:38:58.0230000Z</dcterms:created>
  <dcterms:modified xsi:type="dcterms:W3CDTF">2026-06-29T10:38:58.0230000Z</dcterms:modified>
</coreProperties>
</file>