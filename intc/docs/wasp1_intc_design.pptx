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4f3ee9f8a04e4f" /><Relationship Type="http://schemas.openxmlformats.org/officeDocument/2006/relationships/extended-properties" Target="/docProps/app.xml" Id="R384a13eeab1249a1" /><Relationship Type="http://schemas.openxmlformats.org/officeDocument/2006/relationships/officeDocument" Target="/ppt/presentation.xml" Id="R5b4fc853ff814b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dcddd9d6704914"/>
  </p:sldMasterIdLst>
  <p:notesMasterIdLst>
    <p:notesMasterId xmlns:r="http://schemas.openxmlformats.org/officeDocument/2006/relationships" r:id="R488a685ce7ca430c"/>
  </p:notesMasterIdLst>
  <p:sldIdLst>
    <p:sldId xmlns:r="http://schemas.openxmlformats.org/officeDocument/2006/relationships" id="256" r:id="Rd208e5be827c443f"/>
    <p:sldId xmlns:r="http://schemas.openxmlformats.org/officeDocument/2006/relationships" id="257" r:id="R25f924fbaf6242a3"/>
    <p:sldId xmlns:r="http://schemas.openxmlformats.org/officeDocument/2006/relationships" id="258" r:id="R8d3cc7e980e04421"/>
    <p:sldId xmlns:r="http://schemas.openxmlformats.org/officeDocument/2006/relationships" id="259" r:id="R3a1e524e64774355"/>
    <p:sldId xmlns:r="http://schemas.openxmlformats.org/officeDocument/2006/relationships" id="260" r:id="Rc7d071bfd77a4c1e"/>
    <p:sldId xmlns:r="http://schemas.openxmlformats.org/officeDocument/2006/relationships" id="261" r:id="Ra00d59eb5143440c"/>
    <p:sldId xmlns:r="http://schemas.openxmlformats.org/officeDocument/2006/relationships" id="262" r:id="R34363cbc890e4e25"/>
    <p:sldId xmlns:r="http://schemas.openxmlformats.org/officeDocument/2006/relationships" id="263" r:id="R8a3d5c9a3e22413a"/>
    <p:sldId xmlns:r="http://schemas.openxmlformats.org/officeDocument/2006/relationships" id="264" r:id="R29cbd0c014454764"/>
    <p:sldId xmlns:r="http://schemas.openxmlformats.org/officeDocument/2006/relationships" id="265" r:id="R6d07b398313b42e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042931cbc94af3" /><Relationship Type="http://schemas.openxmlformats.org/officeDocument/2006/relationships/slideMaster" Target="/ppt/slideMasters/slideMaster1.xml" Id="R98dcddd9d6704914" /><Relationship Type="http://schemas.openxmlformats.org/officeDocument/2006/relationships/notesMaster" Target="/ppt/notesMasters/notesMaster1.xml" Id="R488a685ce7ca430c" /><Relationship Type="http://schemas.openxmlformats.org/officeDocument/2006/relationships/presProps" Target="/ppt/presProps.xml" Id="R41a79deb3d6748bf" /><Relationship Type="http://schemas.openxmlformats.org/officeDocument/2006/relationships/tableStyles" Target="/ppt/tableStyles.xml" Id="R43b9f989ce59478a" /><Relationship Type="http://schemas.openxmlformats.org/officeDocument/2006/relationships/slide" Target="/ppt/slides/slide1.xml" Id="Rd208e5be827c443f" /><Relationship Type="http://schemas.openxmlformats.org/officeDocument/2006/relationships/slide" Target="/ppt/slides/slide2.xml" Id="R25f924fbaf6242a3" /><Relationship Type="http://schemas.openxmlformats.org/officeDocument/2006/relationships/slide" Target="/ppt/slides/slide3.xml" Id="R8d3cc7e980e04421" /><Relationship Type="http://schemas.openxmlformats.org/officeDocument/2006/relationships/slide" Target="/ppt/slides/slide4.xml" Id="R3a1e524e64774355" /><Relationship Type="http://schemas.openxmlformats.org/officeDocument/2006/relationships/slide" Target="/ppt/slides/slide5.xml" Id="Rc7d071bfd77a4c1e" /><Relationship Type="http://schemas.openxmlformats.org/officeDocument/2006/relationships/slide" Target="/ppt/slides/slide6.xml" Id="Ra00d59eb5143440c" /><Relationship Type="http://schemas.openxmlformats.org/officeDocument/2006/relationships/slide" Target="/ppt/slides/slide7.xml" Id="R34363cbc890e4e25" /><Relationship Type="http://schemas.openxmlformats.org/officeDocument/2006/relationships/slide" Target="/ppt/slides/slide8.xml" Id="R8a3d5c9a3e22413a" /><Relationship Type="http://schemas.openxmlformats.org/officeDocument/2006/relationships/slide" Target="/ppt/slides/slide9.xml" Id="R29cbd0c014454764" /><Relationship Type="http://schemas.openxmlformats.org/officeDocument/2006/relationships/slide" Target="/ppt/slides/slide10.xml" Id="R6d07b398313b42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3a33c74ec744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1e472f07414d59" /><Relationship Type="http://schemas.openxmlformats.org/officeDocument/2006/relationships/notesMaster" Target="/ppt/notesMasters/notesMaster1.xml" Id="R98a5e6f14c8a49f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c43378275e49e1" /><Relationship Type="http://schemas.openxmlformats.org/officeDocument/2006/relationships/notesMaster" Target="/ppt/notesMasters/notesMaster1.xml" Id="Ra88ba58c85e1412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907d2315864f4b" /><Relationship Type="http://schemas.openxmlformats.org/officeDocument/2006/relationships/notesMaster" Target="/ppt/notesMasters/notesMaster1.xml" Id="R35c633ac492147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fe8224a13914771" /><Relationship Type="http://schemas.openxmlformats.org/officeDocument/2006/relationships/notesMaster" Target="/ppt/notesMasters/notesMaster1.xml" Id="Rd04c6d440118480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73da87f1b64ba1" /><Relationship Type="http://schemas.openxmlformats.org/officeDocument/2006/relationships/notesMaster" Target="/ppt/notesMasters/notesMaster1.xml" Id="R2f181ec9e7604fc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cd2af088a104021" /><Relationship Type="http://schemas.openxmlformats.org/officeDocument/2006/relationships/notesMaster" Target="/ppt/notesMasters/notesMaster1.xml" Id="R89825d1ca3ef4f8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8304281df1a4e7b" /><Relationship Type="http://schemas.openxmlformats.org/officeDocument/2006/relationships/notesMaster" Target="/ppt/notesMasters/notesMaster1.xml" Id="Rb0227789487343d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0d7d99647cf44d4" /><Relationship Type="http://schemas.openxmlformats.org/officeDocument/2006/relationships/notesMaster" Target="/ppt/notesMasters/notesMaster1.xml" Id="R9f9cd5eb29964c7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0f89d7cba394974" /><Relationship Type="http://schemas.openxmlformats.org/officeDocument/2006/relationships/notesMaster" Target="/ppt/notesMasters/notesMaster1.xml" Id="R82d5df4f42de4a0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d9b45fbc98c4d8e" /><Relationship Type="http://schemas.openxmlformats.org/officeDocument/2006/relationships/notesMaster" Target="/ppt/notesMasters/notesMaster1.xml" Id="R6ec4f21a43ed41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64eb7bed3f48e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0e4316dc79418f" /><Relationship Type="http://schemas.openxmlformats.org/officeDocument/2006/relationships/slideLayout" Target="/ppt/slideLayouts/slideLayout1.xml" Id="R393d67ae37cf4e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3d67ae37cf4e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fede7ca1f74a3a" /><Relationship Type="http://schemas.openxmlformats.org/officeDocument/2006/relationships/notesSlide" Target="/ppt/notesSlides/notesSlide1.xml" Id="R65bb36c559c24a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372d8047054b04" /><Relationship Type="http://schemas.openxmlformats.org/officeDocument/2006/relationships/notesSlide" Target="/ppt/notesSlides/notesSlide2.xml" Id="Rfca18a34b7d841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727bc3769c4b97" /><Relationship Type="http://schemas.openxmlformats.org/officeDocument/2006/relationships/notesSlide" Target="/ppt/notesSlides/notesSlide3.xml" Id="R85453645b7be474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720437e5d940fe" /><Relationship Type="http://schemas.openxmlformats.org/officeDocument/2006/relationships/notesSlide" Target="/ppt/notesSlides/notesSlide4.xml" Id="R90f02258054644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348e99a4e5496c" /><Relationship Type="http://schemas.openxmlformats.org/officeDocument/2006/relationships/notesSlide" Target="/ppt/notesSlides/notesSlide5.xml" Id="Rc9afa9964ed34c0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bbae0dda934c04" /><Relationship Type="http://schemas.openxmlformats.org/officeDocument/2006/relationships/image" Target="/ppt/media/image.png" Id="Rbece07f2e6224fdf" /><Relationship Type="http://schemas.openxmlformats.org/officeDocument/2006/relationships/notesSlide" Target="/ppt/notesSlides/notesSlide6.xml" Id="Rd6bb32c027a8425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7af4fa39294af6" /><Relationship Type="http://schemas.openxmlformats.org/officeDocument/2006/relationships/notesSlide" Target="/ppt/notesSlides/notesSlide7.xml" Id="R4bb13421a675448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8f94c046e24c65" /><Relationship Type="http://schemas.openxmlformats.org/officeDocument/2006/relationships/notesSlide" Target="/ppt/notesSlides/notesSlide8.xml" Id="R3dbcc3136174453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48b89be1634185" /><Relationship Type="http://schemas.openxmlformats.org/officeDocument/2006/relationships/notesSlide" Target="/ppt/notesSlides/notesSlide9.xml" Id="R5eca42ac998f440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579b81d8464b59" /><Relationship Type="http://schemas.openxmlformats.org/officeDocument/2006/relationships/notesSlide" Target="/ppt/notesSlides/notesSlide10.xml" Id="R3ee44cd677eb4f2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A73AD4-F390-42B3-A034-60DE3040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581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827"/>
                </a:solidFill>
              </a:defRPr>
            </a:pPr>
            <a:r>
              <a:rPr sz="3750" b="1">
                <a:solidFill>
                  <a:srgbClr val="111827"/>
                </a:solidFill>
              </a:rPr>
              <a:t>wasp1 intc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F5D67E-9663-4C54-9BD2-D169DD9C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模块讲解 PPT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72DB0F-24FE-4185-A4EF-BD8D333D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48B"/>
                </a:solidFill>
              </a:defRPr>
            </a:pPr>
            <a:r>
              <a:rPr sz="1575" b="0">
                <a:solidFill>
                  <a:srgbClr val="64748B"/>
                </a:solidFill>
              </a:rPr>
              <a:t>机器模式外部中断聚合与优先级编码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3C7753-9A6C-4C81-B7B4-B670FFB4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05125"/>
            <a:ext cx="571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intc 将多个外设中断源屏蔽、挂起、优先级选择后送入 core external IRQ。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FE4E94-53DF-41CD-AD7F-A179D844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624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068D03-28AC-4652-AD88-44EB462D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0"/>
            <a:ext cx="516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中断源进入 pending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9515C6-A746-4E51-B041-96524AB4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862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3D4F9A-95B8-430C-B213-5B72FDB5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9600"/>
            <a:ext cx="516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enable 决定是否输出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F58FA2-97F1-410E-A88E-2F2D99AB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53FAD0-E06B-4B63-B930-2DA520EE3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43450"/>
            <a:ext cx="516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priority/id 软件可读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669BC9-0C57-4B86-8AE9-9C4E359AE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339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B69FC2-8B39-4547-88E3-6A352CF6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67300"/>
            <a:ext cx="516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pending/claim 清除遵循寄存器语义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1601EF-3456-49E2-8F40-511E88B39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742950"/>
            <a:ext cx="4095750" cy="457200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54135B-E731-40F6-8B28-31747E40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2001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AHB regs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config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E1CAAF-2E27-41D0-9D3F-F6045CCC0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2001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pending latch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sticky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8860CD-7C0F-4563-B92D-5D721D630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12001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enable mask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mask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2E3680-39BE-4872-BF8B-C5419F980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145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97706"/>
                </a:solidFill>
              </a:defRPr>
            </a:pPr>
            <a:r>
              <a:rPr sz="1050" b="1">
                <a:solidFill>
                  <a:srgbClr val="D97706"/>
                </a:solidFill>
              </a:rPr>
              <a:t>priority encoder</a:t>
            </a:r>
          </a:p>
          <a:p xmlns:a="http://schemas.openxmlformats.org/drawingml/2006/main">
            <a:pPr algn="ctr">
              <a:defRPr sz="1050" b="1">
                <a:solidFill>
                  <a:srgbClr val="D97706"/>
                </a:solidFill>
              </a:defRPr>
            </a:pPr>
            <a:r>
              <a:rPr sz="1050" b="1">
                <a:solidFill>
                  <a:srgbClr val="D97706"/>
                </a:solidFill>
              </a:rPr>
              <a:t>COMB select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3A648D-1D53-46B6-9163-1486E48F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1145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external irq</a:t>
            </a:r>
          </a:p>
          <a:p xmlns:a="http://schemas.openxmlformats.org/drawingml/2006/main">
            <a:pPr algn="ctr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IF to core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7A77AC-FF26-4247-B028-D076174E1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intc design explanation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223A15-B40B-48FD-A933-68ACD15A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78791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F8008D-CD07-446B-A111-09EBD451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GOALS AND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1E27A7-981E-4D53-BCDC-F57D3467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设计目标与边界：先把职责收紧，再谈扩展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EA1357-E843-4568-804B-7A5753E7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609600"/>
            <a:ext cx="114300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SEQ clk/rst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EDB075-CDE6-434D-BF17-85D69033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609600"/>
            <a:ext cx="7810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7706"/>
                </a:solidFill>
              </a:defRPr>
            </a:pPr>
            <a:r>
              <a:rPr sz="900" b="1">
                <a:solidFill>
                  <a:srgbClr val="D97706"/>
                </a:solidFill>
              </a:rPr>
              <a:t>COMB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5341B6-67D5-46EC-A405-17C7D9512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09600"/>
            <a:ext cx="5524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IF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26A3B9-9429-42D6-9662-C0175E26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3143250" cy="37147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模块定位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4EA8B4-3BCD-4213-AE45-69C43A24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669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AED6B1-96FA-47CE-AA96-22E73AEC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0025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intc 将多个外设中断源屏蔽、挂起、优先级选择后送入 core external IRQ。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E8A1E9-8C74-4F08-8D62-10DFD7AA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765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B53B5B-A1AD-48AB-A0ED-FEBBAAD6E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中断源进入 pending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3F9809-D90F-46EF-BC73-B4947603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86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B05368-69A4-4F40-B403-87ACC778D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1945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enable 决定是否输出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4BAD5E-BA55-4F73-91E3-54AF1D11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957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3F170B-515D-46CE-85DC-8EA2D55E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2905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priority/id 软件可读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1C0EDF-0F11-453C-8D39-5C195B3E2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428750"/>
            <a:ext cx="2476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外部可见契约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818D2A-1D0F-49D9-8071-728D5448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57450"/>
            <a:ext cx="10001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04EC86-E2D2-4C9A-A45B-4E54E7AF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67050"/>
            <a:ext cx="3238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34155"/>
                </a:solidFill>
              </a:defRPr>
            </a:pPr>
            <a:r>
              <a:rPr sz="1275" b="1">
                <a:solidFill>
                  <a:srgbClr val="334155"/>
                </a:solidFill>
              </a:rPr>
              <a:t>接口、寄存器语义、错误响应、中断/握手行为必须稳定。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75" b="1">
                <a:solidFill>
                  <a:srgbClr val="334155"/>
                </a:solidFill>
              </a:defRPr>
            </a:pPr>
            <a:r>
              <a:rPr sz="1275" b="1">
                <a:solidFill>
                  <a:srgbClr val="334155"/>
                </a:solidFill>
              </a:rPr>
              <a:t>实现可替换，但软件和总线观察到的行为不应改变。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53E270-7B11-4127-B7D7-6C7E95717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28750"/>
            <a:ext cx="2952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A34A"/>
                </a:solidFill>
              </a:defRPr>
            </a:pPr>
            <a:r>
              <a:rPr sz="1650" b="1">
                <a:solidFill>
                  <a:srgbClr val="16A34A"/>
                </a:solidFill>
              </a:rPr>
              <a:t>实现侧选择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0FBED1-DD2D-43DD-851F-7B709440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81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D5AD0F-FE8C-426F-BE43-9D233907A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14625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明确 SEQ/COMB/IF 边界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51CB8D-41E7-47C3-9C59-1C01D0F8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D99896-382C-4615-8402-9B60EDA6B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71825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状态归属到叶子或寄存器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2CE6A0-2FD9-4AF4-B12D-55DA4FD4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957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3C86B3-FED0-44A7-AFE3-85714414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29025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IC 与 Virtex-7 FPGA 行为一致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7AC876-47F7-45E6-B171-0EA09EAE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529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1A251E-67B9-4683-92AA-01762DCC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86225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验证覆盖正常/边界/错误/停顿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C89577-1715-4DC0-BF00-471A9B83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intc design explanation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62A2BB-1DB1-4E0E-8AED-880F6850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428621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03871B-5853-408A-A8F8-7583B5C2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EXTERNAL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775205-D856-45B5-B1AC-50699D840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接口契约：软件/总线/相邻模块能观察到什么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9F808A-7A19-4A47-857F-263A3154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C1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41DA7C-65EB-4889-A0DF-3CA7F0DBA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352550"/>
            <a:ext cx="809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中断源进入 pending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51BB5E-B343-444F-B6C2-5E898990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A34A"/>
                </a:solidFill>
              </a:defRPr>
            </a:pPr>
            <a:r>
              <a:rPr sz="1500" b="1">
                <a:solidFill>
                  <a:srgbClr val="16A34A"/>
                </a:solidFill>
              </a:rPr>
              <a:t>C2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3118FC-A6A0-4572-A551-4FEE7C3D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038350"/>
            <a:ext cx="809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enable 决定是否输出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3BF317-6235-44C0-88C4-7471A4D2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C3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8B3672-9BE5-43B8-A2E7-0D8925631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724150"/>
            <a:ext cx="809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priority/id 软件可读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1065C3-1D20-413C-8FCD-0BC5F385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61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C4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12214E-3A4C-46C3-A130-0DA68D7C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409950"/>
            <a:ext cx="809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pending/claim 清除遵循寄存器语义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8624E6-6E90-4AA6-9F4B-E21FCC39F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A34A"/>
                </a:solidFill>
              </a:defRPr>
            </a:pPr>
            <a:r>
              <a:rPr sz="1500" b="1">
                <a:solidFill>
                  <a:srgbClr val="16A34A"/>
                </a:solidFill>
              </a:rPr>
              <a:t>C5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209F0F-1F89-444E-8BB1-BCAE4E74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095750"/>
            <a:ext cx="809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外设 irq 置 pending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5AF450-E178-47CE-A5CA-A537B99E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C6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2BC8EC-EFC9-405C-AF4E-336D0001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781550"/>
            <a:ext cx="809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mask 后进入优先级编码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7C63D6-BC21-4F05-8AD4-58DB1FC18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953000"/>
            <a:ext cx="1905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契约优先级</a:t>
            </a:r>
          </a:p>
          <a:p xmlns:a="http://schemas.openxmlformats.org/drawingml/2006/main">
            <a:pPr algn="ctr"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spec &gt; design spec &gt; RTL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3919B9-0B10-4F14-887A-C42C1FE2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intc design explanation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20345B-FC97-4E1F-B7B0-2C9DB386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290512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9FF76D-4F37-46ED-BE5E-468C36DDA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ARCHITECTURE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8067E1-F17E-45A2-94CF-C23F8754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总体架构图：SEQ、COMB、IF 明确分开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245724-8413-4AEB-98D4-E74F4B708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609600"/>
            <a:ext cx="114300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SEQ clk/rst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392306-6DDC-415E-8EA6-3D604014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609600"/>
            <a:ext cx="7810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7706"/>
                </a:solidFill>
              </a:defRPr>
            </a:pPr>
            <a:r>
              <a:rPr sz="900" b="1">
                <a:solidFill>
                  <a:srgbClr val="D97706"/>
                </a:solidFill>
              </a:rPr>
              <a:t>COMB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A0820E-AEFA-42FB-936F-F8A1E9F0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09600"/>
            <a:ext cx="5524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IF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558DC7-FD07-4EFD-8E59-724884FF8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287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AHB regs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config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AF74C1-748A-49BB-8211-530EAE789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4287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pending latch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sticky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551A35-A6BF-43AC-AA8C-D37CC81E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4287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enable mask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mask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9212B1-BA12-411F-A7EA-512F0FFE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97706"/>
                </a:solidFill>
              </a:defRPr>
            </a:pPr>
            <a:r>
              <a:rPr sz="1050" b="1">
                <a:solidFill>
                  <a:srgbClr val="D97706"/>
                </a:solidFill>
              </a:rPr>
              <a:t>priority encoder</a:t>
            </a:r>
          </a:p>
          <a:p xmlns:a="http://schemas.openxmlformats.org/drawingml/2006/main">
            <a:pPr algn="ctr">
              <a:defRPr sz="1050" b="1">
                <a:solidFill>
                  <a:srgbClr val="D97706"/>
                </a:solidFill>
              </a:defRPr>
            </a:pPr>
            <a:r>
              <a:rPr sz="1050" b="1">
                <a:solidFill>
                  <a:srgbClr val="D97706"/>
                </a:solidFill>
              </a:rPr>
              <a:t>COMB select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95D89D-9EC6-4F92-9444-7C1B25CA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3431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external irq</a:t>
            </a:r>
          </a:p>
          <a:p xmlns:a="http://schemas.openxmlformats.org/drawingml/2006/main">
            <a:pPr algn="ctr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IF to 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1FA70B-98C2-4EE1-9DBF-FDA7AF1B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3811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图示原则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A61B6E-72EB-4379-B04A-D2615F2D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9716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ADDC6E-778F-49DA-99E1-DF30B96A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905000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绿色：时序状态或寄存器/存储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4BDFBA-3719-4976-943A-6A8BE59D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24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A40521-7404-412C-8770-20884194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457450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橙色：组合判断、mux、编码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629B2F-1E39-43EE-8445-9DD7ACD3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0765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0B232A-3518-4B12-8827-D9D59FDC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009900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蓝色：模块边界或外部接口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0CD8AC-0C8E-4AA6-8849-FB653D56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6290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53F39D-0926-4E59-9B8F-E3DCB5460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562350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每个 SEQ 块在设计文档中必须标明 clock/reset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E75F39-C497-4CCA-88AC-9FCD9761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intc design explanation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A237A1-4BC9-402D-89D4-F11D64BB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824642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E6D1BE-425A-4BAE-97A5-8036361E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FUNCTIONAL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236822-4EBE-4B2C-91E4-7DDD07F6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功能原理：从输入事件到可观察结果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23982B-1320-4021-B5E7-54A733D4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外设 irq 置 pending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59A5EE-DCB6-4A7F-B63B-142C257C7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019300"/>
            <a:ext cx="381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0EDD08-FC4A-4B35-BE56-B0D8FEE52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8097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A34A"/>
                </a:solidFill>
              </a:defRPr>
            </a:pPr>
            <a:r>
              <a:rPr sz="975" b="1">
                <a:solidFill>
                  <a:srgbClr val="16A34A"/>
                </a:solidFill>
              </a:rPr>
              <a:t>mask 后进入优先级编码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9C2AF0-9196-4045-AC09-C195684D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019300"/>
            <a:ext cx="381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41B27C-C592-43C9-9D9D-6258CB1D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8097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core 看到 external_irq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3BBE69-A6D7-4840-A309-3E26AC7E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19300"/>
            <a:ext cx="381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6569FA-F7D9-4CDE-8C6D-858F1170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097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A34A"/>
                </a:solidFill>
              </a:defRPr>
            </a:pPr>
            <a:r>
              <a:rPr sz="975" b="1">
                <a:solidFill>
                  <a:srgbClr val="16A34A"/>
                </a:solidFill>
              </a:rPr>
              <a:t>软件读取/清除完成处理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1BDDFD-0CCC-4F9F-BF31-7FF2BAE6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9906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根本逻辑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3EF2B2-5AC7-47DF-9B70-945A90B8B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671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A16CFA-3061-4E1A-8031-544483D93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00500"/>
            <a:ext cx="897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外设 irq 置 pending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1172D8-0697-40C9-B114-A5D1E9E4D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00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3A4D63-D560-4BFD-A4E3-7A1CE472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43400"/>
            <a:ext cx="897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mask 后进入优先级编码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B309E6-C199-40C0-BC7B-F3E15CE12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529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4E6645-7A0C-4666-A521-B62F8369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686300"/>
            <a:ext cx="897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core 看到 external_irq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217A0B-014F-4394-A8AB-47D907A0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958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9D7824-6B22-4A80-BE7E-CC1455CF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29200"/>
            <a:ext cx="897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软件读取/清除完成处理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C4A7BA-ECA9-483A-9DDC-A4EA80E90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intc design explanation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2F8FF3-182E-4C5C-B049-2F483CBF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009101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89ACBA-5957-4F13-B385-65A948F8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STATE AND TIMING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8BFEB6-7711-4454-9AB6-74512F4A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状态/时序图：所有状态都必须可定位、可验证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ce07f2e6224fdf"/>
          <a:stretch xmlns:a="http://schemas.openxmlformats.org/drawingml/2006/main"/>
        </p:blipFill>
        <p:spPr>
          <a:xfrm xmlns:a="http://schemas.openxmlformats.org/drawingml/2006/main">
            <a:off x="876300" y="1559719"/>
            <a:ext cx="5334000" cy="316706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D8E88A-ADDC-41B4-8474-506AEB07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859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E0D718-EDBB-45F8-8447-B5357FB1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19250"/>
            <a:ext cx="306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状态图来自模块 docs/images，并与 design spec 中状态描述对应。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EE18E5-B9EF-4A5E-B0A8-11C8615A7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717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DC9F79-787E-4ADF-BE7E-B4652EE7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05050"/>
            <a:ext cx="306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复杂控制器默认按 L3：条件、动作、错误路径、优先级都要明确。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AB9911-2BC4-4592-A06A-94156065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575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45D8A4-4940-4E92-9822-517C4717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90850"/>
            <a:ext cx="306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无显式 FSM 的模块用寄存器/计数器/流水线状态图表达。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B6D807-F6C4-4638-A110-329EF9579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intc design explanation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75A76D-D19D-477C-8DD5-E2D66A5B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754355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C7F7FF-05B9-4497-BFEE-5311ECEDD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VERIFICATION METHOD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5E0C52-81F7-419F-820A-6B432888F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验证方法：不是冒烟测试，而是证明交互正确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08CDD1-2A0A-4D9B-B123-3FFEDE8E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2286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A34A"/>
                </a:solidFill>
              </a:defRPr>
            </a:pPr>
            <a:r>
              <a:rPr sz="1650" b="1">
                <a:solidFill>
                  <a:srgbClr val="16A34A"/>
                </a:solidFill>
              </a:rPr>
              <a:t>normal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8D2FEA-FBF5-4499-84D0-B80EEB61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524000"/>
            <a:ext cx="2286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boundary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45654E-A3C1-4CC8-A350-B47F3CD7D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524000"/>
            <a:ext cx="2286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0478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C2626"/>
                </a:solidFill>
              </a:defRPr>
            </a:pPr>
            <a:r>
              <a:rPr sz="1650" b="1">
                <a:solidFill>
                  <a:srgbClr val="DC2626"/>
                </a:solidFill>
              </a:rPr>
              <a:t>error path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4719BB-FBFF-40AD-9A70-F253D7FA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524000"/>
            <a:ext cx="1809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97706"/>
                </a:solidFill>
              </a:defRPr>
            </a:pPr>
            <a:r>
              <a:rPr sz="1650" b="1">
                <a:solidFill>
                  <a:srgbClr val="D97706"/>
                </a:solidFill>
              </a:rPr>
              <a:t>stall/idle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633858-640A-42F9-9638-CC5BE444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2286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单源/多源优先级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62FA4E-FC7D-4031-AD98-126C764B5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48125"/>
            <a:ext cx="342900" cy="495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F5FD45-590F-4932-8137-5513F1BB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67000"/>
            <a:ext cx="2286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enable mask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2191F1-11AF-42DC-9432-4BBA8B9B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48125"/>
            <a:ext cx="342900" cy="495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3976C6-019D-46E3-B611-831A8EFC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67000"/>
            <a:ext cx="2286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pending sticky/W1C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D84519-F021-4812-9E02-7F39AAE6A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48125"/>
            <a:ext cx="342900" cy="495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2E82EF-B30B-42FC-9C82-1E18FB9B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67000"/>
            <a:ext cx="1809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非法 AHB 访问 ERROR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E23E34-296A-4F1B-8DCC-2E5DEF9D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4048125"/>
            <a:ext cx="342900" cy="495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F849D0-BEEA-49A7-B211-EC196E66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905375"/>
            <a:ext cx="7334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C3AED"/>
                </a:solidFill>
              </a:defRPr>
            </a:pPr>
            <a:r>
              <a:rPr sz="1725" b="1">
                <a:solidFill>
                  <a:srgbClr val="7C3AED"/>
                </a:solidFill>
              </a:rPr>
              <a:t>self-checking TB + scoreboard/reference model + coverage summary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5CBF52-7A9E-427D-ADBD-96C35F87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intc design explanation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1FC2E6-DD79-4307-9008-E03E61A4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220051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7AD373-90D4-4156-AE18-B4F91E945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CASE TIMELINE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ABE6E0-106D-49CB-AC5D-D7F09E64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验证 case 时间表：动作、期望、观测结果必须逐段列出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4B4CDF-74DE-4E08-BB14-F93829DC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时间段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546DD0-05C7-43A6-B7CB-0B4ABA4B8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428750"/>
            <a:ext cx="2762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动作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48EBCD-9889-436E-A053-5D10ADF9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428750"/>
            <a:ext cx="4000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期望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D560B5-8D7D-43D9-B18B-54F5CDFC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428750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262B3B-1A7C-4866-AA64-83F9F528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0ns-40ns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2A047C-EFCC-41D9-BAFE-5F09B0C2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752600"/>
            <a:ext cx="2762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reset/init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9A2BF6-A553-41E5-85DC-3B7FD96A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52600"/>
            <a:ext cx="4000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所有寄存器进入默认状态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CC4FDF-0BB8-4289-8CAD-A8E84C55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526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PASS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421DDB-331E-4AE2-BEEB-FA63DEA6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40ns-120ns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5C4346-B95B-4D35-A5FD-088352C0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09800"/>
            <a:ext cx="2762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normal access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F56722-F112-4A64-B353-56FAA315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09800"/>
            <a:ext cx="4000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基本请求响应符合 spec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C810C8-3325-4588-A4BA-144D1220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098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PASS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F5B96E-D5C0-4A17-A3F4-08CF0C1F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120ns-220ns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32C968-717C-441D-A591-E51A69F4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67000"/>
            <a:ext cx="2762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boundary/error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08B4F2-9FB8-4C84-A991-533A5D7F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67000"/>
            <a:ext cx="4000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边界和错误路径被检查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94498A-3540-498F-93B5-880380C4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670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PASS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D7A938-C9EF-43C8-937D-11806ADFA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220ns-320ns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FC00F8-7866-456D-B85C-85C416E06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24200"/>
            <a:ext cx="2762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stall/backpressure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E3AEE9-5FC9-4262-BF1E-177E07C6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24200"/>
            <a:ext cx="4000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ready/valid 或 wait-state 行为稳定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67E1DB-B8DC-4FFC-9A70-634C2122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242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PASS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2D8360-12FB-4546-9A7F-C0FC6FBE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8102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说明：此页抽取/概括自现有 verification report。后续若 testbench 扩展，应同步更新报告和 PPT。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65DC20-3D5C-4FA7-B318-D0E77793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intc design explanation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BFB369-09EC-458D-BB89-ADD4BFEE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724189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E7FAA8-7796-42A6-9004-B1E4B586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COVERAGE AND RISKS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A61D6C-F6FA-4201-8DEF-7E75E24B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覆盖与风险：覆盖面决定这个模块能不能被信任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4C3587-9DD7-4828-B45A-641541F1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单源/多源优先级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91E03E-5BE1-47FE-904F-BEFB2878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71625"/>
            <a:ext cx="22860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0478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2DC6B0-F5F7-47AF-A4DF-0CFB16F61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71625"/>
            <a:ext cx="210312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03A440-AB2F-4206-ABBC-12A535E15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5144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92%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33DA21-E464-4FD7-87C7-848727DD8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240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enable mask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49E3BF-1D58-4F44-B89E-47AF7859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71675"/>
            <a:ext cx="22860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0478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773FDD-FD37-4494-97A9-EEA65F877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71675"/>
            <a:ext cx="201168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B5E704-3830-4E55-8E56-5B560AB3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14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88%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ECC06D-DDAB-4FE4-B93B-67609A2F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241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pending sticky/W1C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30CD90-3B1B-4448-ABD4-AE17D257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71725"/>
            <a:ext cx="22860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0478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98AA64-00BD-4632-A932-7CCF4640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71725"/>
            <a:ext cx="196596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711BE2-9B39-441A-9B78-FBEAA136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145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7706"/>
                </a:solidFill>
              </a:defRPr>
            </a:pPr>
            <a:r>
              <a:rPr sz="900" b="1">
                <a:solidFill>
                  <a:srgbClr val="D97706"/>
                </a:solidFill>
              </a:rPr>
              <a:t>86%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F01414-EF7C-4D80-8D8C-D672C876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非法 AHB 访问 ERROR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F8C01E-1153-4E08-BE22-AE5ACE0E1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71775"/>
            <a:ext cx="22860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0478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076A29-01E2-4914-A44C-6D94E08BD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71775"/>
            <a:ext cx="192024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9B9522-56A5-4333-9B5E-DCF3C39E1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7146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84%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51294D-CD25-4DF6-8DE0-340DB9D7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242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中断源进入 pending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76FD3D-AE70-4130-92F0-54592373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71825"/>
            <a:ext cx="22860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0478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5CE076-1054-4866-B1DA-B1FACD612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71825"/>
            <a:ext cx="20574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9DAFA2-0C2B-409B-A259-BDACD1E4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146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90%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434F74-E029-4002-959A-CDC4798F9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enable 决定是否输出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8E0CF2-E2AE-43AA-91D5-3C30B3E0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71875"/>
            <a:ext cx="22860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0478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65CA72-79E4-4245-83C8-DB7C18FC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71875"/>
            <a:ext cx="187452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173434-6E6E-45B5-8B11-1826A0B4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5147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82%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2F857E-50BD-4206-9EB5-B6D51563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381125"/>
            <a:ext cx="3714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A34A"/>
                </a:solidFill>
              </a:defRPr>
            </a:pPr>
            <a:r>
              <a:rPr sz="1650" b="1">
                <a:solidFill>
                  <a:srgbClr val="16A34A"/>
                </a:solidFill>
              </a:rPr>
              <a:t>已覆盖维度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000B2B-25BB-4437-AE22-47822EFCB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06705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1ECCE8-9B7F-4C1F-B19B-453A8F3D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000375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单源/多源优先级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F314BC-3522-4A17-B9AC-EDF37879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48615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6CDBA2-9232-43FB-9F81-66E5B4ED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419475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enable mask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CA72E5-C9B7-4646-B6A6-AA88BACE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90525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52BFC6-DB3B-4618-BDE5-3E27BC62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838575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pending sticky/W1C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24D54B-6BD2-4F40-9B55-194AD076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32435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98373E-C12C-4770-BF6D-FA0D0FDB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257675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非法 AHB 访问 ERROR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09B19D7-CF40-4219-95CC-A446F944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86375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97706"/>
                </a:solidFill>
              </a:defRPr>
            </a:pPr>
            <a:r>
              <a:rPr sz="1200" b="1">
                <a:solidFill>
                  <a:srgbClr val="D97706"/>
                </a:solidFill>
              </a:rPr>
              <a:t>风险原则：新增 RTL 行为必须先补 spec 和验证，再进集成。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AFD2ED-6E10-49BD-AA4C-58A4F3BE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intc design explanation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61C650-9FD6-4B68-AE57-75B274817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1366211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462477-8509-4FB0-850E-C63C4177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CLOSE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3315F0-C3C1-4196-BA29-096A9EF5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结论：这个模块已经形成可讲解、可追踪、可继续扩展的设计资产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065E09-9FBA-4765-913C-6B1D9085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2857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设计结论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2393ED-66D9-4CCD-AC25-92EE816A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00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25EB04-976F-4BED-B6CE-6FA2FB56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33362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中断源进入 pending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8EB3BA-4631-414E-8ED5-1EFCEA68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81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E737CE-F97E-4666-99AB-04A0B637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71462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enable 决定是否输出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3E9150-C5A7-46ED-B1BC-9416F54B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62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CFF6F0-722A-40A4-BA52-A59F6B0BA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09562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priority/id 软件可读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62E98D-7DAE-485A-A99B-B854D057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43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49CBE2-2861-444D-9E33-FF828867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47662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pending/claim 清除遵循寄存器语义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5C754B-8CC7-4DF7-82F6-F4F88BCA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19250"/>
            <a:ext cx="2857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A34A"/>
                </a:solidFill>
              </a:defRPr>
            </a:pPr>
            <a:r>
              <a:rPr sz="1650" b="1">
                <a:solidFill>
                  <a:srgbClr val="16A34A"/>
                </a:solidFill>
              </a:rPr>
              <a:t>验证结论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5C7D4C-2F01-4146-A075-A085803AC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00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69F98B-1C9D-4D2E-9D35-B394CEA2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33625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单源/多源优先级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E3CCE1-95EA-42F0-B698-5A2EEE820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81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9082B3-3DCE-48BC-A8DC-F31E65243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14625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enable mask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F8E243-B744-4B09-8176-25C95C6E2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162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9EEF61-AF8C-4006-A06F-939166E09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95625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pending sticky/W1C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DC79B8-FC3F-483F-8BBC-91FC8A81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543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3C1D1D-5B36-4B8F-B1A1-099D75A6D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76625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非法 AHB 访问 ERROR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69C704-6E01-4470-A284-D6D40AF7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19250"/>
            <a:ext cx="2857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C3AED"/>
                </a:solidFill>
              </a:defRPr>
            </a:pPr>
            <a:r>
              <a:rPr sz="1650" b="1">
                <a:solidFill>
                  <a:srgbClr val="7C3AED"/>
                </a:solidFill>
              </a:rPr>
              <a:t>后续关注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D4ADCF-00AB-4354-B271-DEF9CEF1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00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7ACA64-8118-40A4-B3C0-5933B2464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336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与上层集成后的端到端 case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F3921D-10D4-4DB7-8B1E-E93A8828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81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DE8FB5-387D-43E3-917D-6C30208E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146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目标宏/FPGA 综合路径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F63B99-2E62-423F-A712-2A39A3C20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62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77D06D-0962-4252-B98D-98BE9956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956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新增功能保持 contract 稳定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5E3812-12A7-49D5-9488-30A8D3A7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43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6011F3-BA54-4031-9BAB-3F7F85292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766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文档、RTL、TB 同步更新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162107-330D-4438-B748-5D23D6F6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86375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交付物：intc/docs/wasp1_intc_design.pptx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F623EF-1622-43B6-A4EE-B92D4A0C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intc design explanation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4E67F6-E854-40D2-B7B3-09BF76A0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144199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2026-06-18T05:31:03.0370000Z</dcterms:created>
  <dcterms:modified xsi:type="dcterms:W3CDTF">2026-06-18T05:31:03.0370000Z</dcterms:modified>
</coreProperties>
</file>