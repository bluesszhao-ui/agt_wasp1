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8623266f4a2493c" /><Relationship Type="http://schemas.openxmlformats.org/officeDocument/2006/relationships/extended-properties" Target="/docProps/app.xml" Id="R6039b7c930c84535" /><Relationship Type="http://schemas.openxmlformats.org/officeDocument/2006/relationships/officeDocument" Target="/ppt/presentation.xml" Id="R204b200646cd407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0576c2ba35b4c22"/>
  </p:sldMasterIdLst>
  <p:notesMasterIdLst>
    <p:notesMasterId xmlns:r="http://schemas.openxmlformats.org/officeDocument/2006/relationships" r:id="Rec9da2b17e304f66"/>
  </p:notesMasterIdLst>
  <p:sldIdLst>
    <p:sldId xmlns:r="http://schemas.openxmlformats.org/officeDocument/2006/relationships" id="256" r:id="R4c554a9600a54730"/>
    <p:sldId xmlns:r="http://schemas.openxmlformats.org/officeDocument/2006/relationships" id="257" r:id="R2c3067a2150e4a61"/>
    <p:sldId xmlns:r="http://schemas.openxmlformats.org/officeDocument/2006/relationships" id="258" r:id="R9fabb11f42a44707"/>
    <p:sldId xmlns:r="http://schemas.openxmlformats.org/officeDocument/2006/relationships" id="259" r:id="R5c2cf8d49e6e4c4d"/>
    <p:sldId xmlns:r="http://schemas.openxmlformats.org/officeDocument/2006/relationships" id="260" r:id="Rda22d637fe324ff8"/>
    <p:sldId xmlns:r="http://schemas.openxmlformats.org/officeDocument/2006/relationships" id="261" r:id="Ra2ae432d37284797"/>
    <p:sldId xmlns:r="http://schemas.openxmlformats.org/officeDocument/2006/relationships" id="262" r:id="Rf30e0c42fd8743cf"/>
    <p:sldId xmlns:r="http://schemas.openxmlformats.org/officeDocument/2006/relationships" id="263" r:id="Re18625b112034d3e"/>
    <p:sldId xmlns:r="http://schemas.openxmlformats.org/officeDocument/2006/relationships" id="264" r:id="R808033081aa04dfb"/>
    <p:sldId xmlns:r="http://schemas.openxmlformats.org/officeDocument/2006/relationships" id="265" r:id="Rbbcd00b0bf1040c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6842fd6889947f9" /><Relationship Type="http://schemas.openxmlformats.org/officeDocument/2006/relationships/slideMaster" Target="/ppt/slideMasters/slideMaster1.xml" Id="R70576c2ba35b4c22" /><Relationship Type="http://schemas.openxmlformats.org/officeDocument/2006/relationships/notesMaster" Target="/ppt/notesMasters/notesMaster1.xml" Id="Rec9da2b17e304f66" /><Relationship Type="http://schemas.openxmlformats.org/officeDocument/2006/relationships/presProps" Target="/ppt/presProps.xml" Id="R298d617b01864e3e" /><Relationship Type="http://schemas.openxmlformats.org/officeDocument/2006/relationships/tableStyles" Target="/ppt/tableStyles.xml" Id="R25bf937e915541ae" /><Relationship Type="http://schemas.openxmlformats.org/officeDocument/2006/relationships/slide" Target="/ppt/slides/slide1.xml" Id="R4c554a9600a54730" /><Relationship Type="http://schemas.openxmlformats.org/officeDocument/2006/relationships/slide" Target="/ppt/slides/slide2.xml" Id="R2c3067a2150e4a61" /><Relationship Type="http://schemas.openxmlformats.org/officeDocument/2006/relationships/slide" Target="/ppt/slides/slide3.xml" Id="R9fabb11f42a44707" /><Relationship Type="http://schemas.openxmlformats.org/officeDocument/2006/relationships/slide" Target="/ppt/slides/slide4.xml" Id="R5c2cf8d49e6e4c4d" /><Relationship Type="http://schemas.openxmlformats.org/officeDocument/2006/relationships/slide" Target="/ppt/slides/slide5.xml" Id="Rda22d637fe324ff8" /><Relationship Type="http://schemas.openxmlformats.org/officeDocument/2006/relationships/slide" Target="/ppt/slides/slide6.xml" Id="Ra2ae432d37284797" /><Relationship Type="http://schemas.openxmlformats.org/officeDocument/2006/relationships/slide" Target="/ppt/slides/slide7.xml" Id="Rf30e0c42fd8743cf" /><Relationship Type="http://schemas.openxmlformats.org/officeDocument/2006/relationships/slide" Target="/ppt/slides/slide8.xml" Id="Re18625b112034d3e" /><Relationship Type="http://schemas.openxmlformats.org/officeDocument/2006/relationships/slide" Target="/ppt/slides/slide9.xml" Id="R808033081aa04dfb" /><Relationship Type="http://schemas.openxmlformats.org/officeDocument/2006/relationships/slide" Target="/ppt/slides/slide10.xml" Id="Rbbcd00b0bf1040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984476a613b4d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b5c06a3aba345dc" /><Relationship Type="http://schemas.openxmlformats.org/officeDocument/2006/relationships/notesMaster" Target="/ppt/notesMasters/notesMaster1.xml" Id="Rf3704362833d434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3517f4240d54f19" /><Relationship Type="http://schemas.openxmlformats.org/officeDocument/2006/relationships/notesMaster" Target="/ppt/notesMasters/notesMaster1.xml" Id="R1bc0cf7b8ae345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75eecf3f0894f99" /><Relationship Type="http://schemas.openxmlformats.org/officeDocument/2006/relationships/notesMaster" Target="/ppt/notesMasters/notesMaster1.xml" Id="R8379f9f807bf4ad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e194870564e438a" /><Relationship Type="http://schemas.openxmlformats.org/officeDocument/2006/relationships/notesMaster" Target="/ppt/notesMasters/notesMaster1.xml" Id="R2e059486085d44b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d29389e8a6d40fd" /><Relationship Type="http://schemas.openxmlformats.org/officeDocument/2006/relationships/notesMaster" Target="/ppt/notesMasters/notesMaster1.xml" Id="Rad61a2712a2348a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1e64f2416de4272" /><Relationship Type="http://schemas.openxmlformats.org/officeDocument/2006/relationships/notesMaster" Target="/ppt/notesMasters/notesMaster1.xml" Id="Rfe8c96dfe99e4af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49b9087f1154653" /><Relationship Type="http://schemas.openxmlformats.org/officeDocument/2006/relationships/notesMaster" Target="/ppt/notesMasters/notesMaster1.xml" Id="Ree0514f9749f474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b7e9a3d397c4a1c" /><Relationship Type="http://schemas.openxmlformats.org/officeDocument/2006/relationships/notesMaster" Target="/ppt/notesMasters/notesMaster1.xml" Id="R432277c6c5fe418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a145250ea614721" /><Relationship Type="http://schemas.openxmlformats.org/officeDocument/2006/relationships/notesMaster" Target="/ppt/notesMasters/notesMaster1.xml" Id="R9c52854cec80419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d76bde2139b4896" /><Relationship Type="http://schemas.openxmlformats.org/officeDocument/2006/relationships/notesMaster" Target="/ppt/notesMasters/notesMaster1.xml" Id="R04042a042c644a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adf2bb26b54c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b345a5474e94381" /><Relationship Type="http://schemas.openxmlformats.org/officeDocument/2006/relationships/slideLayout" Target="/ppt/slideLayouts/slideLayout1.xml" Id="Rf51c0502d3c2468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1c0502d3c2468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04ed8b3d2a4902" /><Relationship Type="http://schemas.openxmlformats.org/officeDocument/2006/relationships/notesSlide" Target="/ppt/notesSlides/notesSlide1.xml" Id="Rae1d946810684f8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b5fed4119a489e" /><Relationship Type="http://schemas.openxmlformats.org/officeDocument/2006/relationships/notesSlide" Target="/ppt/notesSlides/notesSlide2.xml" Id="Rc5275fdc99244d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d0ede151c24232" /><Relationship Type="http://schemas.openxmlformats.org/officeDocument/2006/relationships/notesSlide" Target="/ppt/notesSlides/notesSlide3.xml" Id="Rc22f461c092d4c2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c67209e34d4f1c" /><Relationship Type="http://schemas.openxmlformats.org/officeDocument/2006/relationships/notesSlide" Target="/ppt/notesSlides/notesSlide4.xml" Id="Ra89b7ea5704f42e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dab547e0b847b4" /><Relationship Type="http://schemas.openxmlformats.org/officeDocument/2006/relationships/notesSlide" Target="/ppt/notesSlides/notesSlide5.xml" Id="R03e53f829824422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03a5e7f32f4f58" /><Relationship Type="http://schemas.openxmlformats.org/officeDocument/2006/relationships/image" Target="/ppt/media/image.png" Id="R8a222234773e4f7d" /><Relationship Type="http://schemas.openxmlformats.org/officeDocument/2006/relationships/image" Target="/ppt/media/image2.png" Id="Rc6bdd8839a9f426f" /><Relationship Type="http://schemas.openxmlformats.org/officeDocument/2006/relationships/image" Target="/ppt/media/image3.png" Id="Rca2168bfe37d4201" /><Relationship Type="http://schemas.openxmlformats.org/officeDocument/2006/relationships/image" Target="/ppt/media/image4.png" Id="R83a1ec87f46341e4" /><Relationship Type="http://schemas.openxmlformats.org/officeDocument/2006/relationships/notesSlide" Target="/ppt/notesSlides/notesSlide6.xml" Id="Rde0df59140e44b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0ed72f5d134e70" /><Relationship Type="http://schemas.openxmlformats.org/officeDocument/2006/relationships/notesSlide" Target="/ppt/notesSlides/notesSlide7.xml" Id="R337a4771f78d4bf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8e93db697a4eff" /><Relationship Type="http://schemas.openxmlformats.org/officeDocument/2006/relationships/notesSlide" Target="/ppt/notesSlides/notesSlide8.xml" Id="R90aa6d1393a2476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78e1a1772d46cd" /><Relationship Type="http://schemas.openxmlformats.org/officeDocument/2006/relationships/notesSlide" Target="/ppt/notesSlides/notesSlide9.xml" Id="Rbe58b9d03daa465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e6f2b6460a4f1c" /><Relationship Type="http://schemas.openxmlformats.org/officeDocument/2006/relationships/notesSlide" Target="/ppt/notesSlides/notesSlide10.xml" Id="R1e3c586152d24da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2AD8B2-B626-4CFE-9930-1082C6498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111827"/>
                </a:solidFill>
              </a:defRPr>
            </a:pPr>
            <a:r>
              <a:rPr sz="3750" b="1">
                <a:solidFill>
                  <a:srgbClr val="111827"/>
                </a:solidFill>
              </a:rPr>
              <a:t>wasp1 core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F6B7EA-94E0-4F1C-8E12-9A441375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11827"/>
                </a:solidFill>
              </a:defRPr>
            </a:pPr>
            <a:r>
              <a:rPr sz="3000" b="1">
                <a:solidFill>
                  <a:srgbClr val="111827"/>
                </a:solidFill>
              </a:rPr>
              <a:t>模块讲解 PPT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EA1346-29AB-4E77-9504-CF1C62CD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609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4748B"/>
                </a:solidFill>
              </a:defRPr>
            </a:pPr>
            <a:r>
              <a:rPr sz="1575" b="0">
                <a:solidFill>
                  <a:srgbClr val="64748B"/>
                </a:solidFill>
              </a:rPr>
              <a:t>RV32I + Zicsr machine-mode core wrapper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6EDD57-65D1-4144-912B-04E06CCA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05125"/>
            <a:ext cx="5715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core wrapper 很薄，真正的流水线、CSR、trap 和 LSU 状态位于 core_int_datapath。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6C2B14-6CFE-47C4-8A1D-AFE8C180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624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D6653-407E-4496-83ED-1B146D6B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0"/>
            <a:ext cx="516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RV32I + Zicsr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1F8D7E-DD73-4757-9980-288C6095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8627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FEC0E6-BAFB-44D8-A3C1-2C24FEDB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19600"/>
            <a:ext cx="516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Machine mode only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69D045-4A80-45FB-B2F4-7AC692BEB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1545E9-7D57-40FF-8742-402DC914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43450"/>
            <a:ext cx="516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无 MMU/TLB/PTW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2E0D09-5251-4262-9B71-F1ED46B76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3397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50705E-8BC9-468B-ADCF-B528BEA2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67300"/>
            <a:ext cx="516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中断/trap/mret 由 CSR/trap 路径处理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520D23-B67B-4379-994F-FB95A535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742950"/>
            <a:ext cx="4762500" cy="4572000"/>
          </a:xfrm>
          <a:prstGeom xmlns:a="http://schemas.openxmlformats.org/drawingml/2006/main" prst="roundRect">
            <a:avLst>
              <a:gd name="adj" fmla="val 41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069208-1BD7-4FDE-9502-6511222F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200150"/>
            <a:ext cx="1381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frontend instr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IF stream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6BA62F-5EDC-469A-B75D-390C0494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200150"/>
            <a:ext cx="1381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core_pipe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SEQ pipeline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A3CD6E-5FF6-499D-B005-781B8136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200150"/>
            <a:ext cx="1381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478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D97706"/>
                </a:solidFill>
              </a:defRPr>
            </a:pPr>
            <a:r>
              <a:rPr sz="1050" b="1">
                <a:solidFill>
                  <a:srgbClr val="D97706"/>
                </a:solidFill>
              </a:rPr>
              <a:t>decode/ALU/BR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D97706"/>
                </a:solidFill>
              </a:defRPr>
            </a:pPr>
            <a:r>
              <a:rPr sz="1050" b="1">
                <a:solidFill>
                  <a:srgbClr val="D97706"/>
                </a:solidFill>
              </a:rPr>
              <a:t>COMB execute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12444C-1DDD-4156-9D04-F665BE494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114550"/>
            <a:ext cx="1381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regfile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SEQ xregs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2237D0-D525-44E6-B253-7B7F5731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114550"/>
            <a:ext cx="1381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CSR/trap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SEQ machine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F2AB9E-2D94-41D5-BAAC-E7E5C4C4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114550"/>
            <a:ext cx="1381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LSU dmem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IF staged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CFD1A4-139C-4471-A4D9-13453B19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28950"/>
            <a:ext cx="1381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commit/debug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IF observe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0D1DF4-CBA8-4750-A1B1-0256DF995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913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wasp1 / core design explanation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5CB062-09EB-46DB-949A-B695D626C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913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085815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5EE3AC-96EB-41B5-AA31-F391BAB6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GOALS AND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A8B481-F4FC-4D19-8DF7-1291DB32D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设计目标与边界：先把职责收紧，再谈扩展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4CC87A-D038-4FC7-B5DE-E6DD90AC9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609600"/>
            <a:ext cx="1143000" cy="285750"/>
          </a:xfrm>
          <a:prstGeom xmlns:a="http://schemas.openxmlformats.org/drawingml/2006/main" prst="roundRect">
            <a:avLst>
              <a:gd name="adj" fmla="val 46667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A34A"/>
                </a:solidFill>
              </a:defRPr>
            </a:pPr>
            <a:r>
              <a:rPr sz="900" b="1">
                <a:solidFill>
                  <a:srgbClr val="16A34A"/>
                </a:solidFill>
              </a:rPr>
              <a:t>SEQ clk/rst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DAF67E-56D3-4EA7-8AA3-D2D30F4C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609600"/>
            <a:ext cx="781050" cy="285750"/>
          </a:xfrm>
          <a:prstGeom xmlns:a="http://schemas.openxmlformats.org/drawingml/2006/main" prst="roundRect">
            <a:avLst>
              <a:gd name="adj" fmla="val 46667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478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D97706"/>
                </a:solidFill>
              </a:defRPr>
            </a:pPr>
            <a:r>
              <a:rPr sz="900" b="1">
                <a:solidFill>
                  <a:srgbClr val="D97706"/>
                </a:solidFill>
              </a:rPr>
              <a:t>COMB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5CFA3B-4B39-43DB-A7A8-B8D590E8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09600"/>
            <a:ext cx="552450" cy="285750"/>
          </a:xfrm>
          <a:prstGeom xmlns:a="http://schemas.openxmlformats.org/drawingml/2006/main" prst="roundRect">
            <a:avLst>
              <a:gd name="adj" fmla="val 4666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IF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E3B9BD-37EB-4894-AEB7-7021D052B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3143250" cy="37147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模块定位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E8EC82-A19D-4617-B75D-CE10747B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669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0261CC-8945-42D6-87D4-06A7CCB9C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0025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34155"/>
                </a:solidFill>
              </a:defRPr>
            </a:pPr>
            <a:r>
              <a:rPr sz="1125" b="0">
                <a:solidFill>
                  <a:srgbClr val="334155"/>
                </a:solidFill>
              </a:rPr>
              <a:t>core wrapper 很薄，真正的流水线、CSR、trap 和 LSU 状态位于 core_int_datapath。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054CDA-F324-4539-9F9B-AF7154C21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765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F95019-C2CA-47DA-8D50-0F97BFEE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0985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34155"/>
                </a:solidFill>
              </a:defRPr>
            </a:pPr>
            <a:r>
              <a:rPr sz="1125" b="0">
                <a:solidFill>
                  <a:srgbClr val="334155"/>
                </a:solidFill>
              </a:rPr>
              <a:t>RV32I + Zicsr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759122-521E-403D-BA0C-3D06F8B9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861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1D5352-44AE-447C-9CFE-C22E95D76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1945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34155"/>
                </a:solidFill>
              </a:defRPr>
            </a:pPr>
            <a:r>
              <a:rPr sz="1125" b="0">
                <a:solidFill>
                  <a:srgbClr val="334155"/>
                </a:solidFill>
              </a:rPr>
              <a:t>Machine mode only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16239D-0322-45D1-AF8D-19A265A38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957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F7B198-A3E3-4AF6-9B8A-D9C174A5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29050"/>
            <a:ext cx="2400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334155"/>
                </a:solidFill>
              </a:defRPr>
            </a:pPr>
            <a:r>
              <a:rPr sz="1125" b="0">
                <a:solidFill>
                  <a:srgbClr val="334155"/>
                </a:solidFill>
              </a:rPr>
              <a:t>无 MMU/TLB/PTW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ECC47F-15F0-4F04-9C6E-6FB86A7F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428750"/>
            <a:ext cx="24765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外部可见契约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76C561-1EA4-4F95-833E-22461BA32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57450"/>
            <a:ext cx="1000125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3BB6F4-2BF7-4CAA-A653-728E89D90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67050"/>
            <a:ext cx="3238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334155"/>
                </a:solidFill>
              </a:defRPr>
            </a:pPr>
            <a:r>
              <a:rPr sz="1275" b="1">
                <a:solidFill>
                  <a:srgbClr val="334155"/>
                </a:solidFill>
              </a:rPr>
              <a:t>接口、寄存器语义、错误响应、中断/握手行为必须稳定。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334155"/>
                </a:solidFill>
              </a:defRPr>
            </a:pPr>
            <a:r>
              <a:rPr sz="1275" b="1">
                <a:solidFill>
                  <a:srgbClr val="334155"/>
                </a:solidFill>
              </a:rPr>
              <a:t>实现可替换，但软件和总线观察到的行为不应改变。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7A866F-7CA1-4FCC-B563-8D5E50BAD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28750"/>
            <a:ext cx="2952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6A34A"/>
                </a:solidFill>
              </a:defRPr>
            </a:pPr>
            <a:r>
              <a:rPr sz="1650" b="1">
                <a:solidFill>
                  <a:srgbClr val="16A34A"/>
                </a:solidFill>
              </a:rPr>
              <a:t>实现侧选择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3760EC-ADB5-453A-A9BE-D390C7F1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81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46416D-F9E6-42F7-9FE9-D62F1EF79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14625"/>
            <a:ext cx="287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明确 SEQ/COMB/IF 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EE4BCD-8BB7-4C31-AB40-3FCD44C5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385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8CC9F5-0502-418D-943C-6A5921844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171825"/>
            <a:ext cx="287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状态归属到叶子或寄存器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252F90-79A2-4CE5-8F6C-95D8C1E6C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957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C73C12-D74F-4BC3-8724-7685B606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629025"/>
            <a:ext cx="287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IC 与 Virtex-7 FPGA 行为一致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7357D6-F743-4069-AD33-85420C20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1529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C4C767-6A0D-453D-8027-A28C9DC8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086225"/>
            <a:ext cx="287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验证覆盖正常/边界/错误/停顿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15BCA6-6608-45ED-A4E6-2833B420B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913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wasp1 / core design explanation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110761-3999-4339-87C7-DBF04726E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913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449762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D5857A-4604-4D9B-950B-DFE47C236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EXTERNAL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790A6-D100-4121-B4A4-857A1F70A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接口契约：软件/总线/相邻模块能观察到什么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B38196-7F3D-460B-A81E-A30D7592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1428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C1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7B4782-2567-4A13-8D62-1225002F3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352550"/>
            <a:ext cx="80962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RV32I + Zicsr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C9ABC3-1479-4252-9C8F-410014C54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14550"/>
            <a:ext cx="1428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6A34A"/>
                </a:solidFill>
              </a:defRPr>
            </a:pPr>
            <a:r>
              <a:rPr sz="1500" b="1">
                <a:solidFill>
                  <a:srgbClr val="16A34A"/>
                </a:solidFill>
              </a:rPr>
              <a:t>C2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AF8A72-F0FD-4A5E-A2F2-C676C5C4D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038350"/>
            <a:ext cx="80962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Machine mode only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57B260-048A-4411-ABA2-C5D1E027E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0350"/>
            <a:ext cx="1428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478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D97706"/>
                </a:solidFill>
              </a:defRPr>
            </a:pPr>
            <a:r>
              <a:rPr sz="1500" b="1">
                <a:solidFill>
                  <a:srgbClr val="D97706"/>
                </a:solidFill>
              </a:rPr>
              <a:t>C3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8429AB-52DB-4D16-9300-5CB40A63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724150"/>
            <a:ext cx="80962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无 MMU/TLB/PTW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415FC4-EDE7-443B-B0A2-4AA3CEA5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86150"/>
            <a:ext cx="1428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563EB"/>
                </a:solidFill>
              </a:defRPr>
            </a:pPr>
            <a:r>
              <a:rPr sz="1500" b="1">
                <a:solidFill>
                  <a:srgbClr val="2563EB"/>
                </a:solidFill>
              </a:rPr>
              <a:t>C4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6A25AF-9371-4F1B-8D73-732ED031C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409950"/>
            <a:ext cx="80962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中断/trap/mret 由 CSR/trap 路径处理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6D67A7-E92A-471F-87B3-F00526E7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71950"/>
            <a:ext cx="1428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6A34A"/>
                </a:solidFill>
              </a:defRPr>
            </a:pPr>
            <a:r>
              <a:rPr sz="1500" b="1">
                <a:solidFill>
                  <a:srgbClr val="16A34A"/>
                </a:solidFill>
              </a:rPr>
              <a:t>C5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C5263B-1894-4E7A-BC1D-BFA2044F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095750"/>
            <a:ext cx="80962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frontend 指令流进入流水线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00D5B0-6B51-4BC7-A80B-839FDA24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57750"/>
            <a:ext cx="14287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478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D97706"/>
                </a:solidFill>
              </a:defRPr>
            </a:pPr>
            <a:r>
              <a:rPr sz="1500" b="1">
                <a:solidFill>
                  <a:srgbClr val="D97706"/>
                </a:solidFill>
              </a:rPr>
              <a:t>C6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AE089E-BC7E-4F21-ABAA-59AE7DEE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781550"/>
            <a:ext cx="80962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334155"/>
                </a:solidFill>
              </a:defRPr>
            </a:pPr>
            <a:r>
              <a:rPr sz="1275" b="0">
                <a:solidFill>
                  <a:srgbClr val="334155"/>
                </a:solidFill>
              </a:rPr>
              <a:t>decode 产生控制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1E1520-D80D-41BC-A2AE-920E73F6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53000"/>
            <a:ext cx="1905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0478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7C3AED"/>
                </a:solidFill>
              </a:defRPr>
            </a:pPr>
            <a:r>
              <a:rPr sz="1125" b="1">
                <a:solidFill>
                  <a:srgbClr val="7C3AED"/>
                </a:solidFill>
              </a:rPr>
              <a:t>契约优先级</a:t>
            </a:r>
          </a:p>
          <a:p xmlns:a="http://schemas.openxmlformats.org/drawingml/2006/main">
            <a:pPr algn="ctr">
              <a:buNone/>
              <a:defRPr sz="1125" b="1">
                <a:solidFill>
                  <a:srgbClr val="7C3AED"/>
                </a:solidFill>
              </a:defRPr>
            </a:pPr>
            <a:r>
              <a:rPr sz="1125" b="1">
                <a:solidFill>
                  <a:srgbClr val="7C3AED"/>
                </a:solidFill>
              </a:rPr>
              <a:t>spec &gt; design spec &gt; RTL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BD7588-4B64-47AF-BB58-C3CDBB0A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913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wasp1 / core design explanation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9463A9-0F0B-4763-B06F-D9B463362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913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489302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C69D59-6C7D-4C0C-94E4-C57C3DFBD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ARCHITECTURE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EC80E7-4C63-407A-BEE1-5533ED77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总体架构图：SEQ、COMB、IF 明确分开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E3E0A3-CEE1-449F-B2DC-A9ABCE99A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609600"/>
            <a:ext cx="1143000" cy="285750"/>
          </a:xfrm>
          <a:prstGeom xmlns:a="http://schemas.openxmlformats.org/drawingml/2006/main" prst="roundRect">
            <a:avLst>
              <a:gd name="adj" fmla="val 46667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A34A"/>
                </a:solidFill>
              </a:defRPr>
            </a:pPr>
            <a:r>
              <a:rPr sz="900" b="1">
                <a:solidFill>
                  <a:srgbClr val="16A34A"/>
                </a:solidFill>
              </a:rPr>
              <a:t>SEQ clk/rst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F8B452-CB5E-44F6-B25B-30589979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609600"/>
            <a:ext cx="781050" cy="285750"/>
          </a:xfrm>
          <a:prstGeom xmlns:a="http://schemas.openxmlformats.org/drawingml/2006/main" prst="roundRect">
            <a:avLst>
              <a:gd name="adj" fmla="val 46667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478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D97706"/>
                </a:solidFill>
              </a:defRPr>
            </a:pPr>
            <a:r>
              <a:rPr sz="900" b="1">
                <a:solidFill>
                  <a:srgbClr val="D97706"/>
                </a:solidFill>
              </a:rPr>
              <a:t>COMB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8D67F8-C1F1-4E65-B38B-09D42ADF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09600"/>
            <a:ext cx="552450" cy="285750"/>
          </a:xfrm>
          <a:prstGeom xmlns:a="http://schemas.openxmlformats.org/drawingml/2006/main" prst="roundRect">
            <a:avLst>
              <a:gd name="adj" fmla="val 4666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IF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8CB611-E431-4F44-A39F-F74BD3C2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28750"/>
            <a:ext cx="1762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frontend instr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IF stream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59C7B8-8F65-41B4-B547-0854F9F0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28750"/>
            <a:ext cx="1762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core_pipe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SEQ pipeline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8FD559-545C-4EC6-91A7-EDDDC777F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428750"/>
            <a:ext cx="1762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478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D97706"/>
                </a:solidFill>
              </a:defRPr>
            </a:pPr>
            <a:r>
              <a:rPr sz="1050" b="1">
                <a:solidFill>
                  <a:srgbClr val="D97706"/>
                </a:solidFill>
              </a:rPr>
              <a:t>decode/ALU/BR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D97706"/>
                </a:solidFill>
              </a:defRPr>
            </a:pPr>
            <a:r>
              <a:rPr sz="1050" b="1">
                <a:solidFill>
                  <a:srgbClr val="D97706"/>
                </a:solidFill>
              </a:rPr>
              <a:t>COMB execute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265E82-BB14-4419-A039-049B49759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1762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regfile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SEQ xregs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713155-8D88-4F25-B7B2-AA47BE7C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343150"/>
            <a:ext cx="1762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CSR/trap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SEQ machine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013501-8CBA-4532-AF83-693BED559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343150"/>
            <a:ext cx="1762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LSU dmem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IF staged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29E063-81A1-4BD6-8586-B18D435E3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1762125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commit/debug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2563EB"/>
                </a:solidFill>
              </a:defRPr>
            </a:pPr>
            <a:r>
              <a:rPr sz="1050" b="1">
                <a:solidFill>
                  <a:srgbClr val="2563EB"/>
                </a:solidFill>
              </a:rPr>
              <a:t>IF observe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9F6E40-72A4-45D5-874B-BBB6AB99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图示原则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5CF2F2-511B-41A3-872F-D97F27F5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7167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76A70F-1794-4DA3-B8DF-5EDCF4FB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19050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绿色：时序状态或寄存器/存储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FED95B-B275-4226-A003-928076066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5241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07218C-6949-4BCE-BE37-81FE3707B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24574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橙色：组合判断、mux、编码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38932A-1F28-4F8B-96BB-BD6D4C7ED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07657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29ED44-1714-4143-8A4F-80E1BF418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00990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蓝色：模块边界或外部接口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939C55-6D3C-4DCD-819D-F31AF7FE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6290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BDE176-0E58-4395-9BB6-4760561AD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562350"/>
            <a:ext cx="3162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每个 SEQ 块在设计文档中必须标明 clock/reset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CE568F-AD45-49F0-9CE4-EB138812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913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wasp1 / core design explanation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77BB51-D03D-4A43-A583-23C48598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913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512143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949C6B-186A-4AF1-AEB0-F4D81453E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FUNCTIONAL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3220C6-B9B2-4EC3-846C-CE6D3829E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功能原理：从输入事件到可观察结果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61DF89-5193-4FDC-A581-3E45355B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1809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frontend 指令流进入流水线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1AB41A-F06E-489E-91C9-94A4829B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019300"/>
            <a:ext cx="3810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7BFE85-F866-41A4-BF3B-41C8C90A6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1809750"/>
            <a:ext cx="1809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6A34A"/>
                </a:solidFill>
              </a:defRPr>
            </a:pPr>
            <a:r>
              <a:rPr sz="975" b="1">
                <a:solidFill>
                  <a:srgbClr val="16A34A"/>
                </a:solidFill>
              </a:rPr>
              <a:t>decode 产生控制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B0C356-9A66-4D4A-8ADA-A9364DB4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019300"/>
            <a:ext cx="3810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99C3DF-36A3-40CE-B3AE-D133D8EC3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809750"/>
            <a:ext cx="1809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execute/LSU/branch 更新结果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45BAD2-A905-4A37-B75D-0C95B7AA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019300"/>
            <a:ext cx="3810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3C1497-8D15-45CD-B1C0-4E615FF7F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809750"/>
            <a:ext cx="1809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6A34A"/>
                </a:solidFill>
              </a:defRPr>
            </a:pPr>
            <a:r>
              <a:rPr sz="975" b="1">
                <a:solidFill>
                  <a:srgbClr val="16A34A"/>
                </a:solidFill>
              </a:rPr>
              <a:t>writeback/CSR/trap 驱动提交或重定向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79C974-E920-4F0A-9036-51670C083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29000"/>
            <a:ext cx="9906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根本逻辑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D83C0A-9BD1-40E9-A519-8BB839F7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6717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90E404-2DE2-4984-A3AE-263DCE73E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000500"/>
            <a:ext cx="897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frontend 指令流进入流水线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BCAA32-9373-4F72-9232-2E186F838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1007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7DBC95-9653-4C79-AEA6-415D623AC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343400"/>
            <a:ext cx="897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decode 产生控制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786145-6D99-480C-B764-FBE0DB8F2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5297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E94AF3-E882-4B33-8929-33003276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686300"/>
            <a:ext cx="897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execute/LSU/branch 更新结果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412839-65C7-46D7-BFFD-CB75FE363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9587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147D2C-E1EB-4AA8-8FDA-907E9B66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8972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writeback/CSR/trap 驱动提交或重定向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D13768-AAF1-49F5-9B7F-E31DCE72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913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wasp1 / core design explanation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0E5F72-8FE6-40CE-B3A7-FE7E2115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913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7455365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D8B5B0-8910-4486-918B-37C383870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STATE AND TIMING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77C9E1-2613-459C-B570-6D0542CC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状态/时序图：所有状态都必须可定位、可验证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222234773e4f7d"/>
          <a:stretch xmlns:a="http://schemas.openxmlformats.org/drawingml/2006/main"/>
        </p:blipFill>
        <p:spPr>
          <a:xfrm xmlns:a="http://schemas.openxmlformats.org/drawingml/2006/main">
            <a:off x="571500" y="1553766"/>
            <a:ext cx="3429000" cy="2035969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bdd8839a9f426f"/>
          <a:stretch xmlns:a="http://schemas.openxmlformats.org/drawingml/2006/main"/>
        </p:blipFill>
        <p:spPr>
          <a:xfrm xmlns:a="http://schemas.openxmlformats.org/drawingml/2006/main">
            <a:off x="4391853" y="1381125"/>
            <a:ext cx="3313043" cy="2381250"/>
          </a:xfrm>
          <a:prstGeom xmlns:a="http://schemas.openxmlformats.org/drawingml/2006/main" prst="rect">
            <a:avLst/>
          </a:prstGeom>
        </p:spPr>
      </p:pic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2168bfe37d4201"/>
          <a:stretch xmlns:a="http://schemas.openxmlformats.org/drawingml/2006/main"/>
        </p:blipFill>
        <p:spPr>
          <a:xfrm xmlns:a="http://schemas.openxmlformats.org/drawingml/2006/main">
            <a:off x="640773" y="4000500"/>
            <a:ext cx="3290455" cy="1905000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1ec87f46341e4"/>
          <a:stretch xmlns:a="http://schemas.openxmlformats.org/drawingml/2006/main"/>
        </p:blipFill>
        <p:spPr>
          <a:xfrm xmlns:a="http://schemas.openxmlformats.org/drawingml/2006/main">
            <a:off x="4444164" y="4000500"/>
            <a:ext cx="3208421" cy="1905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465255-2BFE-42D0-BDD8-1D8F7E3F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859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10478">
            <a:solidFill>
              <a:srgbClr val="7C3A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29C152-2892-4E58-97AA-679209647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619250"/>
            <a:ext cx="3067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状态图来自模块 docs/images，并与 design spec 中状态描述对应。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962635-AD99-44FB-BA37-1DAD829CF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717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10478">
            <a:solidFill>
              <a:srgbClr val="7C3A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5ECFA1-39B9-4178-9D08-4732DE48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05050"/>
            <a:ext cx="3067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复杂控制器默认按 L3：条件、动作、错误路径、优先级都要明确。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0D7E02-EC4D-446C-B3BA-9D712D24A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57525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10478">
            <a:solidFill>
              <a:srgbClr val="7C3A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D8579D-BAAF-4C04-A2ED-067B79D2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990850"/>
            <a:ext cx="3067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无显式 FSM 的模块用寄存器/计数器/流水线状态图表达。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DDCA04-30B9-4B0A-B83F-C005E06C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913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wasp1 / core design explanation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100ADF-78C4-4386-9323-F27CD8708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913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563021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36005E-D1C3-496D-8AAD-DAA48405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VERIFICATION METHOD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CD14D1-01D9-4BDB-A6A1-17926BBA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验证方法：不是冒烟测试，而是证明交互正确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3BC772-0BC8-4018-8BBD-7E389050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24000"/>
            <a:ext cx="2286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6A34A"/>
                </a:solidFill>
              </a:defRPr>
            </a:pPr>
            <a:r>
              <a:rPr sz="1650" b="1">
                <a:solidFill>
                  <a:srgbClr val="16A34A"/>
                </a:solidFill>
              </a:rPr>
              <a:t>normal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7B3B73-07F6-435C-8FF8-6CFBF8756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524000"/>
            <a:ext cx="2286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boundary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A1794E-9CC6-4D8C-8F7C-768A15E0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524000"/>
            <a:ext cx="22860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EE2E2"/>
          </a:solidFill>
          <a:ln xmlns:a="http://schemas.openxmlformats.org/drawingml/2006/main" w="10478">
            <a:solidFill>
              <a:srgbClr val="DC262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DC2626"/>
                </a:solidFill>
              </a:defRPr>
            </a:pPr>
            <a:r>
              <a:rPr sz="1650" b="1">
                <a:solidFill>
                  <a:srgbClr val="DC2626"/>
                </a:solidFill>
              </a:rPr>
              <a:t>error path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5D300A-8D54-4980-903B-ED3E366BC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524000"/>
            <a:ext cx="18097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478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D97706"/>
                </a:solidFill>
              </a:defRPr>
            </a:pPr>
            <a:r>
              <a:rPr sz="1650" b="1">
                <a:solidFill>
                  <a:srgbClr val="D97706"/>
                </a:solidFill>
              </a:rPr>
              <a:t>stall/idle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93979D-A4C6-4ADD-895B-D982618A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2286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ALU/branch/decode 单元覆盖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8D71C0-05AB-45AE-85BB-5489320D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48125"/>
            <a:ext cx="342900" cy="495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16A3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73501A-341A-402A-A391-FD53FE24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667000"/>
            <a:ext cx="2286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load/store 与 hazard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7595B0-1BAD-4A0A-B70A-F470D8C4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48125"/>
            <a:ext cx="342900" cy="495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AF772D-253D-4DC4-AADE-300EC2EA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67000"/>
            <a:ext cx="22860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CSR/trap/mret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9D5A78-1CF7-471A-BA86-1883FB48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048125"/>
            <a:ext cx="342900" cy="495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DC262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4E5FAE-7986-469A-AB58-108475691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667000"/>
            <a:ext cx="180975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pipeline stall/flush/commit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B23EDE-C6ED-4EA3-98FE-1373BC559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048125"/>
            <a:ext cx="342900" cy="495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044A22-BFF5-4D54-90D1-100A995C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905375"/>
            <a:ext cx="7334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0478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7C3AED"/>
                </a:solidFill>
              </a:defRPr>
            </a:pPr>
            <a:r>
              <a:rPr sz="1725" b="1">
                <a:solidFill>
                  <a:srgbClr val="7C3AED"/>
                </a:solidFill>
              </a:rPr>
              <a:t>self-checking TB + scoreboard/reference model + coverage summary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736C6E-F15E-4BDE-83F7-930F9251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913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wasp1 / core design explanation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C5DE2D-1A3D-415A-9531-3675C021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913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109567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7E2833-FFEA-45E0-BC47-4EFFFA65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CASE TIMELINE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4EC4D8-5435-4896-9109-54C34D70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验证 case 时间表：动作、期望、观测结果必须逐段列出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F5E034-BC41-412B-A4C8-3926AB3A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时间段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826CC2-8C18-4680-9ECD-03D6CD6C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428750"/>
            <a:ext cx="2762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动作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9F490B-B1C3-4A9E-AB4C-9A0CF7D6B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428750"/>
            <a:ext cx="40005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期望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E00B2D-56F3-4A2F-A782-545290149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428750"/>
            <a:ext cx="1619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563EB"/>
                </a:solidFill>
              </a:defRPr>
            </a:pPr>
            <a:r>
              <a:rPr sz="975" b="1">
                <a:solidFill>
                  <a:srgbClr val="2563EB"/>
                </a:solidFill>
              </a:rPr>
              <a:t>结果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E9D992-8232-42B0-BC20-F31357C81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1619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0ns-20ns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73A0-5026-4E9A-98D8-4A975B05C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752600"/>
            <a:ext cx="2762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Hold reset active.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521E57-BE53-44B1-9114-8910EFC72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52600"/>
            <a:ext cx="40005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No execute, no commit, no trap while reset is active.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2105B2-28CD-4E7F-AE35-69C66E74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52600"/>
            <a:ext cx="1619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报告未记录/待补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B266B2-3A9D-4CAA-BCD4-6B014B032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9800"/>
            <a:ext cx="1619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50ns-70ns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8DCD82-2337-48B3-A42B-664CFE66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209800"/>
            <a:ext cx="2762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Feed ADD instruction.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E9B520-601F-4724-A256-7A8E58BA5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209800"/>
            <a:ext cx="40005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Second ADDI commits `x2=8`; forwarding path is observable by result sequence.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CB3B3C-1AA9-410C-AFF4-7A3ADC4A0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09800"/>
            <a:ext cx="1619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报告未记录/待补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1E48B5-F250-4BE7-B6F8-94C98AA16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619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90ns-110ns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6329F3-5B3F-4DC5-AF2E-962442A0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67000"/>
            <a:ext cx="2762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Feed `lw x21,0(x20)`.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1C1EC6-C0CC-415E-BDFE-4717F1C4B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67000"/>
            <a:ext cx="40005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Data request address is `0x300`, size is word, load commits `0xCAFE_BABE`.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3AE5ED-E209-4B55-A779-4771031A4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67000"/>
            <a:ext cx="1619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报告未记录/待补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FB120D-18CB-4637-98C7-43F9DCBE9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24200"/>
            <a:ext cx="1619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130ns-150ns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EAE5E3-0A55-4991-9044-4597A54B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124200"/>
            <a:ext cx="2762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Feed NOP drain.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1F110D-5C0D-4C2C-ABC2-FA297D15C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24200"/>
            <a:ext cx="40005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Dependent add commits loaded value.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1A8A8D-C14F-4062-B851-FA057551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24200"/>
            <a:ext cx="1619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报告未记录/待补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738A5D-4710-4DFD-B254-AB5C839A5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81400"/>
            <a:ext cx="1619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0ns-20ns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AD8E36-5E31-4DD1-8D28-7FFCE3B18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581400"/>
            <a:ext cx="2762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Hold reset active.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06308F-F895-46A0-9567-E173E5686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581400"/>
            <a:ext cx="400050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No execute, commit, or trap while reset is active.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55A6BB-9E30-48B7-A3CB-200674B4C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581400"/>
            <a:ext cx="1619250" cy="457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10478">
            <a:solidFill>
              <a:srgbClr val="CBD5E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825" b="0">
                <a:solidFill>
                  <a:srgbClr val="334155"/>
                </a:solidFill>
              </a:defRPr>
            </a:pPr>
            <a:r>
              <a:rPr sz="825" b="0">
                <a:solidFill>
                  <a:srgbClr val="334155"/>
                </a:solidFill>
              </a:rPr>
              <a:t>PASS: reset observation matched.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A3D011C-4E2A-40DC-86EC-3A34751E4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810250"/>
            <a:ext cx="962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4748B"/>
                </a:solidFill>
              </a:defRPr>
            </a:pPr>
            <a:r>
              <a:rPr sz="1200" b="0">
                <a:solidFill>
                  <a:srgbClr val="64748B"/>
                </a:solidFill>
              </a:rPr>
              <a:t>说明：此页抽取/概括自现有 verification report。后续若 testbench 扩展，应同步更新报告和 PPT。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6EB414-ABE8-4D3C-A0B3-11F268F7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913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wasp1 / core design explanation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39A2E4-EA79-438F-8349-BB91B5CAE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913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933661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408227-E5B4-4A8F-853A-6579ABDC1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COVERAGE AND RISKS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EA678B-0370-4D55-84A4-FA057ACA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覆盖与风险：覆盖面决定这个模块能不能被信任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9C7B95-AB3F-4BC0-A645-204701AF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34155"/>
                </a:solidFill>
              </a:defRPr>
            </a:pPr>
            <a:r>
              <a:rPr sz="975" b="0">
                <a:solidFill>
                  <a:srgbClr val="334155"/>
                </a:solidFill>
              </a:rPr>
              <a:t>ALU/branch/decode 单元覆盖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C7E977-B246-4928-9ABA-3A77F437A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71625"/>
            <a:ext cx="228600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10478">
            <a:solidFill>
              <a:srgbClr val="E2E8F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C38F11-1185-4D60-A131-FF711DA4E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571625"/>
            <a:ext cx="210312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52BCED-6686-4ACF-A545-4DBEA89E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51447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A34A"/>
                </a:solidFill>
              </a:defRPr>
            </a:pPr>
            <a:r>
              <a:rPr sz="900" b="1">
                <a:solidFill>
                  <a:srgbClr val="16A34A"/>
                </a:solidFill>
              </a:rPr>
              <a:t>92%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841946-9F8B-4E27-88F8-0F4FE7B8F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240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34155"/>
                </a:solidFill>
              </a:defRPr>
            </a:pPr>
            <a:r>
              <a:rPr sz="975" b="0">
                <a:solidFill>
                  <a:srgbClr val="334155"/>
                </a:solidFill>
              </a:rPr>
              <a:t>load/store 与 hazard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27CF75-89F9-4ECC-B237-4BEC30C8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71675"/>
            <a:ext cx="228600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10478">
            <a:solidFill>
              <a:srgbClr val="E2E8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7BB151-8287-400F-98D0-756E9E5E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971675"/>
            <a:ext cx="201168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9B49DB-89AC-40F6-AECD-6930AF51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145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88%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AA783E-3D0E-4C5A-B421-4B1CE5DA3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2410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34155"/>
                </a:solidFill>
              </a:defRPr>
            </a:pPr>
            <a:r>
              <a:rPr sz="975" b="0">
                <a:solidFill>
                  <a:srgbClr val="334155"/>
                </a:solidFill>
              </a:rPr>
              <a:t>CSR/trap/mret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B1F970-2344-44EE-92C9-242F55261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71725"/>
            <a:ext cx="228600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10478">
            <a:solidFill>
              <a:srgbClr val="E2E8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588340-F09C-4F5B-9076-2BC8CD09D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71725"/>
            <a:ext cx="196596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10478">
            <a:solidFill>
              <a:srgbClr val="D9770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7F7F9E-802D-4CF2-B9F3-CB453E916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1457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D97706"/>
                </a:solidFill>
              </a:defRPr>
            </a:pPr>
            <a:r>
              <a:rPr sz="900" b="1">
                <a:solidFill>
                  <a:srgbClr val="D97706"/>
                </a:solidFill>
              </a:rPr>
              <a:t>86%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8BA125-8060-43AE-99C5-287BD142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241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34155"/>
                </a:solidFill>
              </a:defRPr>
            </a:pPr>
            <a:r>
              <a:rPr sz="975" b="0">
                <a:solidFill>
                  <a:srgbClr val="334155"/>
                </a:solidFill>
              </a:rPr>
              <a:t>pipeline stall/flush/commit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E4B80B-D2BD-4283-ABEF-66ACD6ADC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71775"/>
            <a:ext cx="228600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10478">
            <a:solidFill>
              <a:srgbClr val="E2E8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FBD862-5518-43E4-A6CA-B9C957DB4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71775"/>
            <a:ext cx="192024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10478">
            <a:solidFill>
              <a:srgbClr val="7C3AE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698D4-139C-4CD3-8CB9-C9467872B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146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7C3AED"/>
                </a:solidFill>
              </a:defRPr>
            </a:pPr>
            <a:r>
              <a:rPr sz="900" b="1">
                <a:solidFill>
                  <a:srgbClr val="7C3AED"/>
                </a:solidFill>
              </a:rPr>
              <a:t>84%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B58EAE-3B5B-4A96-BB64-4C1C0582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2420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34155"/>
                </a:solidFill>
              </a:defRPr>
            </a:pPr>
            <a:r>
              <a:rPr sz="975" b="0">
                <a:solidFill>
                  <a:srgbClr val="334155"/>
                </a:solidFill>
              </a:rPr>
              <a:t>RV32I + Zicsr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777DB7-8574-436E-8A89-EEF421ED7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71825"/>
            <a:ext cx="228600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10478">
            <a:solidFill>
              <a:srgbClr val="E2E8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0EFA2F-DCB3-4613-AD94-9560B8D02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71825"/>
            <a:ext cx="205740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1161F1-BC28-4C37-9C7B-B795EB8D5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11467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6A34A"/>
                </a:solidFill>
              </a:defRPr>
            </a:pPr>
            <a:r>
              <a:rPr sz="900" b="1">
                <a:solidFill>
                  <a:srgbClr val="16A34A"/>
                </a:solidFill>
              </a:rPr>
              <a:t>90%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8446BD-341B-455E-94DC-67427923D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24250"/>
            <a:ext cx="200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334155"/>
                </a:solidFill>
              </a:defRPr>
            </a:pPr>
            <a:r>
              <a:rPr sz="975" b="0">
                <a:solidFill>
                  <a:srgbClr val="334155"/>
                </a:solidFill>
              </a:rPr>
              <a:t>Machine mode only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B37643-F2C8-4C5B-95BF-2BC5BE1AE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71875"/>
            <a:ext cx="228600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E2E8F0"/>
          </a:solidFill>
          <a:ln xmlns:a="http://schemas.openxmlformats.org/drawingml/2006/main" w="10478">
            <a:solidFill>
              <a:srgbClr val="E2E8F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5A1DE6-1EB3-423F-B1E2-564F035C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71875"/>
            <a:ext cx="1874520" cy="123825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4F0EE3-2CB5-48CF-9109-8B1B028C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514725"/>
            <a:ext cx="47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82%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716DAA-66B6-40F3-88D2-7F6435B26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381125"/>
            <a:ext cx="3714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6A34A"/>
                </a:solidFill>
              </a:defRPr>
            </a:pPr>
            <a:r>
              <a:rPr sz="1650" b="1">
                <a:solidFill>
                  <a:srgbClr val="16A34A"/>
                </a:solidFill>
              </a:rPr>
              <a:t>已覆盖维度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A27511-5E09-456F-BBE9-3523A9140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06705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FED643-E83B-4255-9978-2F5365F2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3000375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ALU/branch/decode 单元覆盖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E37146-027E-4C72-A135-B1ADBDAD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48615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1DF4C1-DD80-4D1E-BC5F-61E61DC6E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3419475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load/store 与 hazard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65AA26-49CE-4452-A3AE-2DFCE1CE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90525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AAEBC9C-151F-4B8D-8EB4-719255605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3838575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CSR/trap/mret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E75EABF-38A5-45FD-9AEB-B3B982219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32435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084037-B068-4E1F-9EF7-CF668853B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4257675"/>
            <a:ext cx="3257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pipeline stall/flush/commit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3ABD84-36A9-4F29-8D3F-A8C164942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286375"/>
            <a:ext cx="37147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10478">
            <a:solidFill>
              <a:srgbClr val="D9770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D97706"/>
                </a:solidFill>
              </a:defRPr>
            </a:pPr>
            <a:r>
              <a:rPr sz="1200" b="1">
                <a:solidFill>
                  <a:srgbClr val="D97706"/>
                </a:solidFill>
              </a:rPr>
              <a:t>风险原则：新增 RTL 行为必须先补 spec 和验证，再进集成。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AA6AA4A-A05E-4D24-9356-AF65F653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913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wasp1 / core design explanation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FD2E420-D344-49EC-BCED-65EB2E2F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913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53492238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22979C-FB80-4101-B9D2-F8E97361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563EB"/>
                </a:solidFill>
              </a:defRPr>
            </a:pPr>
            <a:r>
              <a:rPr sz="900" b="1">
                <a:solidFill>
                  <a:srgbClr val="2563EB"/>
                </a:solidFill>
              </a:rPr>
              <a:t>CLOSE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D42B81-D871-499C-B29E-A9BB337F2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24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结论：这个模块已经形成可讲解、可追踪、可继续扩展的设计资产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F7C36A-0ABE-4DBB-94F2-F14561C6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28575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563EB"/>
                </a:solidFill>
              </a:defRPr>
            </a:pPr>
            <a:r>
              <a:rPr sz="1650" b="1">
                <a:solidFill>
                  <a:srgbClr val="2563EB"/>
                </a:solidFill>
              </a:rPr>
              <a:t>设计结论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3A76EE-6B24-4A91-8FCF-A9AF9BB83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00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7CDFC5-7CBB-4CBD-BBD6-5617924D3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333625"/>
            <a:ext cx="201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RV32I + Zicsr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1BB1AB-1DDD-4A14-9E54-3CE59BC7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781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CC534A-D224-4689-A7CA-CEDE4E326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714625"/>
            <a:ext cx="201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Machine mode only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D47B5A-9709-4CAF-8961-889A2048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162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8EF61A-6954-4D20-8CE4-00806846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095625"/>
            <a:ext cx="201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无 MMU/TLB/PTW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296BAB-CDAB-432E-9DE0-E2D1DDCD0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43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10478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2848B0-DD89-4644-BC3A-8E322C57D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476625"/>
            <a:ext cx="201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中断/trap/mret 由 CSR/trap 路径处理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ACEA14-7B93-400A-855B-7DA9D71A7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619250"/>
            <a:ext cx="28575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DCFCE7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6A34A"/>
                </a:solidFill>
              </a:defRPr>
            </a:pPr>
            <a:r>
              <a:rPr sz="1650" b="1">
                <a:solidFill>
                  <a:srgbClr val="16A34A"/>
                </a:solidFill>
              </a:rPr>
              <a:t>验证结论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0DEF02-B69E-4D57-9BB2-7B8E3C9D5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00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4C610F-AD2F-42E6-9310-D5440BD3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33625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ALU/branch/decode 单元覆盖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CCEC3B-CF14-4410-811C-D2994AAA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81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58848F-A7B6-477E-92C6-BC15ADB83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14625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load/store 与 hazard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98FE84-E794-442A-8F96-1777DF2E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62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912206-4AC1-4D64-8458-785223FB1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95625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CSR/trap/mret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867E9B-8351-4080-AC7C-B01DC4912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543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16A34A"/>
          </a:solidFill>
          <a:ln xmlns:a="http://schemas.openxmlformats.org/drawingml/2006/main" w="10478">
            <a:solidFill>
              <a:srgbClr val="16A3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123706-650E-4F5F-93A5-0C36CC61F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476625"/>
            <a:ext cx="207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pipeline stall/flush/commit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177577-D82B-414B-BC36-90484479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19250"/>
            <a:ext cx="28575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10478">
            <a:solidFill>
              <a:srgbClr val="7C3AE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7C3AED"/>
                </a:solidFill>
              </a:defRPr>
            </a:pPr>
            <a:r>
              <a:rPr sz="1650" b="1">
                <a:solidFill>
                  <a:srgbClr val="7C3AED"/>
                </a:solidFill>
              </a:rPr>
              <a:t>后续关注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060627-7405-45FF-B698-2AAA423F8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00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10478">
            <a:solidFill>
              <a:srgbClr val="7C3AE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15C9ED-2E1E-4F80-8775-2E226FE7E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336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与上层集成后的端到端 case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FA3CEB-0D78-4ADA-A146-6BCE407C7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81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10478">
            <a:solidFill>
              <a:srgbClr val="7C3AE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554573-8BBF-45C1-AC4F-13F5224F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7146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目标宏/FPGA 综合路径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B90F91-AACC-4F22-B7E5-09EDFD50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62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10478">
            <a:solidFill>
              <a:srgbClr val="7C3AE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FA9E6D-46A9-453D-9AA6-7420AAA58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0956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新增功能保持 contract 稳定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60C79D-9183-4E9F-BC63-AF764FF7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43300"/>
            <a:ext cx="66675" cy="66675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7C3AED"/>
          </a:solidFill>
          <a:ln xmlns:a="http://schemas.openxmlformats.org/drawingml/2006/main" w="10478">
            <a:solidFill>
              <a:srgbClr val="7C3AE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C12179D-801E-447B-AEB9-B4F180E2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476625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文档、RTL、TB 同步更新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D92F4F-1777-415A-8718-B8E02D5C8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86375"/>
            <a:ext cx="876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交付物：core/docs/wasp1_core_design.pptx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7B60E0-6333-4209-9BEE-5FA19017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913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wasp1 / core design explanation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391805-B658-4EBB-A92D-999A63B5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6591300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9959181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2026-06-18T11:21:11.8890000Z</dcterms:created>
  <dcterms:modified xsi:type="dcterms:W3CDTF">2026-06-18T11:21:11.8890000Z</dcterms:modified>
</coreProperties>
</file>