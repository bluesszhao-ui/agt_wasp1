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cae0b48b984204" /><Relationship Type="http://schemas.openxmlformats.org/officeDocument/2006/relationships/extended-properties" Target="/docProps/app.xml" Id="R37cced9c809c4b1a" /><Relationship Type="http://schemas.openxmlformats.org/officeDocument/2006/relationships/officeDocument" Target="/ppt/presentation.xml" Id="Rac82ce54492044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2add77d4bd4476"/>
  </p:sldMasterIdLst>
  <p:notesMasterIdLst>
    <p:notesMasterId xmlns:r="http://schemas.openxmlformats.org/officeDocument/2006/relationships" r:id="Rc4e6defe9fb54861"/>
  </p:notesMasterIdLst>
  <p:sldIdLst>
    <p:sldId xmlns:r="http://schemas.openxmlformats.org/officeDocument/2006/relationships" id="256" r:id="R155d772d68344156"/>
    <p:sldId xmlns:r="http://schemas.openxmlformats.org/officeDocument/2006/relationships" id="257" r:id="R35d9c17feb2d44f4"/>
    <p:sldId xmlns:r="http://schemas.openxmlformats.org/officeDocument/2006/relationships" id="258" r:id="R8fe179f3c9514979"/>
    <p:sldId xmlns:r="http://schemas.openxmlformats.org/officeDocument/2006/relationships" id="259" r:id="R5d9f2bc9f8274274"/>
    <p:sldId xmlns:r="http://schemas.openxmlformats.org/officeDocument/2006/relationships" id="260" r:id="Rbfb978360cff4bd6"/>
    <p:sldId xmlns:r="http://schemas.openxmlformats.org/officeDocument/2006/relationships" id="261" r:id="R3938107daf7741d5"/>
    <p:sldId xmlns:r="http://schemas.openxmlformats.org/officeDocument/2006/relationships" id="262" r:id="Rbb73899a26d148aa"/>
    <p:sldId xmlns:r="http://schemas.openxmlformats.org/officeDocument/2006/relationships" id="263" r:id="Red49623899b74ab7"/>
    <p:sldId xmlns:r="http://schemas.openxmlformats.org/officeDocument/2006/relationships" id="264" r:id="R45b0439e040d4a19"/>
    <p:sldId xmlns:r="http://schemas.openxmlformats.org/officeDocument/2006/relationships" id="265" r:id="Rd4c6d60923594779"/>
    <p:sldId xmlns:r="http://schemas.openxmlformats.org/officeDocument/2006/relationships" id="266" r:id="R25ed06e8b8a241e5"/>
    <p:sldId xmlns:r="http://schemas.openxmlformats.org/officeDocument/2006/relationships" id="267" r:id="Rbe57bd31358742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2d9b0581444a26" /><Relationship Type="http://schemas.openxmlformats.org/officeDocument/2006/relationships/slideMaster" Target="/ppt/slideMasters/slideMaster1.xml" Id="R4f2add77d4bd4476" /><Relationship Type="http://schemas.openxmlformats.org/officeDocument/2006/relationships/notesMaster" Target="/ppt/notesMasters/notesMaster1.xml" Id="Rc4e6defe9fb54861" /><Relationship Type="http://schemas.openxmlformats.org/officeDocument/2006/relationships/presProps" Target="/ppt/presProps.xml" Id="Rec4fdf2ca95c4370" /><Relationship Type="http://schemas.openxmlformats.org/officeDocument/2006/relationships/tableStyles" Target="/ppt/tableStyles.xml" Id="R174fd10968ed4e23" /><Relationship Type="http://schemas.openxmlformats.org/officeDocument/2006/relationships/slide" Target="/ppt/slides/slide1.xml" Id="R155d772d68344156" /><Relationship Type="http://schemas.openxmlformats.org/officeDocument/2006/relationships/slide" Target="/ppt/slides/slide2.xml" Id="R35d9c17feb2d44f4" /><Relationship Type="http://schemas.openxmlformats.org/officeDocument/2006/relationships/slide" Target="/ppt/slides/slide3.xml" Id="R8fe179f3c9514979" /><Relationship Type="http://schemas.openxmlformats.org/officeDocument/2006/relationships/slide" Target="/ppt/slides/slide4.xml" Id="R5d9f2bc9f8274274" /><Relationship Type="http://schemas.openxmlformats.org/officeDocument/2006/relationships/slide" Target="/ppt/slides/slide5.xml" Id="Rbfb978360cff4bd6" /><Relationship Type="http://schemas.openxmlformats.org/officeDocument/2006/relationships/slide" Target="/ppt/slides/slide6.xml" Id="R3938107daf7741d5" /><Relationship Type="http://schemas.openxmlformats.org/officeDocument/2006/relationships/slide" Target="/ppt/slides/slide7.xml" Id="Rbb73899a26d148aa" /><Relationship Type="http://schemas.openxmlformats.org/officeDocument/2006/relationships/slide" Target="/ppt/slides/slide8.xml" Id="Red49623899b74ab7" /><Relationship Type="http://schemas.openxmlformats.org/officeDocument/2006/relationships/slide" Target="/ppt/slides/slide9.xml" Id="R45b0439e040d4a19" /><Relationship Type="http://schemas.openxmlformats.org/officeDocument/2006/relationships/slide" Target="/ppt/slides/slide10.xml" Id="Rd4c6d60923594779" /><Relationship Type="http://schemas.openxmlformats.org/officeDocument/2006/relationships/slide" Target="/ppt/slides/slide11.xml" Id="R25ed06e8b8a241e5" /><Relationship Type="http://schemas.openxmlformats.org/officeDocument/2006/relationships/slide" Target="/ppt/slides/slide12.xml" Id="Rbe57bd31358742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791e2a9184f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894bba36b04359" /><Relationship Type="http://schemas.openxmlformats.org/officeDocument/2006/relationships/notesMaster" Target="/ppt/notesMasters/notesMaster1.xml" Id="R7ad72184c2bf49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906fe2e87e4f3a" /><Relationship Type="http://schemas.openxmlformats.org/officeDocument/2006/relationships/notesMaster" Target="/ppt/notesMasters/notesMaster1.xml" Id="Ra75b7e2c065449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6a99af31ae4679" /><Relationship Type="http://schemas.openxmlformats.org/officeDocument/2006/relationships/notesMaster" Target="/ppt/notesMasters/notesMaster1.xml" Id="R81d0e60a073d43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34749ced3d400a" /><Relationship Type="http://schemas.openxmlformats.org/officeDocument/2006/relationships/notesMaster" Target="/ppt/notesMasters/notesMaster1.xml" Id="R3c571692775741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aeab07696f4f3f" /><Relationship Type="http://schemas.openxmlformats.org/officeDocument/2006/relationships/notesMaster" Target="/ppt/notesMasters/notesMaster1.xml" Id="Rdc4809d7786447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bfe873f69d44d7" /><Relationship Type="http://schemas.openxmlformats.org/officeDocument/2006/relationships/notesMaster" Target="/ppt/notesMasters/notesMaster1.xml" Id="R576af87ca2804c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c48f7cfab64145" /><Relationship Type="http://schemas.openxmlformats.org/officeDocument/2006/relationships/notesMaster" Target="/ppt/notesMasters/notesMaster1.xml" Id="Rd5e7e7a1a8a546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b1e83eed2440e5" /><Relationship Type="http://schemas.openxmlformats.org/officeDocument/2006/relationships/notesMaster" Target="/ppt/notesMasters/notesMaster1.xml" Id="R9754ccff1b524b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ad0b54fbcf4f20" /><Relationship Type="http://schemas.openxmlformats.org/officeDocument/2006/relationships/notesMaster" Target="/ppt/notesMasters/notesMaster1.xml" Id="Re06833f64dea43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e786773a714652" /><Relationship Type="http://schemas.openxmlformats.org/officeDocument/2006/relationships/notesMaster" Target="/ppt/notesMasters/notesMaster1.xml" Id="R27ef83931e974e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5898cb03544763" /><Relationship Type="http://schemas.openxmlformats.org/officeDocument/2006/relationships/notesMaster" Target="/ppt/notesMasters/notesMaster1.xml" Id="Rc583fa6619fa45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b2b1bd3bc24971" /><Relationship Type="http://schemas.openxmlformats.org/officeDocument/2006/relationships/notesMaster" Target="/ppt/notesMasters/notesMaster1.xml" Id="Rc990fa28228641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fda7330f6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41d29e19bc44f6" /><Relationship Type="http://schemas.openxmlformats.org/officeDocument/2006/relationships/slideLayout" Target="/ppt/slideLayouts/slideLayout1.xml" Id="R31f992b18d2e49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f992b18d2e49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8b663dc9f4362" /><Relationship Type="http://schemas.openxmlformats.org/officeDocument/2006/relationships/notesSlide" Target="/ppt/notesSlides/notesSlide1.xml" Id="R6ba9004cfd044f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942b6ca394ede" /><Relationship Type="http://schemas.openxmlformats.org/officeDocument/2006/relationships/notesSlide" Target="/ppt/notesSlides/notesSlide2.xml" Id="R7267b1dce20b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1ded7da6e42ff" /><Relationship Type="http://schemas.openxmlformats.org/officeDocument/2006/relationships/notesSlide" Target="/ppt/notesSlides/notesSlide3.xml" Id="R9ed5d29c2dcd45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ba213c39b46e6" /><Relationship Type="http://schemas.openxmlformats.org/officeDocument/2006/relationships/notesSlide" Target="/ppt/notesSlides/notesSlide4.xml" Id="R7e89594764df40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325b835324fcb" /><Relationship Type="http://schemas.openxmlformats.org/officeDocument/2006/relationships/notesSlide" Target="/ppt/notesSlides/notesSlide5.xml" Id="R6d7280e0dc0d48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41677488d469a" /><Relationship Type="http://schemas.openxmlformats.org/officeDocument/2006/relationships/notesSlide" Target="/ppt/notesSlides/notesSlide6.xml" Id="R60a80b69941347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efa40d2394c4c" /><Relationship Type="http://schemas.openxmlformats.org/officeDocument/2006/relationships/notesSlide" Target="/ppt/notesSlides/notesSlide7.xml" Id="R66fcd1c5cf584f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170e63de34d41" /><Relationship Type="http://schemas.openxmlformats.org/officeDocument/2006/relationships/notesSlide" Target="/ppt/notesSlides/notesSlide8.xml" Id="Re8aa7141454149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d8af4fad842a7" /><Relationship Type="http://schemas.openxmlformats.org/officeDocument/2006/relationships/notesSlide" Target="/ppt/notesSlides/notesSlide9.xml" Id="R2f5ac90665a545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67f4493f34426" /><Relationship Type="http://schemas.openxmlformats.org/officeDocument/2006/relationships/notesSlide" Target="/ppt/notesSlides/notesSlide10.xml" Id="Rf8f886dac26140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a2e40e4674e2e" /><Relationship Type="http://schemas.openxmlformats.org/officeDocument/2006/relationships/notesSlide" Target="/ppt/notesSlides/notesSlide11.xml" Id="Rc4a20632d8924d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4ddfe74834360" /><Relationship Type="http://schemas.openxmlformats.org/officeDocument/2006/relationships/notesSlide" Target="/ppt/notesSlides/notesSlide12.xml" Id="Rcb2464e908434f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D1D8589-2584-40FB-AFA2-90918C65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A5A5A"/>
                </a:solidFill>
              </a:defRPr>
            </a:pPr>
            <a:r>
              <a:rPr sz="1350" b="1">
                <a:solidFill>
                  <a:srgbClr val="5A5A5A"/>
                </a:solidFill>
              </a:rPr>
              <a:t>wasp1 / peripheral leaf / AHB-Lite slave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DF52737-C705-4B4F-A3A8-DC6E8941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I2C Master</a:t>
            </a:r>
          </a:p>
          <a:p xmlns:a="http://schemas.openxmlformats.org/drawingml/2006/main">
            <a:pPr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Design PPT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81A362C5-4AC0-4C14-81A6-04851767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5A5A"/>
                </a:solidFill>
              </a:defRPr>
            </a:pPr>
            <a:r>
              <a:rPr sz="1650">
                <a:solidFill>
                  <a:srgbClr val="5A5A5A"/>
                </a:solidFill>
              </a:rPr>
              <a:t>最小 single-master I2C 控制器：AHB 寄存器、byte FSM、prescale divider、open-drain SCL/SDA drive enables，以及自检查验证。</a:t>
            </a:r>
          </a:p>
        </p:txBody>
      </p:sp>
      <p:sp>
        <p:nvSpPr>
          <p:cNvPr id="4" name="cover-ahb">
            <a:extLst xmlns:a="http://schemas.openxmlformats.org/drawingml/2006/main">
              <a:ext uri="{FF2B5EF4-FFF2-40B4-BE49-F238E27FC236}">
                <a16:creationId xmlns:a16="http://schemas.microsoft.com/office/drawing/2014/main" id="{F8CCD65F-971C-45B0-B977-03DE77FE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AHB-Lite slave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register access</a:t>
            </a:r>
          </a:p>
        </p:txBody>
      </p:sp>
      <p:sp>
        <p:nvSpPr>
          <p:cNvPr id="5" name="cover-regs">
            <a:extLst xmlns:a="http://schemas.openxmlformats.org/drawingml/2006/main">
              <a:ext uri="{FF2B5EF4-FFF2-40B4-BE49-F238E27FC236}">
                <a16:creationId xmlns:a16="http://schemas.microsoft.com/office/drawing/2014/main" id="{19C8A616-A380-4669-9687-8811EB2E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software 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DATA/STATUS/CTRL</a:t>
            </a:r>
          </a:p>
        </p:txBody>
      </p:sp>
      <p:sp>
        <p:nvSpPr>
          <p:cNvPr id="6" name="cover-fsm">
            <a:extLst xmlns:a="http://schemas.openxmlformats.org/drawingml/2006/main">
              <a:ext uri="{FF2B5EF4-FFF2-40B4-BE49-F238E27FC236}">
                <a16:creationId xmlns:a16="http://schemas.microsoft.com/office/drawing/2014/main" id="{509FEAC1-1F37-4188-9782-A6591BD6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I2C byte FSM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START/BIT/ACK/STOP</a:t>
            </a:r>
          </a:p>
        </p:txBody>
      </p:sp>
      <p:sp>
        <p:nvSpPr>
          <p:cNvPr id="7" name="cover-od">
            <a:extLst xmlns:a="http://schemas.openxmlformats.org/drawingml/2006/main">
              <a:ext uri="{FF2B5EF4-FFF2-40B4-BE49-F238E27FC236}">
                <a16:creationId xmlns:a16="http://schemas.microsoft.com/office/drawing/2014/main" id="{ECA51DFC-71CC-48DE-A450-A2E38680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open-drain decode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SCL/SDA OE only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048750" y="1762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9525000" y="2190750"/>
            <a:ext cx="100012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525000" y="40957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1" name="tag-editable native PowerPoint shapes">
            <a:extLst xmlns:a="http://schemas.openxmlformats.org/drawingml/2006/main">
              <a:ext uri="{FF2B5EF4-FFF2-40B4-BE49-F238E27FC236}">
                <a16:creationId xmlns:a16="http://schemas.microsoft.com/office/drawing/2014/main" id="{05C74B4D-7A9F-48C9-808C-A80C54F1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editable native PowerPoint shapes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063E0CD8-AC8A-437F-AD18-8CD6A06D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38107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9E0E5F6-C06C-4689-BFF8-89B617B8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79A483-E600-437E-AA2B-693ACFA3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设计目标与非目标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63DC428-3847-48BA-BDFF-33AF2683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把 I2C 做成可验证、可综合、对软件清晰的最小主控外设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A100383-DA0F-45F7-BA1A-9D1BDAF3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als">
            <a:extLst xmlns:a="http://schemas.openxmlformats.org/drawingml/2006/main">
              <a:ext uri="{FF2B5EF4-FFF2-40B4-BE49-F238E27FC236}">
                <a16:creationId xmlns:a16="http://schemas.microsoft.com/office/drawing/2014/main" id="{85573BCC-D9FD-42FD-86D6-ECABBC91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953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single-master，一次 CMD 写启动一个 8-bit byte transaction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AHB-Lite always-ready slave，地址相位后一拍返回 data/response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软件配置 START/READ/STOP/ACK_VALUE，DATA 承载 TX/RX byte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SCL/SDA 只提供低电平 drive enable，高电平由外部 pull-up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不实现 multi-master arbitration、clock stretching 和 pad 签核</a:t>
            </a:r>
          </a:p>
        </p:txBody>
      </p:sp>
      <p:sp>
        <p:nvSpPr>
          <p:cNvPr id="6" name="goal-ahb">
            <a:extLst xmlns:a="http://schemas.openxmlformats.org/drawingml/2006/main">
              <a:ext uri="{FF2B5EF4-FFF2-40B4-BE49-F238E27FC236}">
                <a16:creationId xmlns:a16="http://schemas.microsoft.com/office/drawing/2014/main" id="{449EF83C-71FB-487C-A057-0A1E6B35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software-visible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 registers</a:t>
            </a:r>
          </a:p>
        </p:txBody>
      </p:sp>
      <p:sp>
        <p:nvSpPr>
          <p:cNvPr id="7" name="goal-fsm">
            <a:extLst xmlns:a="http://schemas.openxmlformats.org/drawingml/2006/main">
              <a:ext uri="{FF2B5EF4-FFF2-40B4-BE49-F238E27FC236}">
                <a16:creationId xmlns:a16="http://schemas.microsoft.com/office/drawing/2014/main" id="{24C8B6DC-3AA7-4F7D-A46E-1B2610D9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byte FSM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one byte per CMD</a:t>
            </a:r>
          </a:p>
        </p:txBody>
      </p:sp>
      <p:sp>
        <p:nvSpPr>
          <p:cNvPr id="8" name="goal-od">
            <a:extLst xmlns:a="http://schemas.openxmlformats.org/drawingml/2006/main">
              <a:ext uri="{FF2B5EF4-FFF2-40B4-BE49-F238E27FC236}">
                <a16:creationId xmlns:a16="http://schemas.microsoft.com/office/drawing/2014/main" id="{0D3A8D41-5EC2-431C-B734-E7D63736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open-drain policy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OE means drive low</a:t>
            </a:r>
          </a:p>
        </p:txBody>
      </p:sp>
      <p:sp>
        <p:nvSpPr>
          <p:cNvPr id="9" name="goal-pad">
            <a:extLst xmlns:a="http://schemas.openxmlformats.org/drawingml/2006/main">
              <a:ext uri="{FF2B5EF4-FFF2-40B4-BE49-F238E27FC236}">
                <a16:creationId xmlns:a16="http://schemas.microsoft.com/office/drawing/2014/main" id="{9E758E6D-57A0-429B-AE91-CB04F1BE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57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external pull-ups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board/pad domain</a:t>
            </a:r>
          </a:p>
        </p:txBody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63000" y="2381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762875" y="2809875"/>
            <a:ext cx="24765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63000" y="4286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3" name="footer-2">
            <a:extLst xmlns:a="http://schemas.openxmlformats.org/drawingml/2006/main">
              <a:ext uri="{FF2B5EF4-FFF2-40B4-BE49-F238E27FC236}">
                <a16:creationId xmlns:a16="http://schemas.microsoft.com/office/drawing/2014/main" id="{FC596B7B-72C6-4707-966D-043498A0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8295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F5C6E27-06D4-44AA-B9CA-B0B09DE1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8F6684-C4B2-4215-8ECB-C8C91925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模块总体结构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98FEFA1-8B23-4B44-B8D3-108B6D04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AHB 寄存器面和 I2C bit/ACK/STOP 时序面分离，组合 open-drain decode 输出到 pad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B80974-1121-4651-BF39-0684F640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rch-ahb">
            <a:extLst xmlns:a="http://schemas.openxmlformats.org/drawingml/2006/main">
              <a:ext uri="{FF2B5EF4-FFF2-40B4-BE49-F238E27FC236}">
                <a16:creationId xmlns:a16="http://schemas.microsoft.com/office/drawing/2014/main" id="{A1566490-6B05-43BB-8C43-A1377E3B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 bus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hsel/haddr/htrans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hwrite/hsize/hwdata</a:t>
            </a:r>
          </a:p>
        </p:txBody>
      </p:sp>
      <p:sp>
        <p:nvSpPr>
          <p:cNvPr id="6" name="arch-dec">
            <a:extLst xmlns:a="http://schemas.openxmlformats.org/drawingml/2006/main">
              <a:ext uri="{FF2B5EF4-FFF2-40B4-BE49-F238E27FC236}">
                <a16:creationId xmlns:a16="http://schemas.microsoft.com/office/drawing/2014/main" id="{4D481F34-0AE0-464E-86A1-0590677D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address decode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range/alignment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known offset</a:t>
            </a:r>
          </a:p>
        </p:txBody>
      </p:sp>
      <p:sp>
        <p:nvSpPr>
          <p:cNvPr id="7" name="arch-req">
            <a:extLst xmlns:a="http://schemas.openxmlformats.org/drawingml/2006/main">
              <a:ext uri="{FF2B5EF4-FFF2-40B4-BE49-F238E27FC236}">
                <a16:creationId xmlns:a16="http://schemas.microsoft.com/office/drawing/2014/main" id="{464A8EF3-1D68-4D3E-85E7-F29A59B3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1857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request phase 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clk=hclk_i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rst=hresetn_i</a:t>
            </a:r>
          </a:p>
        </p:txBody>
      </p:sp>
      <p:sp>
        <p:nvSpPr>
          <p:cNvPr id="8" name="arch-regs">
            <a:extLst xmlns:a="http://schemas.openxmlformats.org/drawingml/2006/main">
              <a:ext uri="{FF2B5EF4-FFF2-40B4-BE49-F238E27FC236}">
                <a16:creationId xmlns:a16="http://schemas.microsoft.com/office/drawing/2014/main" id="{465072EE-A310-4737-BA51-EA89E18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000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software 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enable irq prescale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tx/rx/status/cmd</a:t>
            </a:r>
          </a:p>
        </p:txBody>
      </p:sp>
      <p:sp>
        <p:nvSpPr>
          <p:cNvPr id="9" name="arch-fsm">
            <a:extLst xmlns:a="http://schemas.openxmlformats.org/drawingml/2006/main">
              <a:ext uri="{FF2B5EF4-FFF2-40B4-BE49-F238E27FC236}">
                <a16:creationId xmlns:a16="http://schemas.microsoft.com/office/drawing/2014/main" id="{75D7A846-800F-4ABF-A876-137735C7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000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I2C byte FSM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START BIT ACK STOP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divider tick</a:t>
            </a:r>
          </a:p>
        </p:txBody>
      </p:sp>
      <p:sp>
        <p:nvSpPr>
          <p:cNvPr id="10" name="arch-out">
            <a:extLst xmlns:a="http://schemas.openxmlformats.org/drawingml/2006/main">
              <a:ext uri="{FF2B5EF4-FFF2-40B4-BE49-F238E27FC236}">
                <a16:creationId xmlns:a16="http://schemas.microsoft.com/office/drawing/2014/main" id="{C889912A-836B-4E35-9CA3-AA39C75C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1762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read/status/output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HRDATA/HRESP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IRQ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SCL/SDA OE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381250" y="2595563"/>
            <a:ext cx="523875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14875" y="25955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143750" y="2214563"/>
            <a:ext cx="666750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810625" y="28098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10750" y="2214563"/>
            <a:ext cx="285750" cy="1071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9810750" y="3286125"/>
            <a:ext cx="285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7" name="tag-software register plane">
            <a:extLst xmlns:a="http://schemas.openxmlformats.org/drawingml/2006/main">
              <a:ext uri="{FF2B5EF4-FFF2-40B4-BE49-F238E27FC236}">
                <a16:creationId xmlns:a16="http://schemas.microsoft.com/office/drawing/2014/main" id="{4CD46866-24BC-4048-B88B-870CD71D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2192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software register plane</a:t>
            </a:r>
          </a:p>
        </p:txBody>
      </p:sp>
      <p:sp>
        <p:nvSpPr>
          <p:cNvPr id="18" name="tag-serial timing plane">
            <a:extLst xmlns:a="http://schemas.openxmlformats.org/drawingml/2006/main">
              <a:ext uri="{FF2B5EF4-FFF2-40B4-BE49-F238E27FC236}">
                <a16:creationId xmlns:a16="http://schemas.microsoft.com/office/drawing/2014/main" id="{66B26E4E-D1F5-47E6-B6E8-7CA53496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197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serial timing plane</a:t>
            </a:r>
          </a:p>
        </p:txBody>
      </p:sp>
      <p:sp>
        <p:nvSpPr>
          <p:cNvPr id="19" name="footer-3">
            <a:extLst xmlns:a="http://schemas.openxmlformats.org/drawingml/2006/main">
              <a:ext uri="{FF2B5EF4-FFF2-40B4-BE49-F238E27FC236}">
                <a16:creationId xmlns:a16="http://schemas.microsoft.com/office/drawing/2014/main" id="{9E4CFE82-F1A1-416D-80D1-DA79177D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0935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05235E9-905E-4014-B30D-8F1C69DE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B4CCA9-BB57-417E-BCC3-5964959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软件寄存器与命令模型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434C9B1-133E-4820-9B71-48BEF6AB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寄存器面足够小：DATA/STATUS/CTRL/PRESCALE/CMD 覆盖一个 byte transaction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A90E4B-F67F-451C-8231-37E54E9C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gmap-h-0">
            <a:extLst xmlns:a="http://schemas.openxmlformats.org/drawingml/2006/main">
              <a:ext uri="{FF2B5EF4-FFF2-40B4-BE49-F238E27FC236}">
                <a16:creationId xmlns:a16="http://schemas.microsoft.com/office/drawing/2014/main" id="{1060B75C-F6C0-42DA-9A66-5E7B84D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Offset</a:t>
            </a:r>
          </a:p>
        </p:txBody>
      </p:sp>
      <p:sp>
        <p:nvSpPr>
          <p:cNvPr id="6" name="regmap-h-1">
            <a:extLst xmlns:a="http://schemas.openxmlformats.org/drawingml/2006/main">
              <a:ext uri="{FF2B5EF4-FFF2-40B4-BE49-F238E27FC236}">
                <a16:creationId xmlns:a16="http://schemas.microsoft.com/office/drawing/2014/main" id="{ADAC2795-C575-4050-8857-C6B692D3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19526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7" name="regmap-h-2">
            <a:extLst xmlns:a="http://schemas.openxmlformats.org/drawingml/2006/main">
              <a:ext uri="{FF2B5EF4-FFF2-40B4-BE49-F238E27FC236}">
                <a16:creationId xmlns:a16="http://schemas.microsoft.com/office/drawing/2014/main" id="{DE4BC974-7A27-4539-88B6-870B73D6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526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Access</a:t>
            </a:r>
          </a:p>
        </p:txBody>
      </p:sp>
      <p:sp>
        <p:nvSpPr>
          <p:cNvPr id="8" name="regmap-h-3">
            <a:extLst xmlns:a="http://schemas.openxmlformats.org/drawingml/2006/main">
              <a:ext uri="{FF2B5EF4-FFF2-40B4-BE49-F238E27FC236}">
                <a16:creationId xmlns:a16="http://schemas.microsoft.com/office/drawing/2014/main" id="{C1E5E761-7B2D-44A2-8F9F-47954DB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813" y="19526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9" name="regmap-0-0">
            <a:extLst xmlns:a="http://schemas.openxmlformats.org/drawingml/2006/main">
              <a:ext uri="{FF2B5EF4-FFF2-40B4-BE49-F238E27FC236}">
                <a16:creationId xmlns:a16="http://schemas.microsoft.com/office/drawing/2014/main" id="{2CCFAA4A-486D-4C7C-ABA8-1EED9E98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0x00</a:t>
            </a:r>
          </a:p>
        </p:txBody>
      </p:sp>
      <p:sp>
        <p:nvSpPr>
          <p:cNvPr id="10" name="regmap-0-1">
            <a:extLst xmlns:a="http://schemas.openxmlformats.org/drawingml/2006/main">
              <a:ext uri="{FF2B5EF4-FFF2-40B4-BE49-F238E27FC236}">
                <a16:creationId xmlns:a16="http://schemas.microsoft.com/office/drawing/2014/main" id="{6F4C354B-E177-417C-A3EC-CB235614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25050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DATA</a:t>
            </a:r>
          </a:p>
        </p:txBody>
      </p:sp>
      <p:sp>
        <p:nvSpPr>
          <p:cNvPr id="11" name="regmap-0-2">
            <a:extLst xmlns:a="http://schemas.openxmlformats.org/drawingml/2006/main">
              <a:ext uri="{FF2B5EF4-FFF2-40B4-BE49-F238E27FC236}">
                <a16:creationId xmlns:a16="http://schemas.microsoft.com/office/drawing/2014/main" id="{F8B34AB5-4F40-44DC-A266-3817C92A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050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RW/RO</a:t>
            </a:r>
          </a:p>
        </p:txBody>
      </p:sp>
      <p:sp>
        <p:nvSpPr>
          <p:cNvPr id="12" name="regmap-0-3">
            <a:extLst xmlns:a="http://schemas.openxmlformats.org/drawingml/2006/main">
              <a:ext uri="{FF2B5EF4-FFF2-40B4-BE49-F238E27FC236}">
                <a16:creationId xmlns:a16="http://schemas.microsoft.com/office/drawing/2014/main" id="{562EE775-AFD3-425E-8F6E-80FCCDA8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813" y="25050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write TX byte; read last RX byte</a:t>
            </a:r>
          </a:p>
        </p:txBody>
      </p:sp>
      <p:sp>
        <p:nvSpPr>
          <p:cNvPr id="13" name="regmap-1-0">
            <a:extLst xmlns:a="http://schemas.openxmlformats.org/drawingml/2006/main">
              <a:ext uri="{FF2B5EF4-FFF2-40B4-BE49-F238E27FC236}">
                <a16:creationId xmlns:a16="http://schemas.microsoft.com/office/drawing/2014/main" id="{C60667DC-B911-4630-A5A8-074F2061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0x04</a:t>
            </a:r>
          </a:p>
        </p:txBody>
      </p:sp>
      <p:sp>
        <p:nvSpPr>
          <p:cNvPr id="14" name="regmap-1-1">
            <a:extLst xmlns:a="http://schemas.openxmlformats.org/drawingml/2006/main">
              <a:ext uri="{FF2B5EF4-FFF2-40B4-BE49-F238E27FC236}">
                <a16:creationId xmlns:a16="http://schemas.microsoft.com/office/drawing/2014/main" id="{AE96E403-4007-423F-9C0E-B6CE204B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30575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STATUS</a:t>
            </a:r>
          </a:p>
        </p:txBody>
      </p:sp>
      <p:sp>
        <p:nvSpPr>
          <p:cNvPr id="15" name="regmap-1-2">
            <a:extLst xmlns:a="http://schemas.openxmlformats.org/drawingml/2006/main">
              <a:ext uri="{FF2B5EF4-FFF2-40B4-BE49-F238E27FC236}">
                <a16:creationId xmlns:a16="http://schemas.microsoft.com/office/drawing/2014/main" id="{27B55D50-D6A6-41B7-A1A3-BD53536B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575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RO</a:t>
            </a:r>
          </a:p>
        </p:txBody>
      </p:sp>
      <p:sp>
        <p:nvSpPr>
          <p:cNvPr id="16" name="regmap-1-3">
            <a:extLst xmlns:a="http://schemas.openxmlformats.org/drawingml/2006/main">
              <a:ext uri="{FF2B5EF4-FFF2-40B4-BE49-F238E27FC236}">
                <a16:creationId xmlns:a16="http://schemas.microsoft.com/office/drawing/2014/main" id="{B63D041C-0A43-42B8-B81C-996A3E06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813" y="30575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busy, done, ackerr, rx_valid, irq</a:t>
            </a:r>
          </a:p>
        </p:txBody>
      </p:sp>
      <p:sp>
        <p:nvSpPr>
          <p:cNvPr id="17" name="regmap-2-0">
            <a:extLst xmlns:a="http://schemas.openxmlformats.org/drawingml/2006/main">
              <a:ext uri="{FF2B5EF4-FFF2-40B4-BE49-F238E27FC236}">
                <a16:creationId xmlns:a16="http://schemas.microsoft.com/office/drawing/2014/main" id="{E7BC18AB-5DD7-4361-95B4-960E87E9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0x08</a:t>
            </a:r>
          </a:p>
        </p:txBody>
      </p:sp>
      <p:sp>
        <p:nvSpPr>
          <p:cNvPr id="18" name="regmap-2-1">
            <a:extLst xmlns:a="http://schemas.openxmlformats.org/drawingml/2006/main">
              <a:ext uri="{FF2B5EF4-FFF2-40B4-BE49-F238E27FC236}">
                <a16:creationId xmlns:a16="http://schemas.microsoft.com/office/drawing/2014/main" id="{41B45B40-8ED4-4301-BBFB-E645472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36099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CTRL</a:t>
            </a:r>
          </a:p>
        </p:txBody>
      </p:sp>
      <p:sp>
        <p:nvSpPr>
          <p:cNvPr id="19" name="regmap-2-2">
            <a:extLst xmlns:a="http://schemas.openxmlformats.org/drawingml/2006/main">
              <a:ext uri="{FF2B5EF4-FFF2-40B4-BE49-F238E27FC236}">
                <a16:creationId xmlns:a16="http://schemas.microsoft.com/office/drawing/2014/main" id="{12E913E1-B50B-4A54-BC54-4BF5C6D5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099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RW</a:t>
            </a:r>
          </a:p>
        </p:txBody>
      </p:sp>
      <p:sp>
        <p:nvSpPr>
          <p:cNvPr id="20" name="regmap-2-3">
            <a:extLst xmlns:a="http://schemas.openxmlformats.org/drawingml/2006/main">
              <a:ext uri="{FF2B5EF4-FFF2-40B4-BE49-F238E27FC236}">
                <a16:creationId xmlns:a16="http://schemas.microsoft.com/office/drawing/2014/main" id="{F1EBC09E-1A8F-43B5-95C7-14E4864E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813" y="36099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enable, irq_en, write-one clear</a:t>
            </a:r>
          </a:p>
        </p:txBody>
      </p:sp>
      <p:sp>
        <p:nvSpPr>
          <p:cNvPr id="21" name="regmap-3-0">
            <a:extLst xmlns:a="http://schemas.openxmlformats.org/drawingml/2006/main">
              <a:ext uri="{FF2B5EF4-FFF2-40B4-BE49-F238E27FC236}">
                <a16:creationId xmlns:a16="http://schemas.microsoft.com/office/drawing/2014/main" id="{F8BE6C49-6732-446A-BC6A-A1FCF05A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0x0C</a:t>
            </a:r>
          </a:p>
        </p:txBody>
      </p:sp>
      <p:sp>
        <p:nvSpPr>
          <p:cNvPr id="22" name="regmap-3-1">
            <a:extLst xmlns:a="http://schemas.openxmlformats.org/drawingml/2006/main">
              <a:ext uri="{FF2B5EF4-FFF2-40B4-BE49-F238E27FC236}">
                <a16:creationId xmlns:a16="http://schemas.microsoft.com/office/drawing/2014/main" id="{D7E8D1B2-D434-4C76-A047-3EFB8001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41624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PRESCALE</a:t>
            </a:r>
          </a:p>
        </p:txBody>
      </p:sp>
      <p:sp>
        <p:nvSpPr>
          <p:cNvPr id="23" name="regmap-3-2">
            <a:extLst xmlns:a="http://schemas.openxmlformats.org/drawingml/2006/main">
              <a:ext uri="{FF2B5EF4-FFF2-40B4-BE49-F238E27FC236}">
                <a16:creationId xmlns:a16="http://schemas.microsoft.com/office/drawing/2014/main" id="{33E1C42B-B64C-4419-9F90-1C309AB5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624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RW</a:t>
            </a:r>
          </a:p>
        </p:txBody>
      </p:sp>
      <p:sp>
        <p:nvSpPr>
          <p:cNvPr id="24" name="regmap-3-3">
            <a:extLst xmlns:a="http://schemas.openxmlformats.org/drawingml/2006/main">
              <a:ext uri="{FF2B5EF4-FFF2-40B4-BE49-F238E27FC236}">
                <a16:creationId xmlns:a16="http://schemas.microsoft.com/office/drawing/2014/main" id="{34E7722E-DD30-4284-9E99-18C67AF1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813" y="416242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16-bit phase divider reload</a:t>
            </a:r>
          </a:p>
        </p:txBody>
      </p:sp>
      <p:sp>
        <p:nvSpPr>
          <p:cNvPr id="25" name="regmap-4-0">
            <a:extLst xmlns:a="http://schemas.openxmlformats.org/drawingml/2006/main">
              <a:ext uri="{FF2B5EF4-FFF2-40B4-BE49-F238E27FC236}">
                <a16:creationId xmlns:a16="http://schemas.microsoft.com/office/drawing/2014/main" id="{6CF9D88B-208E-4DB5-AD52-D45CA0B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0x10</a:t>
            </a:r>
          </a:p>
        </p:txBody>
      </p:sp>
      <p:sp>
        <p:nvSpPr>
          <p:cNvPr id="26" name="regmap-4-1">
            <a:extLst xmlns:a="http://schemas.openxmlformats.org/drawingml/2006/main">
              <a:ext uri="{FF2B5EF4-FFF2-40B4-BE49-F238E27FC236}">
                <a16:creationId xmlns:a16="http://schemas.microsoft.com/office/drawing/2014/main" id="{9335664C-B3E9-406C-BDC2-863CCA76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47148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CMD</a:t>
            </a:r>
          </a:p>
        </p:txBody>
      </p:sp>
      <p:sp>
        <p:nvSpPr>
          <p:cNvPr id="27" name="regmap-4-2">
            <a:extLst xmlns:a="http://schemas.openxmlformats.org/drawingml/2006/main">
              <a:ext uri="{FF2B5EF4-FFF2-40B4-BE49-F238E27FC236}">
                <a16:creationId xmlns:a16="http://schemas.microsoft.com/office/drawing/2014/main" id="{9A94B431-6642-4603-887D-7D2DD49B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148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WO</a:t>
            </a:r>
          </a:p>
        </p:txBody>
      </p:sp>
      <p:sp>
        <p:nvSpPr>
          <p:cNvPr id="28" name="regmap-4-3">
            <a:extLst xmlns:a="http://schemas.openxmlformats.org/drawingml/2006/main">
              <a:ext uri="{FF2B5EF4-FFF2-40B4-BE49-F238E27FC236}">
                <a16:creationId xmlns:a16="http://schemas.microsoft.com/office/drawing/2014/main" id="{11C7707A-9A45-45AE-A940-62ADB57E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813" y="4714875"/>
            <a:ext cx="159543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START, READ, STOP, ACK_VALUE</a:t>
            </a:r>
          </a:p>
        </p:txBody>
      </p:sp>
      <p:sp>
        <p:nvSpPr>
          <p:cNvPr id="29" name="cmd-bits">
            <a:extLst xmlns:a="http://schemas.openxmlformats.org/drawingml/2006/main">
              <a:ext uri="{FF2B5EF4-FFF2-40B4-BE49-F238E27FC236}">
                <a16:creationId xmlns:a16="http://schemas.microsoft.com/office/drawing/2014/main" id="{8B184822-050D-4568-846E-E6419643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CMD bits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START bit0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READ bit1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STOP bit2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ACK_VALUE bit3</a:t>
            </a:r>
          </a:p>
        </p:txBody>
      </p:sp>
      <p:sp>
        <p:nvSpPr>
          <p:cNvPr id="30" name="sw-model">
            <a:extLst xmlns:a="http://schemas.openxmlformats.org/drawingml/2006/main">
              <a:ext uri="{FF2B5EF4-FFF2-40B4-BE49-F238E27FC236}">
                <a16:creationId xmlns:a16="http://schemas.microsoft.com/office/drawing/2014/main" id="{980201DB-2486-4F44-8333-C31571BF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software flow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program DATA/PRESCALE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write CTRL enable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write CMD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poll STATUS/read DATA</a:t>
            </a:r>
          </a:p>
        </p:txBody>
      </p:sp>
      <p:cxnSp>
        <p:nvCxnSpPr>
          <p:cNvPr id="63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9048750" y="35242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2" name="footer-4">
            <a:extLst xmlns:a="http://schemas.openxmlformats.org/drawingml/2006/main">
              <a:ext uri="{FF2B5EF4-FFF2-40B4-BE49-F238E27FC236}">
                <a16:creationId xmlns:a16="http://schemas.microsoft.com/office/drawing/2014/main" id="{85F4BFC2-711E-4B70-B1CD-D63D021C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03481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3D6DA8E-8690-4F14-A693-EAEDE925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EE7C0D-0FA6-4FE2-AAAA-063DA37E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AHB-Lite 响应原理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04C5155-49C2-43E6-A94C-6C286766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always-ready 简化互连；地址相位 metadata 锁存到下一拍 response/data phase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7E2E660-27D1-47D3-AC6F-90F57B15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hb-text">
            <a:extLst xmlns:a="http://schemas.openxmlformats.org/drawingml/2006/main">
              <a:ext uri="{FF2B5EF4-FFF2-40B4-BE49-F238E27FC236}">
                <a16:creationId xmlns:a16="http://schemas.microsoft.com/office/drawing/2014/main" id="{8BBFEC25-19B8-4C02-B068-08E77E58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857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hready_o 固定为 1，模块不向 AHB 插入等待周期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addr phase 检查 hsel、htrans[1]、range、alignment、word size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req_valid_q/req_write_q/req_err_q/req_offset_q 保存一拍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read_data_next 由已锁存 offset 和当前寄存器状态组合产生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未知 offset、非法 size、busy/disabled CMD 返回 HRESP ERROR</a:t>
            </a:r>
          </a:p>
        </p:txBody>
      </p:sp>
      <p:sp>
        <p:nvSpPr>
          <p:cNvPr id="6" name="ahb-addr">
            <a:extLst xmlns:a="http://schemas.openxmlformats.org/drawingml/2006/main">
              <a:ext uri="{FF2B5EF4-FFF2-40B4-BE49-F238E27FC236}">
                <a16:creationId xmlns:a16="http://schemas.microsoft.com/office/drawing/2014/main" id="{DA2BA741-2853-4423-BE9D-5A3F51ED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 address phase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current bus pins</a:t>
            </a:r>
          </a:p>
        </p:txBody>
      </p:sp>
      <p:sp>
        <p:nvSpPr>
          <p:cNvPr id="7" name="ahb-decode">
            <a:extLst xmlns:a="http://schemas.openxmlformats.org/drawingml/2006/main">
              <a:ext uri="{FF2B5EF4-FFF2-40B4-BE49-F238E27FC236}">
                <a16:creationId xmlns:a16="http://schemas.microsoft.com/office/drawing/2014/main" id="{AA7E849D-B0C5-4D91-BB38-8436A001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002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decode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range/align/size</a:t>
            </a:r>
          </a:p>
        </p:txBody>
      </p:sp>
      <p:sp>
        <p:nvSpPr>
          <p:cNvPr id="8" name="ahb-reg">
            <a:extLst xmlns:a="http://schemas.openxmlformats.org/drawingml/2006/main">
              <a:ext uri="{FF2B5EF4-FFF2-40B4-BE49-F238E27FC236}">
                <a16:creationId xmlns:a16="http://schemas.microsoft.com/office/drawing/2014/main" id="{380E9BA1-6714-4AA0-B36D-A0F793E0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request 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one-cycle delay</a:t>
            </a:r>
          </a:p>
        </p:txBody>
      </p:sp>
      <p:sp>
        <p:nvSpPr>
          <p:cNvPr id="9" name="ahb-rsp">
            <a:extLst xmlns:a="http://schemas.openxmlformats.org/drawingml/2006/main">
              <a:ext uri="{FF2B5EF4-FFF2-40B4-BE49-F238E27FC236}">
                <a16:creationId xmlns:a16="http://schemas.microsoft.com/office/drawing/2014/main" id="{A9D9DF40-BE5F-466C-8442-C8CA119B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response mux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HRDATA/HRESP</a:t>
            </a:r>
          </a:p>
        </p:txBody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191500" y="24288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8524875" y="2857500"/>
            <a:ext cx="119062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525000" y="4143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3" name="footer-5">
            <a:extLst xmlns:a="http://schemas.openxmlformats.org/drawingml/2006/main">
              <a:ext uri="{FF2B5EF4-FFF2-40B4-BE49-F238E27FC236}">
                <a16:creationId xmlns:a16="http://schemas.microsoft.com/office/drawing/2014/main" id="{54FE04A7-0266-4838-8152-BF6C148B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24364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3E72735-D296-4EE8-89C4-E3C029F0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33E9BD-64FC-4A72-87E2-DE9C86A5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I2C byte FSM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8F9C4CA-B8D6-47E5-A250-0D9C0441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一个 CMD 只执行一个 byte；START/STOP 是否出现由 CMD 位控制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0EF0247-20DE-4EC2-AE14-0D5112E9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t-idle">
            <a:extLst xmlns:a="http://schemas.openxmlformats.org/drawingml/2006/main">
              <a:ext uri="{FF2B5EF4-FFF2-40B4-BE49-F238E27FC236}">
                <a16:creationId xmlns:a16="http://schemas.microsoft.com/office/drawing/2014/main" id="{827FC627-D193-4683-A20B-7E3B41BD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5240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IDLE</a:t>
            </a:r>
          </a:p>
        </p:txBody>
      </p:sp>
      <p:sp>
        <p:nvSpPr>
          <p:cNvPr id="6" name="st-sa">
            <a:extLst xmlns:a="http://schemas.openxmlformats.org/drawingml/2006/main">
              <a:ext uri="{FF2B5EF4-FFF2-40B4-BE49-F238E27FC236}">
                <a16:creationId xmlns:a16="http://schemas.microsoft.com/office/drawing/2014/main" id="{B17014BE-1112-4768-B9B0-156D5F70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15240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START_A</a:t>
            </a:r>
          </a:p>
        </p:txBody>
      </p:sp>
      <p:sp>
        <p:nvSpPr>
          <p:cNvPr id="7" name="st-sb">
            <a:extLst xmlns:a="http://schemas.openxmlformats.org/drawingml/2006/main">
              <a:ext uri="{FF2B5EF4-FFF2-40B4-BE49-F238E27FC236}">
                <a16:creationId xmlns:a16="http://schemas.microsoft.com/office/drawing/2014/main" id="{82FA7B3A-D5A4-42F6-81AE-8840F538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5240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START_B</a:t>
            </a:r>
          </a:p>
        </p:txBody>
      </p:sp>
      <p:sp>
        <p:nvSpPr>
          <p:cNvPr id="8" name="st-bl">
            <a:extLst xmlns:a="http://schemas.openxmlformats.org/drawingml/2006/main">
              <a:ext uri="{FF2B5EF4-FFF2-40B4-BE49-F238E27FC236}">
                <a16:creationId xmlns:a16="http://schemas.microsoft.com/office/drawing/2014/main" id="{C723652C-56B0-4B36-A399-B3C87573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52625"/>
            <a:ext cx="15240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BIT_LOW</a:t>
            </a:r>
          </a:p>
        </p:txBody>
      </p:sp>
      <p:sp>
        <p:nvSpPr>
          <p:cNvPr id="9" name="st-bh">
            <a:extLst xmlns:a="http://schemas.openxmlformats.org/drawingml/2006/main">
              <a:ext uri="{FF2B5EF4-FFF2-40B4-BE49-F238E27FC236}">
                <a16:creationId xmlns:a16="http://schemas.microsoft.com/office/drawing/2014/main" id="{1FE326B5-7DDC-42A5-9690-BFE1C889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5240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BIT_HIGH</a:t>
            </a:r>
          </a:p>
        </p:txBody>
      </p:sp>
      <p:sp>
        <p:nvSpPr>
          <p:cNvPr id="10" name="st-al">
            <a:extLst xmlns:a="http://schemas.openxmlformats.org/drawingml/2006/main">
              <a:ext uri="{FF2B5EF4-FFF2-40B4-BE49-F238E27FC236}">
                <a16:creationId xmlns:a16="http://schemas.microsoft.com/office/drawing/2014/main" id="{819ADFBB-4C7E-42D2-B2B3-29BC5069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15240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ACK_LOW</a:t>
            </a:r>
          </a:p>
        </p:txBody>
      </p:sp>
      <p:sp>
        <p:nvSpPr>
          <p:cNvPr id="11" name="st-ah">
            <a:extLst xmlns:a="http://schemas.openxmlformats.org/drawingml/2006/main">
              <a:ext uri="{FF2B5EF4-FFF2-40B4-BE49-F238E27FC236}">
                <a16:creationId xmlns:a16="http://schemas.microsoft.com/office/drawing/2014/main" id="{217B7398-4EEA-4EB7-BF97-B4A79BFC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52750"/>
            <a:ext cx="15240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ACK_HIGH</a:t>
            </a:r>
          </a:p>
        </p:txBody>
      </p:sp>
      <p:sp>
        <p:nvSpPr>
          <p:cNvPr id="12" name="st-sl">
            <a:extLst xmlns:a="http://schemas.openxmlformats.org/drawingml/2006/main">
              <a:ext uri="{FF2B5EF4-FFF2-40B4-BE49-F238E27FC236}">
                <a16:creationId xmlns:a16="http://schemas.microsoft.com/office/drawing/2014/main" id="{21B6C130-C8BD-4C90-BDB0-32AEC2CE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15240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STOP_LOW</a:t>
            </a:r>
          </a:p>
        </p:txBody>
      </p:sp>
      <p:sp>
        <p:nvSpPr>
          <p:cNvPr id="13" name="st-sh">
            <a:extLst xmlns:a="http://schemas.openxmlformats.org/drawingml/2006/main">
              <a:ext uri="{FF2B5EF4-FFF2-40B4-BE49-F238E27FC236}">
                <a16:creationId xmlns:a16="http://schemas.microsoft.com/office/drawing/2014/main" id="{EB35939A-2C5F-48D6-89CE-8976EBD7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5240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STOP_HIGH</a:t>
            </a:r>
          </a:p>
        </p:txBody>
      </p:sp>
      <p:sp>
        <p:nvSpPr>
          <p:cNvPr id="14" name="st-done">
            <a:extLst xmlns:a="http://schemas.openxmlformats.org/drawingml/2006/main">
              <a:ext uri="{FF2B5EF4-FFF2-40B4-BE49-F238E27FC236}">
                <a16:creationId xmlns:a16="http://schemas.microsoft.com/office/drawing/2014/main" id="{822F89E5-C897-4423-B599-9C45A9DF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72000"/>
            <a:ext cx="15240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DONE</a:t>
            </a:r>
          </a:p>
        </p:txBody>
      </p:sp>
      <p:cxnSp>
        <p:nvCxnSpPr>
          <p:cNvPr id="42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667000" y="2228850"/>
            <a:ext cx="476250" cy="28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6" idx="4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05250" y="25050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4667250" y="2228850"/>
            <a:ext cx="571500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8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00750" y="25050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6762750" y="2228850"/>
            <a:ext cx="619125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0" idx="4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8143875" y="25050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8905875" y="2228850"/>
            <a:ext cx="619125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2" idx="4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0287000" y="25050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3" idx="4"/>
            <a:endCxn xmlns:a="http://schemas.openxmlformats.org/drawingml/2006/main" id="14" idx="6"/>
          </p:cNvCxnSpPr>
          <p:nvPr/>
        </p:nvCxnSpPr>
        <p:spPr>
          <a:xfrm xmlns:a="http://schemas.openxmlformats.org/drawingml/2006/main" flipH="1">
            <a:off x="8905875" y="3505200"/>
            <a:ext cx="1381125" cy="1343025"/>
          </a:xfrm>
          <a:prstGeom xmlns:a="http://schemas.openxmlformats.org/drawingml/2006/main" prst="bentConnector5">
            <a:avLst>
              <a:gd name="adj1" fmla="val 0"/>
              <a:gd name="adj2" fmla="val 17021"/>
              <a:gd name="adj3" fmla="val 83448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1" idx="4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143875" y="3505200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4" idx="2"/>
            <a:endCxn xmlns:a="http://schemas.openxmlformats.org/drawingml/2006/main" id="5" idx="4"/>
          </p:cNvCxnSpPr>
          <p:nvPr/>
        </p:nvCxnSpPr>
        <p:spPr>
          <a:xfrm xmlns:a="http://schemas.openxmlformats.org/drawingml/2006/main" flipH="1" flipV="1">
            <a:off x="1905000" y="2790825"/>
            <a:ext cx="5476875" cy="2057400"/>
          </a:xfrm>
          <a:prstGeom xmlns:a="http://schemas.openxmlformats.org/drawingml/2006/main" prst="bentConnector2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26" name="fsm-note">
            <a:extLst xmlns:a="http://schemas.openxmlformats.org/drawingml/2006/main">
              <a:ext uri="{FF2B5EF4-FFF2-40B4-BE49-F238E27FC236}">
                <a16:creationId xmlns:a16="http://schemas.microsoft.com/office/drawing/2014/main" id="{823C730F-7BB7-497C-A7AE-BE59038E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BIT_LOW/BIT_HIGH 循环 8 次，由 bit_idx_q 从 7 数到 0。TX 在 ACK_HIGH 采样 slave ACK；RX 在 BIT_HIGH 采样数据，并在 ACK_HIGH commit RX byte。</a:t>
            </a:r>
          </a:p>
        </p:txBody>
      </p:sp>
      <p:sp>
        <p:nvSpPr>
          <p:cNvPr id="27" name="footer-6">
            <a:extLst xmlns:a="http://schemas.openxmlformats.org/drawingml/2006/main">
              <a:ext uri="{FF2B5EF4-FFF2-40B4-BE49-F238E27FC236}">
                <a16:creationId xmlns:a16="http://schemas.microsoft.com/office/drawing/2014/main" id="{4158A2C0-C382-470A-AB67-02E81434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53313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39CD439-8683-4E19-B32A-9FFA37AF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5D9F7A-FC23-4E1F-B327-C772E810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PRESCALE divider 与 tick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31A035A-DEAF-4449-9FB4-6F49C90C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I2C 时序推进由 phase tick 驱动；PRESCALE=0 合法，便于快速仿真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DAAB2F4-BF8E-445A-9E5B-6B4F4C6D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div-text">
            <a:extLst xmlns:a="http://schemas.openxmlformats.org/drawingml/2006/main">
              <a:ext uri="{FF2B5EF4-FFF2-40B4-BE49-F238E27FC236}">
                <a16:creationId xmlns:a16="http://schemas.microsoft.com/office/drawing/2014/main" id="{1836CC35-95FC-41B4-830B-8DE565F9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prescale_q 是 16-bit reload value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FSM active 时 div_q 递减；div_q==0 产生 tick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tick 后 div_q 重新装载 prescale_q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FSM idle 时 div_q 跟随 prescale_q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PRESCALE=0 表示每个 hclk_i cycle 推进一个 FSM phase</a:t>
            </a:r>
          </a:p>
        </p:txBody>
      </p:sp>
      <p:sp>
        <p:nvSpPr>
          <p:cNvPr id="6" name="div-prescale">
            <a:extLst xmlns:a="http://schemas.openxmlformats.org/drawingml/2006/main">
              <a:ext uri="{FF2B5EF4-FFF2-40B4-BE49-F238E27FC236}">
                <a16:creationId xmlns:a16="http://schemas.microsoft.com/office/drawing/2014/main" id="{385E4857-8B9B-4A7C-AF9D-3AB0785A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1809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prescale_q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software reload</a:t>
            </a:r>
          </a:p>
        </p:txBody>
      </p:sp>
      <p:sp>
        <p:nvSpPr>
          <p:cNvPr id="7" name="div-counter">
            <a:extLst xmlns:a="http://schemas.openxmlformats.org/drawingml/2006/main">
              <a:ext uri="{FF2B5EF4-FFF2-40B4-BE49-F238E27FC236}">
                <a16:creationId xmlns:a16="http://schemas.microsoft.com/office/drawing/2014/main" id="{87485D34-F999-4F0F-98F7-A18504D0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714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div_q counter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clk=hclk_i</a:t>
            </a:r>
          </a:p>
        </p:txBody>
      </p:sp>
      <p:sp>
        <p:nvSpPr>
          <p:cNvPr id="8" name="div-tick">
            <a:extLst xmlns:a="http://schemas.openxmlformats.org/drawingml/2006/main">
              <a:ext uri="{FF2B5EF4-FFF2-40B4-BE49-F238E27FC236}">
                <a16:creationId xmlns:a16="http://schemas.microsoft.com/office/drawing/2014/main" id="{F40E4F15-FDD7-4D62-9E0D-27EF1D4A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tick = div_q==0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phase enable</a:t>
            </a:r>
          </a:p>
        </p:txBody>
      </p:sp>
      <p:sp>
        <p:nvSpPr>
          <p:cNvPr id="9" name="div-fsm">
            <a:extLst xmlns:a="http://schemas.openxmlformats.org/drawingml/2006/main">
              <a:ext uri="{FF2B5EF4-FFF2-40B4-BE49-F238E27FC236}">
                <a16:creationId xmlns:a16="http://schemas.microsoft.com/office/drawing/2014/main" id="{F034C0B2-0919-4E4B-B051-D7DBBEA1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byte FSM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advance on tick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72500" y="24050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8953500" y="2809875"/>
            <a:ext cx="114300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45720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9906000" y="2809875"/>
            <a:ext cx="228600" cy="13335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4" name="footer-7">
            <a:extLst xmlns:a="http://schemas.openxmlformats.org/drawingml/2006/main">
              <a:ext uri="{FF2B5EF4-FFF2-40B4-BE49-F238E27FC236}">
                <a16:creationId xmlns:a16="http://schemas.microsoft.com/office/drawing/2014/main" id="{14235935-3D20-491A-B6DD-4CB4C8BF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25003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A5B8E64-4492-4699-984D-A75CF09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A56964-A5E8-4258-90EF-A9627654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Open-drain SCL/SDA 策略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F61F60A-BC94-46DC-8D4D-8C7BF28E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模块永远不驱动逻辑 1；输出值固定为 0，OE 决定是否把线拉低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59CE1DF-6174-4100-9877-DD3C40EA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od-text">
            <a:extLst xmlns:a="http://schemas.openxmlformats.org/drawingml/2006/main">
              <a:ext uri="{FF2B5EF4-FFF2-40B4-BE49-F238E27FC236}">
                <a16:creationId xmlns:a16="http://schemas.microsoft.com/office/drawing/2014/main" id="{77A6E1FC-07FE-443D-B0EE-FD613B09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857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i2c_scl_o = 0，i2c_sda_o = 0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*_oe_o = 1 表示 drive low；*_oe_o = 0 表示 release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TX bit 为 0 时 SDA OE=1；TX bit 为 1 时 release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RX data phase 释放 SDA，由外部 slave 驱动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RX ACK: ACK_VALUE=0 拉低 ACK，ACK_VALUE=1 释放为 NACK</a:t>
            </a:r>
          </a:p>
        </p:txBody>
      </p:sp>
      <p:sp>
        <p:nvSpPr>
          <p:cNvPr id="6" name="od-fsm">
            <a:extLst xmlns:a="http://schemas.openxmlformats.org/drawingml/2006/main">
              <a:ext uri="{FF2B5EF4-FFF2-40B4-BE49-F238E27FC236}">
                <a16:creationId xmlns:a16="http://schemas.microsoft.com/office/drawing/2014/main" id="{AE02C6A4-F70E-4336-8FDB-75629514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FSM state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cmd direction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bit_idx/tx bit</a:t>
            </a:r>
          </a:p>
        </p:txBody>
      </p:sp>
      <p:sp>
        <p:nvSpPr>
          <p:cNvPr id="7" name="od-comb">
            <a:extLst xmlns:a="http://schemas.openxmlformats.org/drawingml/2006/main">
              <a:ext uri="{FF2B5EF4-FFF2-40B4-BE49-F238E27FC236}">
                <a16:creationId xmlns:a16="http://schemas.microsoft.com/office/drawing/2014/main" id="{A295AC9A-594D-435A-B1CB-2F0E7BCE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002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line decode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SCL_OE/SDA_OE</a:t>
            </a:r>
          </a:p>
        </p:txBody>
      </p:sp>
      <p:sp>
        <p:nvSpPr>
          <p:cNvPr id="8" name="od-pad">
            <a:extLst xmlns:a="http://schemas.openxmlformats.org/drawingml/2006/main">
              <a:ext uri="{FF2B5EF4-FFF2-40B4-BE49-F238E27FC236}">
                <a16:creationId xmlns:a16="http://schemas.microsoft.com/office/drawing/2014/main" id="{7C66F1D7-4C75-4E19-8CF9-16BC0791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external line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pull-up + pad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SCL/SDA observed</a:t>
            </a:r>
          </a:p>
        </p:txBody>
      </p: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8429625" y="2428875"/>
            <a:ext cx="66675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28575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1" name="tag-drive low only">
            <a:extLst xmlns:a="http://schemas.openxmlformats.org/drawingml/2006/main">
              <a:ext uri="{FF2B5EF4-FFF2-40B4-BE49-F238E27FC236}">
                <a16:creationId xmlns:a16="http://schemas.microsoft.com/office/drawing/2014/main" id="{F950CA00-7FC2-406B-BE7C-05B8D226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drive low only</a:t>
            </a:r>
          </a:p>
        </p:txBody>
      </p:sp>
      <p:sp>
        <p:nvSpPr>
          <p:cNvPr id="12" name="footer-8">
            <a:extLst xmlns:a="http://schemas.openxmlformats.org/drawingml/2006/main">
              <a:ext uri="{FF2B5EF4-FFF2-40B4-BE49-F238E27FC236}">
                <a16:creationId xmlns:a16="http://schemas.microsoft.com/office/drawing/2014/main" id="{50425259-99A2-4779-88B1-8EFEA315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81192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D5E5FD5-38A7-4B88-AE80-764AE1F5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F8EAB-DE66-4A06-8A94-C41C1CC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状态、IRQ 与错误处理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04BE602-5985-4178-B48A-41C28D43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错误响应保护软件模型；done/ackerr/rx_valid 构成一次 transaction 的 completion contract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289ADA2-8DE9-4A19-A082-3C8A6D1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tatus-table-h-0">
            <a:extLst xmlns:a="http://schemas.openxmlformats.org/drawingml/2006/main">
              <a:ext uri="{FF2B5EF4-FFF2-40B4-BE49-F238E27FC236}">
                <a16:creationId xmlns:a16="http://schemas.microsoft.com/office/drawing/2014/main" id="{D8DA595B-28AD-4F7A-B098-52CA00DF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6" name="status-table-h-1">
            <a:extLst xmlns:a="http://schemas.openxmlformats.org/drawingml/2006/main">
              <a:ext uri="{FF2B5EF4-FFF2-40B4-BE49-F238E27FC236}">
                <a16:creationId xmlns:a16="http://schemas.microsoft.com/office/drawing/2014/main" id="{15DC1452-7E4F-4F1F-95C6-CBC32966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195262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Set condition</a:t>
            </a:r>
          </a:p>
        </p:txBody>
      </p:sp>
      <p:sp>
        <p:nvSpPr>
          <p:cNvPr id="7" name="status-table-h-2">
            <a:extLst xmlns:a="http://schemas.openxmlformats.org/drawingml/2006/main">
              <a:ext uri="{FF2B5EF4-FFF2-40B4-BE49-F238E27FC236}">
                <a16:creationId xmlns:a16="http://schemas.microsoft.com/office/drawing/2014/main" id="{429C0972-F759-4DC2-ABA0-84CE62FD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95262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Clear condition</a:t>
            </a:r>
          </a:p>
        </p:txBody>
      </p:sp>
      <p:sp>
        <p:nvSpPr>
          <p:cNvPr id="8" name="status-table-0-0">
            <a:extLst xmlns:a="http://schemas.openxmlformats.org/drawingml/2006/main">
              <a:ext uri="{FF2B5EF4-FFF2-40B4-BE49-F238E27FC236}">
                <a16:creationId xmlns:a16="http://schemas.microsoft.com/office/drawing/2014/main" id="{E1E9277A-7B5B-4417-B389-E601A836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done</a:t>
            </a:r>
          </a:p>
        </p:txBody>
      </p:sp>
      <p:sp>
        <p:nvSpPr>
          <p:cNvPr id="9" name="status-table-0-1">
            <a:extLst xmlns:a="http://schemas.openxmlformats.org/drawingml/2006/main">
              <a:ext uri="{FF2B5EF4-FFF2-40B4-BE49-F238E27FC236}">
                <a16:creationId xmlns:a16="http://schemas.microsoft.com/office/drawing/2014/main" id="{7CE0EB81-DC54-4970-BCBC-069655C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254317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FSM reaches DONE</a:t>
            </a:r>
          </a:p>
        </p:txBody>
      </p:sp>
      <p:sp>
        <p:nvSpPr>
          <p:cNvPr id="10" name="status-table-0-2">
            <a:extLst xmlns:a="http://schemas.openxmlformats.org/drawingml/2006/main">
              <a:ext uri="{FF2B5EF4-FFF2-40B4-BE49-F238E27FC236}">
                <a16:creationId xmlns:a16="http://schemas.microsoft.com/office/drawing/2014/main" id="{6CFD3A47-3BBF-47AD-BCBE-301EFCC8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54317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CTRL.clear or new CMD</a:t>
            </a:r>
          </a:p>
        </p:txBody>
      </p:sp>
      <p:sp>
        <p:nvSpPr>
          <p:cNvPr id="11" name="status-table-1-0">
            <a:extLst xmlns:a="http://schemas.openxmlformats.org/drawingml/2006/main">
              <a:ext uri="{FF2B5EF4-FFF2-40B4-BE49-F238E27FC236}">
                <a16:creationId xmlns:a16="http://schemas.microsoft.com/office/drawing/2014/main" id="{B16B9190-E7E4-4F88-9701-CDF8B1F1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ackerr</a:t>
            </a:r>
          </a:p>
        </p:txBody>
      </p:sp>
      <p:sp>
        <p:nvSpPr>
          <p:cNvPr id="12" name="status-table-1-1">
            <a:extLst xmlns:a="http://schemas.openxmlformats.org/drawingml/2006/main">
              <a:ext uri="{FF2B5EF4-FFF2-40B4-BE49-F238E27FC236}">
                <a16:creationId xmlns:a16="http://schemas.microsoft.com/office/drawing/2014/main" id="{71CCB9FE-D20F-444F-BDC4-CD2E5D4A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313372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TX ACK_HIGH samples SDA high</a:t>
            </a:r>
          </a:p>
        </p:txBody>
      </p:sp>
      <p:sp>
        <p:nvSpPr>
          <p:cNvPr id="13" name="status-table-1-2">
            <a:extLst xmlns:a="http://schemas.openxmlformats.org/drawingml/2006/main">
              <a:ext uri="{FF2B5EF4-FFF2-40B4-BE49-F238E27FC236}">
                <a16:creationId xmlns:a16="http://schemas.microsoft.com/office/drawing/2014/main" id="{A097538A-831E-436E-8B20-34B9B7B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13372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CTRL.clear or new CMD</a:t>
            </a:r>
          </a:p>
        </p:txBody>
      </p:sp>
      <p:sp>
        <p:nvSpPr>
          <p:cNvPr id="14" name="status-table-2-0">
            <a:extLst xmlns:a="http://schemas.openxmlformats.org/drawingml/2006/main">
              <a:ext uri="{FF2B5EF4-FFF2-40B4-BE49-F238E27FC236}">
                <a16:creationId xmlns:a16="http://schemas.microsoft.com/office/drawing/2014/main" id="{6295AEB8-B0AA-456A-B699-127D280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rx_valid</a:t>
            </a:r>
          </a:p>
        </p:txBody>
      </p:sp>
      <p:sp>
        <p:nvSpPr>
          <p:cNvPr id="15" name="status-table-2-1">
            <a:extLst xmlns:a="http://schemas.openxmlformats.org/drawingml/2006/main">
              <a:ext uri="{FF2B5EF4-FFF2-40B4-BE49-F238E27FC236}">
                <a16:creationId xmlns:a16="http://schemas.microsoft.com/office/drawing/2014/main" id="{CF124626-964F-46F9-A474-FBFC5DA9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372427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RX ACK_HIGH commits byte</a:t>
            </a:r>
          </a:p>
        </p:txBody>
      </p:sp>
      <p:sp>
        <p:nvSpPr>
          <p:cNvPr id="16" name="status-table-2-2">
            <a:extLst xmlns:a="http://schemas.openxmlformats.org/drawingml/2006/main">
              <a:ext uri="{FF2B5EF4-FFF2-40B4-BE49-F238E27FC236}">
                <a16:creationId xmlns:a16="http://schemas.microsoft.com/office/drawing/2014/main" id="{ABFADC31-991C-4EB0-8A52-A1EC2D3F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CTRL.clear or new CMD</a:t>
            </a:r>
          </a:p>
        </p:txBody>
      </p:sp>
      <p:sp>
        <p:nvSpPr>
          <p:cNvPr id="17" name="status-table-3-0">
            <a:extLst xmlns:a="http://schemas.openxmlformats.org/drawingml/2006/main">
              <a:ext uri="{FF2B5EF4-FFF2-40B4-BE49-F238E27FC236}">
                <a16:creationId xmlns:a16="http://schemas.microsoft.com/office/drawing/2014/main" id="{172AF8EF-0BE3-43C9-B6A0-36B9EBAA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irq</a:t>
            </a:r>
          </a:p>
        </p:txBody>
      </p:sp>
      <p:sp>
        <p:nvSpPr>
          <p:cNvPr id="18" name="status-table-3-1">
            <a:extLst xmlns:a="http://schemas.openxmlformats.org/drawingml/2006/main">
              <a:ext uri="{FF2B5EF4-FFF2-40B4-BE49-F238E27FC236}">
                <a16:creationId xmlns:a16="http://schemas.microsoft.com/office/drawing/2014/main" id="{FE3F53C8-B432-41F5-9801-1F6B0E4D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431482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done &amp;&amp; irq_en</a:t>
            </a:r>
          </a:p>
        </p:txBody>
      </p:sp>
      <p:sp>
        <p:nvSpPr>
          <p:cNvPr id="19" name="status-table-3-2">
            <a:extLst xmlns:a="http://schemas.openxmlformats.org/drawingml/2006/main">
              <a:ext uri="{FF2B5EF4-FFF2-40B4-BE49-F238E27FC236}">
                <a16:creationId xmlns:a16="http://schemas.microsoft.com/office/drawing/2014/main" id="{712AEDB8-5CA5-4A8B-89CA-CDA4D19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314825"/>
            <a:ext cx="203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done cleared or irq_en=0</a:t>
            </a:r>
          </a:p>
        </p:txBody>
      </p:sp>
      <p:sp>
        <p:nvSpPr>
          <p:cNvPr id="20" name="err-detect">
            <a:extLst xmlns:a="http://schemas.openxmlformats.org/drawingml/2006/main">
              <a:ext uri="{FF2B5EF4-FFF2-40B4-BE49-F238E27FC236}">
                <a16:creationId xmlns:a16="http://schemas.microsoft.com/office/drawing/2014/main" id="{7AB86204-8CB5-4219-BD75-BD79BDB7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error detect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misaligned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non-word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unknown offset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CMD disabled/busy</a:t>
            </a:r>
          </a:p>
        </p:txBody>
      </p:sp>
      <p:sp>
        <p:nvSpPr>
          <p:cNvPr id="21" name="err-rsp">
            <a:extLst xmlns:a="http://schemas.openxmlformats.org/drawingml/2006/main">
              <a:ext uri="{FF2B5EF4-FFF2-40B4-BE49-F238E27FC236}">
                <a16:creationId xmlns:a16="http://schemas.microsoft.com/office/drawing/2014/main" id="{8F2BC492-1852-4646-AA6B-543AD476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 response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HRESP ERROR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no restart/corrupt</a:t>
            </a:r>
          </a:p>
        </p:txBody>
      </p:sp>
      <p:cxnSp>
        <p:nvCxnSpPr>
          <p:cNvPr id="45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810625" y="36195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2B5B7D26-CA8E-4DAE-A3CE-4566A9E3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75344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D94D2EE-B20E-481E-BE99-4EA03822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6A402D-E431-4795-BD05-FB26638D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验证方法：为什么这样测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9D4B330-FFA8-4F65-B538-543EFA04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I2C 外设的风险集中在寄存器契约、串行线行为、busy 保护和错误响应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3415436-EDDB-4E73-A608-8D4ED6D1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why-table-h-0">
            <a:extLst xmlns:a="http://schemas.openxmlformats.org/drawingml/2006/main">
              <a:ext uri="{FF2B5EF4-FFF2-40B4-BE49-F238E27FC236}">
                <a16:creationId xmlns:a16="http://schemas.microsoft.com/office/drawing/2014/main" id="{34CBE484-E56D-41A6-A6E0-BAF0974C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风险</a:t>
            </a:r>
          </a:p>
        </p:txBody>
      </p:sp>
      <p:sp>
        <p:nvSpPr>
          <p:cNvPr id="6" name="why-table-h-1">
            <a:extLst xmlns:a="http://schemas.openxmlformats.org/drawingml/2006/main">
              <a:ext uri="{FF2B5EF4-FFF2-40B4-BE49-F238E27FC236}">
                <a16:creationId xmlns:a16="http://schemas.microsoft.com/office/drawing/2014/main" id="{8604AEB8-4B57-4967-93E4-62E68B95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18573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验证方法</a:t>
            </a:r>
          </a:p>
        </p:txBody>
      </p:sp>
      <p:sp>
        <p:nvSpPr>
          <p:cNvPr id="7" name="why-table-h-2">
            <a:extLst xmlns:a="http://schemas.openxmlformats.org/drawingml/2006/main">
              <a:ext uri="{FF2B5EF4-FFF2-40B4-BE49-F238E27FC236}">
                <a16:creationId xmlns:a16="http://schemas.microsoft.com/office/drawing/2014/main" id="{50308C9D-6D42-4540-8229-7D2BD421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18573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根本逻辑</a:t>
            </a:r>
          </a:p>
        </p:txBody>
      </p:sp>
      <p:sp>
        <p:nvSpPr>
          <p:cNvPr id="8" name="why-table-0-0">
            <a:extLst xmlns:a="http://schemas.openxmlformats.org/drawingml/2006/main">
              <a:ext uri="{FF2B5EF4-FFF2-40B4-BE49-F238E27FC236}">
                <a16:creationId xmlns:a16="http://schemas.microsoft.com/office/drawing/2014/main" id="{E3813A75-13B1-4DF6-95F6-526C4B35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479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register contract</a:t>
            </a:r>
          </a:p>
        </p:txBody>
      </p:sp>
      <p:sp>
        <p:nvSpPr>
          <p:cNvPr id="9" name="why-table-0-1">
            <a:extLst xmlns:a="http://schemas.openxmlformats.org/drawingml/2006/main">
              <a:ext uri="{FF2B5EF4-FFF2-40B4-BE49-F238E27FC236}">
                <a16:creationId xmlns:a16="http://schemas.microsoft.com/office/drawing/2014/main" id="{D4E703CF-5E46-41C0-BBC4-2BEC5BB7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24479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reset + legal read/write sweep</a:t>
            </a:r>
          </a:p>
        </p:txBody>
      </p:sp>
      <p:sp>
        <p:nvSpPr>
          <p:cNvPr id="10" name="why-table-0-2">
            <a:extLst xmlns:a="http://schemas.openxmlformats.org/drawingml/2006/main">
              <a:ext uri="{FF2B5EF4-FFF2-40B4-BE49-F238E27FC236}">
                <a16:creationId xmlns:a16="http://schemas.microsoft.com/office/drawing/2014/main" id="{794A7063-19C8-436E-9D83-E1E9428E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24479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软件只能通过寄存器面观察和控制 byte engine</a:t>
            </a:r>
          </a:p>
        </p:txBody>
      </p:sp>
      <p:sp>
        <p:nvSpPr>
          <p:cNvPr id="11" name="why-table-1-0">
            <a:extLst xmlns:a="http://schemas.openxmlformats.org/drawingml/2006/main">
              <a:ext uri="{FF2B5EF4-FFF2-40B4-BE49-F238E27FC236}">
                <a16:creationId xmlns:a16="http://schemas.microsoft.com/office/drawing/2014/main" id="{EDA54891-C7D1-44FF-A23F-4024C6D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384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AHB error response</a:t>
            </a:r>
          </a:p>
        </p:txBody>
      </p:sp>
      <p:sp>
        <p:nvSpPr>
          <p:cNvPr id="12" name="why-table-1-1">
            <a:extLst xmlns:a="http://schemas.openxmlformats.org/drawingml/2006/main">
              <a:ext uri="{FF2B5EF4-FFF2-40B4-BE49-F238E27FC236}">
                <a16:creationId xmlns:a16="http://schemas.microsoft.com/office/drawing/2014/main" id="{85D95A5B-B729-4181-9D4F-0765B93A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0384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misaligned/byte/unknown/out-of-range</a:t>
            </a:r>
          </a:p>
        </p:txBody>
      </p:sp>
      <p:sp>
        <p:nvSpPr>
          <p:cNvPr id="13" name="why-table-1-2">
            <a:extLst xmlns:a="http://schemas.openxmlformats.org/drawingml/2006/main">
              <a:ext uri="{FF2B5EF4-FFF2-40B4-BE49-F238E27FC236}">
                <a16:creationId xmlns:a16="http://schemas.microsoft.com/office/drawing/2014/main" id="{BC1AB4CD-C26D-43F9-986D-B8E05322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30384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总线错误必须在一拍响应中准确暴露</a:t>
            </a:r>
          </a:p>
        </p:txBody>
      </p:sp>
      <p:sp>
        <p:nvSpPr>
          <p:cNvPr id="14" name="why-table-2-0">
            <a:extLst xmlns:a="http://schemas.openxmlformats.org/drawingml/2006/main">
              <a:ext uri="{FF2B5EF4-FFF2-40B4-BE49-F238E27FC236}">
                <a16:creationId xmlns:a16="http://schemas.microsoft.com/office/drawing/2014/main" id="{6B99FECD-3B66-4B1A-A1C7-8BE18A92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TX bit drive</a:t>
            </a:r>
          </a:p>
        </p:txBody>
      </p:sp>
      <p:sp>
        <p:nvSpPr>
          <p:cNvPr id="15" name="why-table-2-1">
            <a:extLst xmlns:a="http://schemas.openxmlformats.org/drawingml/2006/main">
              <a:ext uri="{FF2B5EF4-FFF2-40B4-BE49-F238E27FC236}">
                <a16:creationId xmlns:a16="http://schemas.microsoft.com/office/drawing/2014/main" id="{6BAFFC0B-C042-4E5A-923B-36233B53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6290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0xA5, 0x3C, random TX + line checks</a:t>
            </a:r>
          </a:p>
        </p:txBody>
      </p:sp>
      <p:sp>
        <p:nvSpPr>
          <p:cNvPr id="16" name="why-table-2-2">
            <a:extLst xmlns:a="http://schemas.openxmlformats.org/drawingml/2006/main">
              <a:ext uri="{FF2B5EF4-FFF2-40B4-BE49-F238E27FC236}">
                <a16:creationId xmlns:a16="http://schemas.microsoft.com/office/drawing/2014/main" id="{F1F07B01-6DF9-4AEB-9841-566549EA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36290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最终 done 不足以证明 open-drain bit-level 正确</a:t>
            </a:r>
          </a:p>
        </p:txBody>
      </p:sp>
      <p:sp>
        <p:nvSpPr>
          <p:cNvPr id="17" name="why-table-3-0">
            <a:extLst xmlns:a="http://schemas.openxmlformats.org/drawingml/2006/main">
              <a:ext uri="{FF2B5EF4-FFF2-40B4-BE49-F238E27FC236}">
                <a16:creationId xmlns:a16="http://schemas.microsoft.com/office/drawing/2014/main" id="{7A0A2F53-3027-493D-9F48-1CCA082C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195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RX sampling/ACK</a:t>
            </a:r>
          </a:p>
        </p:txBody>
      </p:sp>
      <p:sp>
        <p:nvSpPr>
          <p:cNvPr id="18" name="why-table-3-1">
            <a:extLst xmlns:a="http://schemas.openxmlformats.org/drawingml/2006/main">
              <a:ext uri="{FF2B5EF4-FFF2-40B4-BE49-F238E27FC236}">
                <a16:creationId xmlns:a16="http://schemas.microsoft.com/office/drawing/2014/main" id="{C0E437B6-5A26-4E04-A81A-C389DA1F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42195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feed 0x5A/0xC3; ACK and NACK cases</a:t>
            </a:r>
          </a:p>
        </p:txBody>
      </p:sp>
      <p:sp>
        <p:nvSpPr>
          <p:cNvPr id="19" name="why-table-3-2">
            <a:extLst xmlns:a="http://schemas.openxmlformats.org/drawingml/2006/main">
              <a:ext uri="{FF2B5EF4-FFF2-40B4-BE49-F238E27FC236}">
                <a16:creationId xmlns:a16="http://schemas.microsoft.com/office/drawing/2014/main" id="{58FB8472-5EC1-4975-B0E1-A62B74AD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42195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读方向同时验证 sample timing 和 master ACK policy</a:t>
            </a:r>
          </a:p>
        </p:txBody>
      </p:sp>
      <p:sp>
        <p:nvSpPr>
          <p:cNvPr id="20" name="why-table-4-0">
            <a:extLst xmlns:a="http://schemas.openxmlformats.org/drawingml/2006/main">
              <a:ext uri="{FF2B5EF4-FFF2-40B4-BE49-F238E27FC236}">
                <a16:creationId xmlns:a16="http://schemas.microsoft.com/office/drawing/2014/main" id="{D131B5F0-7C11-40BF-B966-66256701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01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busy protection</a:t>
            </a:r>
          </a:p>
        </p:txBody>
      </p:sp>
      <p:sp>
        <p:nvSpPr>
          <p:cNvPr id="21" name="why-table-4-1">
            <a:extLst xmlns:a="http://schemas.openxmlformats.org/drawingml/2006/main">
              <a:ext uri="{FF2B5EF4-FFF2-40B4-BE49-F238E27FC236}">
                <a16:creationId xmlns:a16="http://schemas.microsoft.com/office/drawing/2014/main" id="{FBA7B688-8FA5-4308-80B3-AD42F25B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48101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issue CMD while FSM active</a:t>
            </a:r>
          </a:p>
        </p:txBody>
      </p:sp>
      <p:sp>
        <p:nvSpPr>
          <p:cNvPr id="22" name="why-table-4-2">
            <a:extLst xmlns:a="http://schemas.openxmlformats.org/drawingml/2006/main">
              <a:ext uri="{FF2B5EF4-FFF2-40B4-BE49-F238E27FC236}">
                <a16:creationId xmlns:a16="http://schemas.microsoft.com/office/drawing/2014/main" id="{40496951-1579-4E25-B2D9-201A66A6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48101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第二条命令不能重启或破坏当前 transaction</a:t>
            </a:r>
          </a:p>
        </p:txBody>
      </p:sp>
      <p:sp>
        <p:nvSpPr>
          <p:cNvPr id="23" name="tb">
            <a:extLst xmlns:a="http://schemas.openxmlformats.org/drawingml/2006/main">
              <a:ext uri="{FF2B5EF4-FFF2-40B4-BE49-F238E27FC236}">
                <a16:creationId xmlns:a16="http://schemas.microsoft.com/office/drawing/2014/main" id="{C60E0595-7E4A-44D5-8AEB-715DC86D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self-checking TB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 driver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I2C slave model</a:t>
            </a:r>
          </a:p>
        </p:txBody>
      </p:sp>
      <p:sp>
        <p:nvSpPr>
          <p:cNvPr id="24" name="sb">
            <a:extLst xmlns:a="http://schemas.openxmlformats.org/drawingml/2006/main">
              <a:ext uri="{FF2B5EF4-FFF2-40B4-BE49-F238E27FC236}">
                <a16:creationId xmlns:a16="http://schemas.microsoft.com/office/drawing/2014/main" id="{F85872E8-4EE8-4FF8-9EC0-7D682EFF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scoreboard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register image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line-level checks</a:t>
            </a:r>
          </a:p>
        </p:txBody>
      </p:sp>
      <p:cxnSp>
        <p:nvCxnSpPr>
          <p:cNvPr id="51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429750" y="319087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26" name="footer-10">
            <a:extLst xmlns:a="http://schemas.openxmlformats.org/drawingml/2006/main">
              <a:ext uri="{FF2B5EF4-FFF2-40B4-BE49-F238E27FC236}">
                <a16:creationId xmlns:a16="http://schemas.microsoft.com/office/drawing/2014/main" id="{89F02D52-FB18-47DF-A4A4-65FBAEEA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8752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E24105E-4CBC-405F-AFAC-9FE4A7D0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F4F600-90F7-472E-A2E2-8B9D2638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验证结果快照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E68C36C-5E47-4D49-A035-FA9FDFED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当前报告是 functional self-check coverage；目标宏 lint 和仿真均通过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3EE14E3-6F32-4E85-97A2-14573464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sult-table-h-0">
            <a:extLst xmlns:a="http://schemas.openxmlformats.org/drawingml/2006/main">
              <a:ext uri="{FF2B5EF4-FFF2-40B4-BE49-F238E27FC236}">
                <a16:creationId xmlns:a16="http://schemas.microsoft.com/office/drawing/2014/main" id="{0BB1801B-816F-41E8-BC74-51906109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result-table-h-1">
            <a:extLst xmlns:a="http://schemas.openxmlformats.org/drawingml/2006/main">
              <a:ext uri="{FF2B5EF4-FFF2-40B4-BE49-F238E27FC236}">
                <a16:creationId xmlns:a16="http://schemas.microsoft.com/office/drawing/2014/main" id="{CF32A663-E705-412E-9924-6F128D6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18097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7" name="result-table-h-2">
            <a:extLst xmlns:a="http://schemas.openxmlformats.org/drawingml/2006/main">
              <a:ext uri="{FF2B5EF4-FFF2-40B4-BE49-F238E27FC236}">
                <a16:creationId xmlns:a16="http://schemas.microsoft.com/office/drawing/2014/main" id="{0A4ABB1F-5FE8-4306-BA5D-0EA6AB5F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8097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8" name="result-table-0-0">
            <a:extLst xmlns:a="http://schemas.openxmlformats.org/drawingml/2006/main">
              <a:ext uri="{FF2B5EF4-FFF2-40B4-BE49-F238E27FC236}">
                <a16:creationId xmlns:a16="http://schemas.microsoft.com/office/drawing/2014/main" id="{5FF88578-8514-4486-93EF-636E59D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pass_count</a:t>
            </a:r>
          </a:p>
        </p:txBody>
      </p:sp>
      <p:sp>
        <p:nvSpPr>
          <p:cNvPr id="9" name="result-table-0-1">
            <a:extLst xmlns:a="http://schemas.openxmlformats.org/drawingml/2006/main">
              <a:ext uri="{FF2B5EF4-FFF2-40B4-BE49-F238E27FC236}">
                <a16:creationId xmlns:a16="http://schemas.microsoft.com/office/drawing/2014/main" id="{4974CCDC-119A-46B4-AE16-F58E57E7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22860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110</a:t>
            </a:r>
          </a:p>
        </p:txBody>
      </p:sp>
      <p:sp>
        <p:nvSpPr>
          <p:cNvPr id="10" name="result-table-0-2">
            <a:extLst xmlns:a="http://schemas.openxmlformats.org/drawingml/2006/main">
              <a:ext uri="{FF2B5EF4-FFF2-40B4-BE49-F238E27FC236}">
                <a16:creationId xmlns:a16="http://schemas.microsoft.com/office/drawing/2014/main" id="{1E9FFE21-B98E-4B97-ACD3-7DF6F8FA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2860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self-check milestones</a:t>
            </a:r>
          </a:p>
        </p:txBody>
      </p:sp>
      <p:sp>
        <p:nvSpPr>
          <p:cNvPr id="11" name="result-table-1-0">
            <a:extLst xmlns:a="http://schemas.openxmlformats.org/drawingml/2006/main">
              <a:ext uri="{FF2B5EF4-FFF2-40B4-BE49-F238E27FC236}">
                <a16:creationId xmlns:a16="http://schemas.microsoft.com/office/drawing/2014/main" id="{A5076F50-3A28-466B-9927-267BFD3D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reg_count</a:t>
            </a:r>
          </a:p>
        </p:txBody>
      </p:sp>
      <p:sp>
        <p:nvSpPr>
          <p:cNvPr id="12" name="result-table-1-1">
            <a:extLst xmlns:a="http://schemas.openxmlformats.org/drawingml/2006/main">
              <a:ext uri="{FF2B5EF4-FFF2-40B4-BE49-F238E27FC236}">
                <a16:creationId xmlns:a16="http://schemas.microsoft.com/office/drawing/2014/main" id="{FC0CAEF3-4909-434D-8001-EAF61316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27622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36</a:t>
            </a:r>
          </a:p>
        </p:txBody>
      </p:sp>
      <p:sp>
        <p:nvSpPr>
          <p:cNvPr id="13" name="result-table-1-2">
            <a:extLst xmlns:a="http://schemas.openxmlformats.org/drawingml/2006/main">
              <a:ext uri="{FF2B5EF4-FFF2-40B4-BE49-F238E27FC236}">
                <a16:creationId xmlns:a16="http://schemas.microsoft.com/office/drawing/2014/main" id="{10C2B1EA-1277-4A29-898E-6241B0DE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7622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register access checks</a:t>
            </a:r>
          </a:p>
        </p:txBody>
      </p:sp>
      <p:sp>
        <p:nvSpPr>
          <p:cNvPr id="14" name="result-table-2-0">
            <a:extLst xmlns:a="http://schemas.openxmlformats.org/drawingml/2006/main">
              <a:ext uri="{FF2B5EF4-FFF2-40B4-BE49-F238E27FC236}">
                <a16:creationId xmlns:a16="http://schemas.microsoft.com/office/drawing/2014/main" id="{8F89B26F-4C7B-41A3-8521-F60173FB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write_tx_count</a:t>
            </a:r>
          </a:p>
        </p:txBody>
      </p:sp>
      <p:sp>
        <p:nvSpPr>
          <p:cNvPr id="15" name="result-table-2-1">
            <a:extLst xmlns:a="http://schemas.openxmlformats.org/drawingml/2006/main">
              <a:ext uri="{FF2B5EF4-FFF2-40B4-BE49-F238E27FC236}">
                <a16:creationId xmlns:a16="http://schemas.microsoft.com/office/drawing/2014/main" id="{61834942-693D-4C5C-AA4C-B6F96FE7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32385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6" name="result-table-2-2">
            <a:extLst xmlns:a="http://schemas.openxmlformats.org/drawingml/2006/main">
              <a:ext uri="{FF2B5EF4-FFF2-40B4-BE49-F238E27FC236}">
                <a16:creationId xmlns:a16="http://schemas.microsoft.com/office/drawing/2014/main" id="{B33B51DA-1BF8-4A34-9115-C19B50CD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32385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TX byte transactions</a:t>
            </a:r>
          </a:p>
        </p:txBody>
      </p:sp>
      <p:sp>
        <p:nvSpPr>
          <p:cNvPr id="17" name="result-table-3-0">
            <a:extLst xmlns:a="http://schemas.openxmlformats.org/drawingml/2006/main">
              <a:ext uri="{FF2B5EF4-FFF2-40B4-BE49-F238E27FC236}">
                <a16:creationId xmlns:a16="http://schemas.microsoft.com/office/drawing/2014/main" id="{D1C93042-31A0-4BF1-8235-386B37AF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read_rx_count</a:t>
            </a:r>
          </a:p>
        </p:txBody>
      </p:sp>
      <p:sp>
        <p:nvSpPr>
          <p:cNvPr id="18" name="result-table-3-1">
            <a:extLst xmlns:a="http://schemas.openxmlformats.org/drawingml/2006/main">
              <a:ext uri="{FF2B5EF4-FFF2-40B4-BE49-F238E27FC236}">
                <a16:creationId xmlns:a16="http://schemas.microsoft.com/office/drawing/2014/main" id="{DCC39602-CE13-4B42-9DE6-4AF67F0C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37147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9" name="result-table-3-2">
            <a:extLst xmlns:a="http://schemas.openxmlformats.org/drawingml/2006/main">
              <a:ext uri="{FF2B5EF4-FFF2-40B4-BE49-F238E27FC236}">
                <a16:creationId xmlns:a16="http://schemas.microsoft.com/office/drawing/2014/main" id="{8A4507DC-8402-4993-B3B7-84004BE0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37147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RX byte transactions</a:t>
            </a:r>
          </a:p>
        </p:txBody>
      </p:sp>
      <p:sp>
        <p:nvSpPr>
          <p:cNvPr id="20" name="result-table-4-0">
            <a:extLst xmlns:a="http://schemas.openxmlformats.org/drawingml/2006/main">
              <a:ext uri="{FF2B5EF4-FFF2-40B4-BE49-F238E27FC236}">
                <a16:creationId xmlns:a16="http://schemas.microsoft.com/office/drawing/2014/main" id="{797FC494-F9D6-4C68-A9D5-1EBC73DB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error_count</a:t>
            </a:r>
          </a:p>
        </p:txBody>
      </p:sp>
      <p:sp>
        <p:nvSpPr>
          <p:cNvPr id="21" name="result-table-4-1">
            <a:extLst xmlns:a="http://schemas.openxmlformats.org/drawingml/2006/main">
              <a:ext uri="{FF2B5EF4-FFF2-40B4-BE49-F238E27FC236}">
                <a16:creationId xmlns:a16="http://schemas.microsoft.com/office/drawing/2014/main" id="{9A92DC42-3956-4B33-881B-DA076C83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41910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22" name="result-table-4-2">
            <a:extLst xmlns:a="http://schemas.openxmlformats.org/drawingml/2006/main">
              <a:ext uri="{FF2B5EF4-FFF2-40B4-BE49-F238E27FC236}">
                <a16:creationId xmlns:a16="http://schemas.microsoft.com/office/drawing/2014/main" id="{AC535061-F995-44D1-8392-D3FED11F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41910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AHB / command error cases</a:t>
            </a:r>
          </a:p>
        </p:txBody>
      </p:sp>
      <p:sp>
        <p:nvSpPr>
          <p:cNvPr id="23" name="result-table-5-0">
            <a:extLst xmlns:a="http://schemas.openxmlformats.org/drawingml/2006/main">
              <a:ext uri="{FF2B5EF4-FFF2-40B4-BE49-F238E27FC236}">
                <a16:creationId xmlns:a16="http://schemas.microsoft.com/office/drawing/2014/main" id="{E81EB74F-69E0-480F-996B-421CAEF8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random_count</a:t>
            </a:r>
          </a:p>
        </p:txBody>
      </p:sp>
      <p:sp>
        <p:nvSpPr>
          <p:cNvPr id="24" name="result-table-5-1">
            <a:extLst xmlns:a="http://schemas.openxmlformats.org/drawingml/2006/main">
              <a:ext uri="{FF2B5EF4-FFF2-40B4-BE49-F238E27FC236}">
                <a16:creationId xmlns:a16="http://schemas.microsoft.com/office/drawing/2014/main" id="{699D4F1F-A01C-4588-A9C7-B74572FB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46672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25" name="result-table-5-2">
            <a:extLst xmlns:a="http://schemas.openxmlformats.org/drawingml/2006/main">
              <a:ext uri="{FF2B5EF4-FFF2-40B4-BE49-F238E27FC236}">
                <a16:creationId xmlns:a16="http://schemas.microsoft.com/office/drawing/2014/main" id="{474FAF09-BEFF-4BC2-AFD8-BC414A9A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466725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deterministic random TX bytes</a:t>
            </a:r>
          </a:p>
        </p:txBody>
      </p:sp>
      <p:sp>
        <p:nvSpPr>
          <p:cNvPr id="26" name="result-table-6-0">
            <a:extLst xmlns:a="http://schemas.openxmlformats.org/drawingml/2006/main">
              <a:ext uri="{FF2B5EF4-FFF2-40B4-BE49-F238E27FC236}">
                <a16:creationId xmlns:a16="http://schemas.microsoft.com/office/drawing/2014/main" id="{D1829035-9637-4767-8F22-F409AE3C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line_check_count</a:t>
            </a:r>
          </a:p>
        </p:txBody>
      </p:sp>
      <p:sp>
        <p:nvSpPr>
          <p:cNvPr id="27" name="result-table-6-1">
            <a:extLst xmlns:a="http://schemas.openxmlformats.org/drawingml/2006/main">
              <a:ext uri="{FF2B5EF4-FFF2-40B4-BE49-F238E27FC236}">
                <a16:creationId xmlns:a16="http://schemas.microsoft.com/office/drawing/2014/main" id="{E18B8448-D86B-4554-B1E5-E5938556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51435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50</a:t>
            </a:r>
          </a:p>
        </p:txBody>
      </p:sp>
      <p:sp>
        <p:nvSpPr>
          <p:cNvPr id="28" name="result-table-6-2">
            <a:extLst xmlns:a="http://schemas.openxmlformats.org/drawingml/2006/main">
              <a:ext uri="{FF2B5EF4-FFF2-40B4-BE49-F238E27FC236}">
                <a16:creationId xmlns:a16="http://schemas.microsoft.com/office/drawing/2014/main" id="{256C6D69-AEDF-400A-8279-359B18B7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5143500"/>
            <a:ext cx="206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open-drain bit-level checks</a:t>
            </a:r>
          </a:p>
        </p:txBody>
      </p:sp>
      <p:sp>
        <p:nvSpPr>
          <p:cNvPr id="29" name="tag-Generic lint PASS">
            <a:extLst xmlns:a="http://schemas.openxmlformats.org/drawingml/2006/main">
              <a:ext uri="{FF2B5EF4-FFF2-40B4-BE49-F238E27FC236}">
                <a16:creationId xmlns:a16="http://schemas.microsoft.com/office/drawing/2014/main" id="{3BE38D15-D269-4604-87DD-B4BE7AFE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Generic lint PASS</a:t>
            </a:r>
          </a:p>
        </p:txBody>
      </p:sp>
      <p:sp>
        <p:nvSpPr>
          <p:cNvPr id="30" name="tag-IC lint PASS">
            <a:extLst xmlns:a="http://schemas.openxmlformats.org/drawingml/2006/main">
              <a:ext uri="{FF2B5EF4-FFF2-40B4-BE49-F238E27FC236}">
                <a16:creationId xmlns:a16="http://schemas.microsoft.com/office/drawing/2014/main" id="{E28F10B0-7F36-4A84-9BC2-B2969A27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62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IC lint PASS</a:t>
            </a:r>
          </a:p>
        </p:txBody>
      </p:sp>
      <p:sp>
        <p:nvSpPr>
          <p:cNvPr id="31" name="tag-Virtex-7 lint PASS">
            <a:extLst xmlns:a="http://schemas.openxmlformats.org/drawingml/2006/main">
              <a:ext uri="{FF2B5EF4-FFF2-40B4-BE49-F238E27FC236}">
                <a16:creationId xmlns:a16="http://schemas.microsoft.com/office/drawing/2014/main" id="{BBDF596F-297D-46BE-8807-A88D2198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29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Virtex-7 lint PASS</a:t>
            </a:r>
          </a:p>
        </p:txBody>
      </p:sp>
      <p:sp>
        <p:nvSpPr>
          <p:cNvPr id="32" name="tag-tb_ahb_i2c PASS">
            <a:extLst xmlns:a="http://schemas.openxmlformats.org/drawingml/2006/main">
              <a:ext uri="{FF2B5EF4-FFF2-40B4-BE49-F238E27FC236}">
                <a16:creationId xmlns:a16="http://schemas.microsoft.com/office/drawing/2014/main" id="{B5524842-7451-4A64-9255-36414683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957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tb_ahb_i2c PASS</a:t>
            </a:r>
          </a:p>
        </p:txBody>
      </p:sp>
      <p:sp>
        <p:nvSpPr>
          <p:cNvPr id="33" name="result-note">
            <a:extLst xmlns:a="http://schemas.openxmlformats.org/drawingml/2006/main">
              <a:ext uri="{FF2B5EF4-FFF2-40B4-BE49-F238E27FC236}">
                <a16:creationId xmlns:a16="http://schemas.microsoft.com/office/drawing/2014/main" id="{4421B626-CEE6-4B1D-B49D-8A28274E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Timebase: 1ns/1ps, 10ns verification clock. Directed cases cover reset, legal/illegal AHB access, TX ACK/NACK, RX ACK/NACK, busy reject, and four deterministic-random TX bytes.</a:t>
            </a:r>
          </a:p>
        </p:txBody>
      </p:sp>
      <p:sp>
        <p:nvSpPr>
          <p:cNvPr id="34" name="footer-11">
            <a:extLst xmlns:a="http://schemas.openxmlformats.org/drawingml/2006/main">
              <a:ext uri="{FF2B5EF4-FFF2-40B4-BE49-F238E27FC236}">
                <a16:creationId xmlns:a16="http://schemas.microsoft.com/office/drawing/2014/main" id="{AD150F12-D13B-4BA9-BE97-1759C539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79416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A812008-8409-4FC3-9DE9-660EDDA4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I2C Master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C81B80-A72B-4A6D-B885-DD735207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后续集成关注点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807BBCD-AAEE-4140-9820-EE6C8646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当前模块满足 wasp1 最小 I2C master contract，系统级仍要验证 pad 与外部设备时序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88FF52F-DEB0-4F3C-BB49-114708A1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w">
            <a:extLst xmlns:a="http://schemas.openxmlformats.org/drawingml/2006/main">
              <a:ext uri="{FF2B5EF4-FFF2-40B4-BE49-F238E27FC236}">
                <a16:creationId xmlns:a16="http://schemas.microsoft.com/office/drawing/2014/main" id="{E5583B40-5D47-48E3-8EB5-DCA2DC6E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current module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verified AHB slave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byte FSM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open-drain OE</a:t>
            </a:r>
          </a:p>
        </p:txBody>
      </p:sp>
      <p:sp>
        <p:nvSpPr>
          <p:cNvPr id="6" name="integ">
            <a:extLst xmlns:a="http://schemas.openxmlformats.org/drawingml/2006/main">
              <a:ext uri="{FF2B5EF4-FFF2-40B4-BE49-F238E27FC236}">
                <a16:creationId xmlns:a16="http://schemas.microsoft.com/office/drawing/2014/main" id="{1B023FBC-AF9D-48B1-B47C-E2DB10B2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integration work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pad wrapper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pull-up choice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board timing</a:t>
            </a:r>
          </a:p>
        </p:txBody>
      </p:sp>
      <p:sp>
        <p:nvSpPr>
          <p:cNvPr id="7" name="sys">
            <a:extLst xmlns:a="http://schemas.openxmlformats.org/drawingml/2006/main">
              <a:ext uri="{FF2B5EF4-FFF2-40B4-BE49-F238E27FC236}">
                <a16:creationId xmlns:a16="http://schemas.microsoft.com/office/drawing/2014/main" id="{659BD320-2D5B-425A-828E-DE3B5249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system validation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real I2C target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firmware driver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IRQ path</a:t>
            </a:r>
          </a:p>
        </p:txBody>
      </p: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43250" y="30003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0003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0" name="residual">
            <a:extLst xmlns:a="http://schemas.openxmlformats.org/drawingml/2006/main">
              <a:ext uri="{FF2B5EF4-FFF2-40B4-BE49-F238E27FC236}">
                <a16:creationId xmlns:a16="http://schemas.microsoft.com/office/drawing/2014/main" id="{72B12405-BACC-44B1-8762-4028A6D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multi-master arbitration 和 clock stretching 仍是明确非目标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FPGA/IC pad open-drain 实现需要在顶层 wrapper 中确认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系统集成后增加 firmware-driven I2C peripheral 回归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后续可补结构覆盖和外设 timing margin signoff</a:t>
            </a:r>
          </a:p>
        </p:txBody>
      </p:sp>
      <p:sp>
        <p:nvSpPr>
          <p:cNvPr id="11" name="footer-12">
            <a:extLst xmlns:a="http://schemas.openxmlformats.org/drawingml/2006/main">
              <a:ext uri="{FF2B5EF4-FFF2-40B4-BE49-F238E27FC236}">
                <a16:creationId xmlns:a16="http://schemas.microsoft.com/office/drawing/2014/main" id="{5C4748C9-4444-4FF5-AF68-7AF0A46A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0099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2026-06-30T03:19:40.0420000Z</dcterms:created>
  <dcterms:modified xsi:type="dcterms:W3CDTF">2026-06-30T03:19:40.0420000Z</dcterms:modified>
</coreProperties>
</file>