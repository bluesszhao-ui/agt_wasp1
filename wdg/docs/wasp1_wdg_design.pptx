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e7c754ed874fe7" /><Relationship Type="http://schemas.openxmlformats.org/officeDocument/2006/relationships/extended-properties" Target="/docProps/app.xml" Id="R07be54e1c57f4a57" /><Relationship Type="http://schemas.openxmlformats.org/officeDocument/2006/relationships/officeDocument" Target="/ppt/presentation.xml" Id="R0f8e962dc33a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311b0fec6491b"/>
  </p:sldMasterIdLst>
  <p:notesMasterIdLst>
    <p:notesMasterId xmlns:r="http://schemas.openxmlformats.org/officeDocument/2006/relationships" r:id="Rce4c5f487ac14093"/>
  </p:notesMasterIdLst>
  <p:sldIdLst>
    <p:sldId xmlns:r="http://schemas.openxmlformats.org/officeDocument/2006/relationships" id="256" r:id="R417e9b7d89bb47c6"/>
    <p:sldId xmlns:r="http://schemas.openxmlformats.org/officeDocument/2006/relationships" id="257" r:id="R0d8ac7b33a604a52"/>
    <p:sldId xmlns:r="http://schemas.openxmlformats.org/officeDocument/2006/relationships" id="258" r:id="Rd96efcc7e96a4307"/>
    <p:sldId xmlns:r="http://schemas.openxmlformats.org/officeDocument/2006/relationships" id="259" r:id="Rdc52951f74134af2"/>
    <p:sldId xmlns:r="http://schemas.openxmlformats.org/officeDocument/2006/relationships" id="260" r:id="R21dce1dc3bee4a32"/>
    <p:sldId xmlns:r="http://schemas.openxmlformats.org/officeDocument/2006/relationships" id="261" r:id="R9b57685da78441de"/>
    <p:sldId xmlns:r="http://schemas.openxmlformats.org/officeDocument/2006/relationships" id="262" r:id="R1103d1397ab24738"/>
    <p:sldId xmlns:r="http://schemas.openxmlformats.org/officeDocument/2006/relationships" id="263" r:id="R4f61b24f8dfa4f79"/>
    <p:sldId xmlns:r="http://schemas.openxmlformats.org/officeDocument/2006/relationships" id="264" r:id="R9645dfd9bd914500"/>
    <p:sldId xmlns:r="http://schemas.openxmlformats.org/officeDocument/2006/relationships" id="265" r:id="Re4f0271aed854b9d"/>
    <p:sldId xmlns:r="http://schemas.openxmlformats.org/officeDocument/2006/relationships" id="266" r:id="R83f8a77b78bc4e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0f8c5639034b59" /><Relationship Type="http://schemas.openxmlformats.org/officeDocument/2006/relationships/slideMaster" Target="/ppt/slideMasters/slideMaster1.xml" Id="R9c7311b0fec6491b" /><Relationship Type="http://schemas.openxmlformats.org/officeDocument/2006/relationships/notesMaster" Target="/ppt/notesMasters/notesMaster1.xml" Id="Rce4c5f487ac14093" /><Relationship Type="http://schemas.openxmlformats.org/officeDocument/2006/relationships/presProps" Target="/ppt/presProps.xml" Id="Ra7d21ceea3b044bf" /><Relationship Type="http://schemas.openxmlformats.org/officeDocument/2006/relationships/tableStyles" Target="/ppt/tableStyles.xml" Id="R9938f30f94fe4e89" /><Relationship Type="http://schemas.openxmlformats.org/officeDocument/2006/relationships/slide" Target="/ppt/slides/slide1.xml" Id="R417e9b7d89bb47c6" /><Relationship Type="http://schemas.openxmlformats.org/officeDocument/2006/relationships/slide" Target="/ppt/slides/slide2.xml" Id="R0d8ac7b33a604a52" /><Relationship Type="http://schemas.openxmlformats.org/officeDocument/2006/relationships/slide" Target="/ppt/slides/slide3.xml" Id="Rd96efcc7e96a4307" /><Relationship Type="http://schemas.openxmlformats.org/officeDocument/2006/relationships/slide" Target="/ppt/slides/slide4.xml" Id="Rdc52951f74134af2" /><Relationship Type="http://schemas.openxmlformats.org/officeDocument/2006/relationships/slide" Target="/ppt/slides/slide5.xml" Id="R21dce1dc3bee4a32" /><Relationship Type="http://schemas.openxmlformats.org/officeDocument/2006/relationships/slide" Target="/ppt/slides/slide6.xml" Id="R9b57685da78441de" /><Relationship Type="http://schemas.openxmlformats.org/officeDocument/2006/relationships/slide" Target="/ppt/slides/slide7.xml" Id="R1103d1397ab24738" /><Relationship Type="http://schemas.openxmlformats.org/officeDocument/2006/relationships/slide" Target="/ppt/slides/slide8.xml" Id="R4f61b24f8dfa4f79" /><Relationship Type="http://schemas.openxmlformats.org/officeDocument/2006/relationships/slide" Target="/ppt/slides/slide9.xml" Id="R9645dfd9bd914500" /><Relationship Type="http://schemas.openxmlformats.org/officeDocument/2006/relationships/slide" Target="/ppt/slides/slide10.xml" Id="Re4f0271aed854b9d" /><Relationship Type="http://schemas.openxmlformats.org/officeDocument/2006/relationships/slide" Target="/ppt/slides/slide11.xml" Id="R83f8a77b78bc4e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b1d29b6f3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4ffd343f64659" /><Relationship Type="http://schemas.openxmlformats.org/officeDocument/2006/relationships/notesMaster" Target="/ppt/notesMasters/notesMaster1.xml" Id="R78f3396040fe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91a68e0834601" /><Relationship Type="http://schemas.openxmlformats.org/officeDocument/2006/relationships/notesMaster" Target="/ppt/notesMasters/notesMaster1.xml" Id="R712c58f485df43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2b9bcdee34e65" /><Relationship Type="http://schemas.openxmlformats.org/officeDocument/2006/relationships/notesMaster" Target="/ppt/notesMasters/notesMaster1.xml" Id="Rb10145796c0144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44c6d55a349a6" /><Relationship Type="http://schemas.openxmlformats.org/officeDocument/2006/relationships/notesMaster" Target="/ppt/notesMasters/notesMaster1.xml" Id="Rec3a42e766c741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010fbcbd64562" /><Relationship Type="http://schemas.openxmlformats.org/officeDocument/2006/relationships/notesMaster" Target="/ppt/notesMasters/notesMaster1.xml" Id="R0c60317b06d1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f26783b7b40d9" /><Relationship Type="http://schemas.openxmlformats.org/officeDocument/2006/relationships/notesMaster" Target="/ppt/notesMasters/notesMaster1.xml" Id="Rc57594aee489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e53b96d0d44d1" /><Relationship Type="http://schemas.openxmlformats.org/officeDocument/2006/relationships/notesMaster" Target="/ppt/notesMasters/notesMaster1.xml" Id="R9bfd419931d340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b6ec39b4134452" /><Relationship Type="http://schemas.openxmlformats.org/officeDocument/2006/relationships/notesMaster" Target="/ppt/notesMasters/notesMaster1.xml" Id="R6f1324491bd8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770d2f578453b" /><Relationship Type="http://schemas.openxmlformats.org/officeDocument/2006/relationships/notesMaster" Target="/ppt/notesMasters/notesMaster1.xml" Id="R7b0196e7396c49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de06243f9f404d" /><Relationship Type="http://schemas.openxmlformats.org/officeDocument/2006/relationships/notesMaster" Target="/ppt/notesMasters/notesMaster1.xml" Id="R05c31dad8c1648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912f927aef4bb3" /><Relationship Type="http://schemas.openxmlformats.org/officeDocument/2006/relationships/notesMaster" Target="/ppt/notesMasters/notesMaster1.xml" Id="R60423bb73bdd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05455a8ce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5d52291574bb1" /><Relationship Type="http://schemas.openxmlformats.org/officeDocument/2006/relationships/slideLayout" Target="/ppt/slideLayouts/slideLayout1.xml" Id="R6c6e46c2739e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e46c2739e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84ad62a2a4117" /><Relationship Type="http://schemas.openxmlformats.org/officeDocument/2006/relationships/notesSlide" Target="/ppt/notesSlides/notesSlide1.xml" Id="R4cdcae218468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90a9275d9499a" /><Relationship Type="http://schemas.openxmlformats.org/officeDocument/2006/relationships/notesSlide" Target="/ppt/notesSlides/notesSlide2.xml" Id="R3e0bb3ae6f9d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d9b45e0574212" /><Relationship Type="http://schemas.openxmlformats.org/officeDocument/2006/relationships/notesSlide" Target="/ppt/notesSlides/notesSlide3.xml" Id="R702db910dcaa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5cd0276074aa8" /><Relationship Type="http://schemas.openxmlformats.org/officeDocument/2006/relationships/notesSlide" Target="/ppt/notesSlides/notesSlide4.xml" Id="Rd8c2842dec95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052662a454f85" /><Relationship Type="http://schemas.openxmlformats.org/officeDocument/2006/relationships/notesSlide" Target="/ppt/notesSlides/notesSlide5.xml" Id="R58ed1a0458384e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4411fe1d34a07" /><Relationship Type="http://schemas.openxmlformats.org/officeDocument/2006/relationships/notesSlide" Target="/ppt/notesSlides/notesSlide6.xml" Id="Rcbaed0699c2d40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58c323184f44" /><Relationship Type="http://schemas.openxmlformats.org/officeDocument/2006/relationships/notesSlide" Target="/ppt/notesSlides/notesSlide7.xml" Id="R009cea784bf047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0fa0784ec4d0b" /><Relationship Type="http://schemas.openxmlformats.org/officeDocument/2006/relationships/notesSlide" Target="/ppt/notesSlides/notesSlide8.xml" Id="Rd57720da9a3f4e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e442289014f09" /><Relationship Type="http://schemas.openxmlformats.org/officeDocument/2006/relationships/notesSlide" Target="/ppt/notesSlides/notesSlide9.xml" Id="R8447c56ee8fa45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7b85269474973" /><Relationship Type="http://schemas.openxmlformats.org/officeDocument/2006/relationships/notesSlide" Target="/ppt/notesSlides/notesSlide10.xml" Id="R5adf273615364b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699c9c4824c20" /><Relationship Type="http://schemas.openxmlformats.org/officeDocument/2006/relationships/notesSlide" Target="/ppt/notesSlides/notesSlide11.xml" Id="R6dd02388120449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F9534C6-2F10-4E46-9BB5-0400732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A5A5A"/>
                </a:solidFill>
              </a:defRPr>
            </a:pPr>
            <a:r>
              <a:rPr sz="1350" b="1">
                <a:solidFill>
                  <a:srgbClr val="5A5A5A"/>
                </a:solidFill>
              </a:rPr>
              <a:t>wasp1 / peripheral leaf / safety timer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C73B7D-14F7-4212-89AA-53EA196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Watchdog</a:t>
            </a:r>
          </a:p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Design PPT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E65A5601-327A-44C6-ABC2-81075C3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5A5A"/>
                </a:solidFill>
              </a:defRPr>
            </a:pPr>
            <a:r>
              <a:rPr sz="1650">
                <a:solidFill>
                  <a:srgbClr val="5A5A5A"/>
                </a:solidFill>
              </a:rPr>
              <a:t>AHB-Lite watchdog timer：timeout counter、kick key、clear priority、IRQ/reset request 输出，以及自检查验证。</a:t>
            </a:r>
          </a:p>
        </p:txBody>
      </p:sp>
      <p:sp>
        <p:nvSpPr>
          <p:cNvPr id="4" name="cover-ahb">
            <a:extLst xmlns:a="http://schemas.openxmlformats.org/drawingml/2006/main">
              <a:ext uri="{FF2B5EF4-FFF2-40B4-BE49-F238E27FC236}">
                <a16:creationId xmlns:a16="http://schemas.microsoft.com/office/drawing/2014/main" id="{05216BE4-6D25-45DB-BE54-80FF1A6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AHB-Lite slave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register access</a:t>
            </a:r>
          </a:p>
        </p:txBody>
      </p:sp>
      <p:sp>
        <p:nvSpPr>
          <p:cNvPr id="5" name="cover-regs">
            <a:extLst xmlns:a="http://schemas.openxmlformats.org/drawingml/2006/main">
              <a:ext uri="{FF2B5EF4-FFF2-40B4-BE49-F238E27FC236}">
                <a16:creationId xmlns:a16="http://schemas.microsoft.com/office/drawing/2014/main" id="{1E11E6AC-1345-456F-97D4-7EFFB222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811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control/status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timeout/count</a:t>
            </a:r>
          </a:p>
        </p:txBody>
      </p:sp>
      <p:sp>
        <p:nvSpPr>
          <p:cNvPr id="6" name="cover-cmp">
            <a:extLst xmlns:a="http://schemas.openxmlformats.org/drawingml/2006/main">
              <a:ext uri="{FF2B5EF4-FFF2-40B4-BE49-F238E27FC236}">
                <a16:creationId xmlns:a16="http://schemas.microsoft.com/office/drawing/2014/main" id="{FE323294-9238-458B-B8D4-125B033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count+1 compare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 hit</a:t>
            </a:r>
          </a:p>
        </p:txBody>
      </p:sp>
      <p:sp>
        <p:nvSpPr>
          <p:cNvPr id="7" name="cover-out">
            <a:extLst xmlns:a="http://schemas.openxmlformats.org/drawingml/2006/main">
              <a:ext uri="{FF2B5EF4-FFF2-40B4-BE49-F238E27FC236}">
                <a16:creationId xmlns:a16="http://schemas.microsoft.com/office/drawing/2014/main" id="{597218F0-20C7-4689-ABB5-8269C6E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62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IRQ/reset request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SoC integration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048750" y="1809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9477375" y="2238375"/>
            <a:ext cx="10477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477375" y="38576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tag-editable native PowerPoint shapes">
            <a:extLst xmlns:a="http://schemas.openxmlformats.org/drawingml/2006/main">
              <a:ext uri="{FF2B5EF4-FFF2-40B4-BE49-F238E27FC236}">
                <a16:creationId xmlns:a16="http://schemas.microsoft.com/office/drawing/2014/main" id="{12EC3EEF-3541-45B8-81AE-211D6D0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editable native PowerPoint shapes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BD7F964C-4ED7-4F4A-94DC-B09912F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9770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4362DEC-18BE-48FC-97E0-BACA957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14FDAD-F3FB-4124-9F67-57C5179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设计目标与行为边界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731BFF2-4B9D-4398-90FE-5A7F135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软件定期写 KICK key；超时后 sticky status 驱动 IRQ 和 reset request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90AC87-6524-43EF-A7A5-8D21BB2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als">
            <a:extLst xmlns:a="http://schemas.openxmlformats.org/drawingml/2006/main">
              <a:ext uri="{FF2B5EF4-FFF2-40B4-BE49-F238E27FC236}">
                <a16:creationId xmlns:a16="http://schemas.microsoft.com/office/drawing/2014/main" id="{AE5DDA9E-41B3-47FA-9316-C3AF0F64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AHB-Lite always-ready word register slave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TIMEOUT=N 表示清零后 N 个 enabled ticks 到期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TIMEOUT=0 作为 immediate expiry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正确 KICK 清 count/expired/reset_req；错误 key 只置 keyerr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模块自身不决定 SoC reset tree，只输出 wdg_reset_req_o</a:t>
            </a:r>
          </a:p>
        </p:txBody>
      </p:sp>
      <p:sp>
        <p:nvSpPr>
          <p:cNvPr id="6" name="goal-ctrl">
            <a:extLst xmlns:a="http://schemas.openxmlformats.org/drawingml/2006/main">
              <a:ext uri="{FF2B5EF4-FFF2-40B4-BE49-F238E27FC236}">
                <a16:creationId xmlns:a16="http://schemas.microsoft.com/office/drawing/2014/main" id="{D5EB9F90-1C7D-4645-8E36-2061F64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095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CTRL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enable irq_en reset_en</a:t>
            </a:r>
          </a:p>
        </p:txBody>
      </p:sp>
      <p:sp>
        <p:nvSpPr>
          <p:cNvPr id="7" name="goal-count">
            <a:extLst xmlns:a="http://schemas.openxmlformats.org/drawingml/2006/main">
              <a:ext uri="{FF2B5EF4-FFF2-40B4-BE49-F238E27FC236}">
                <a16:creationId xmlns:a16="http://schemas.microsoft.com/office/drawing/2014/main" id="{8CE4ED21-57AC-4351-9C5B-89C2B74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COUNT/TIMEOUT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up counter</a:t>
            </a:r>
          </a:p>
        </p:txBody>
      </p:sp>
      <p:sp>
        <p:nvSpPr>
          <p:cNvPr id="8" name="goal-status">
            <a:extLst xmlns:a="http://schemas.openxmlformats.org/drawingml/2006/main">
              <a:ext uri="{FF2B5EF4-FFF2-40B4-BE49-F238E27FC236}">
                <a16:creationId xmlns:a16="http://schemas.microsoft.com/office/drawing/2014/main" id="{B37E3B6D-ECAF-4048-83C5-0338855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sticky status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expired reset_req keyerr</a:t>
            </a:r>
          </a:p>
        </p:txBody>
      </p:sp>
      <p:sp>
        <p:nvSpPr>
          <p:cNvPr id="9" name="goal-if">
            <a:extLst xmlns:a="http://schemas.openxmlformats.org/drawingml/2006/main">
              <a:ext uri="{FF2B5EF4-FFF2-40B4-BE49-F238E27FC236}">
                <a16:creationId xmlns:a16="http://schemas.microsoft.com/office/drawing/2014/main" id="{BE0E892C-1949-486B-80A3-1CFE61D2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wdg_irq_o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wdg_reset_req_o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452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715250" y="2905125"/>
            <a:ext cx="25241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63000" y="4405313"/>
            <a:ext cx="571500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3" name="footer-2">
            <a:extLst xmlns:a="http://schemas.openxmlformats.org/drawingml/2006/main">
              <a:ext uri="{FF2B5EF4-FFF2-40B4-BE49-F238E27FC236}">
                <a16:creationId xmlns:a16="http://schemas.microsoft.com/office/drawing/2014/main" id="{A4DD1D1E-6455-4576-B9D4-D3BFAA36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5127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2703B05-C62F-4274-A3E9-84003E9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00680D-883D-456F-890A-9C66F85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模块总体结构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9BF78D7-FA4C-4794-942C-ECF24BE4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AHB 请求锁存、寄存器状态、timeout compare 和输出 decode 明确分层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896D49-89D9-428D-8A99-0AB86971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-ahb">
            <a:extLst xmlns:a="http://schemas.openxmlformats.org/drawingml/2006/main">
              <a:ext uri="{FF2B5EF4-FFF2-40B4-BE49-F238E27FC236}">
                <a16:creationId xmlns:a16="http://schemas.microsoft.com/office/drawing/2014/main" id="{97A47A9C-F7C3-47EB-9639-1699B99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bus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hsel/haddr/htrans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hwrite/hsize/hwdata</a:t>
            </a:r>
          </a:p>
        </p:txBody>
      </p:sp>
      <p:sp>
        <p:nvSpPr>
          <p:cNvPr id="6" name="arch-dec">
            <a:extLst xmlns:a="http://schemas.openxmlformats.org/drawingml/2006/main">
              <a:ext uri="{FF2B5EF4-FFF2-40B4-BE49-F238E27FC236}">
                <a16:creationId xmlns:a16="http://schemas.microsoft.com/office/drawing/2014/main" id="{BB0CCBF8-9BC6-4967-8039-ACE7B7C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address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range/alignment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word size</a:t>
            </a:r>
          </a:p>
        </p:txBody>
      </p:sp>
      <p:sp>
        <p:nvSpPr>
          <p:cNvPr id="7" name="arch-req">
            <a:extLst xmlns:a="http://schemas.openxmlformats.org/drawingml/2006/main">
              <a:ext uri="{FF2B5EF4-FFF2-40B4-BE49-F238E27FC236}">
                <a16:creationId xmlns:a16="http://schemas.microsoft.com/office/drawing/2014/main" id="{73BC383A-EB8B-43BF-9EC5-47CDE22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857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clk=hclk_i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rst=hresetn_i</a:t>
            </a:r>
          </a:p>
        </p:txBody>
      </p:sp>
      <p:sp>
        <p:nvSpPr>
          <p:cNvPr id="8" name="arch-regs">
            <a:extLst xmlns:a="http://schemas.openxmlformats.org/drawingml/2006/main">
              <a:ext uri="{FF2B5EF4-FFF2-40B4-BE49-F238E27FC236}">
                <a16:creationId xmlns:a16="http://schemas.microsoft.com/office/drawing/2014/main" id="{6266612B-441B-4E28-AE40-ED3804F8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095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control/status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timeout/count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expired/keyerr</a:t>
            </a:r>
          </a:p>
        </p:txBody>
      </p:sp>
      <p:sp>
        <p:nvSpPr>
          <p:cNvPr id="9" name="arch-cmp">
            <a:extLst xmlns:a="http://schemas.openxmlformats.org/drawingml/2006/main">
              <a:ext uri="{FF2B5EF4-FFF2-40B4-BE49-F238E27FC236}">
                <a16:creationId xmlns:a16="http://schemas.microsoft.com/office/drawing/2014/main" id="{B8E52052-2EC7-4977-B833-9C2D17E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count_plus_one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timeout_hit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TIMEOUT=0</a:t>
            </a:r>
          </a:p>
        </p:txBody>
      </p:sp>
      <p:sp>
        <p:nvSpPr>
          <p:cNvPr id="10" name="arch-out">
            <a:extLst xmlns:a="http://schemas.openxmlformats.org/drawingml/2006/main">
              <a:ext uri="{FF2B5EF4-FFF2-40B4-BE49-F238E27FC236}">
                <a16:creationId xmlns:a16="http://schemas.microsoft.com/office/drawing/2014/main" id="{C045F173-33F5-474D-B32D-82754B32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1571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read/status/output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HRDATA/HRESP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IRQ/reset_req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595563"/>
            <a:ext cx="523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14875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143750" y="2405063"/>
            <a:ext cx="61912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810625" y="30003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2405063"/>
            <a:ext cx="428625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858375" y="3357563"/>
            <a:ext cx="428625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6AE47AD6-B03A-40FD-A441-9D3FCFF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7133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726B325-9BBD-4BB8-A698-E2ADB3F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FDCD7-7340-4ECE-A118-592161E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软件寄存器模型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A72B17-08FC-433C-A642-4F3C65BC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5 个 word registers 覆盖 enable、状态、timeout、count 和 feed 动作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2BC42D-B273-411A-9EA4-F70A299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gmap-h-0">
            <a:extLst xmlns:a="http://schemas.openxmlformats.org/drawingml/2006/main">
              <a:ext uri="{FF2B5EF4-FFF2-40B4-BE49-F238E27FC236}">
                <a16:creationId xmlns:a16="http://schemas.microsoft.com/office/drawing/2014/main" id="{3BC4006E-97FF-45F8-A314-5C1B5A2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Offset</a:t>
            </a:r>
          </a:p>
        </p:txBody>
      </p:sp>
      <p:sp>
        <p:nvSpPr>
          <p:cNvPr id="6" name="regmap-h-1">
            <a:extLst xmlns:a="http://schemas.openxmlformats.org/drawingml/2006/main">
              <a:ext uri="{FF2B5EF4-FFF2-40B4-BE49-F238E27FC236}">
                <a16:creationId xmlns:a16="http://schemas.microsoft.com/office/drawing/2014/main" id="{D0AF770A-C857-4730-BD45-39209FE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7" name="regmap-h-2">
            <a:extLst xmlns:a="http://schemas.openxmlformats.org/drawingml/2006/main">
              <a:ext uri="{FF2B5EF4-FFF2-40B4-BE49-F238E27FC236}">
                <a16:creationId xmlns:a16="http://schemas.microsoft.com/office/drawing/2014/main" id="{2DAC8E7C-57B9-4F78-A06F-6671C4B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8" name="regmap-h-3">
            <a:extLst xmlns:a="http://schemas.openxmlformats.org/drawingml/2006/main">
              <a:ext uri="{FF2B5EF4-FFF2-40B4-BE49-F238E27FC236}">
                <a16:creationId xmlns:a16="http://schemas.microsoft.com/office/drawing/2014/main" id="{2CA53B2C-7CBD-417F-8332-79E6B775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9" name="regmap-0-0">
            <a:extLst xmlns:a="http://schemas.openxmlformats.org/drawingml/2006/main">
              <a:ext uri="{FF2B5EF4-FFF2-40B4-BE49-F238E27FC236}">
                <a16:creationId xmlns:a16="http://schemas.microsoft.com/office/drawing/2014/main" id="{5030A000-9BC2-455E-B9E2-B68D6AD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0x00</a:t>
            </a:r>
          </a:p>
        </p:txBody>
      </p:sp>
      <p:sp>
        <p:nvSpPr>
          <p:cNvPr id="10" name="regmap-0-1">
            <a:extLst xmlns:a="http://schemas.openxmlformats.org/drawingml/2006/main">
              <a:ext uri="{FF2B5EF4-FFF2-40B4-BE49-F238E27FC236}">
                <a16:creationId xmlns:a16="http://schemas.microsoft.com/office/drawing/2014/main" id="{2958A350-2D8E-46E3-9916-EBAB7DD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CTRL</a:t>
            </a:r>
          </a:p>
        </p:txBody>
      </p:sp>
      <p:sp>
        <p:nvSpPr>
          <p:cNvPr id="11" name="regmap-0-2">
            <a:extLst xmlns:a="http://schemas.openxmlformats.org/drawingml/2006/main">
              <a:ext uri="{FF2B5EF4-FFF2-40B4-BE49-F238E27FC236}">
                <a16:creationId xmlns:a16="http://schemas.microsoft.com/office/drawing/2014/main" id="{9FAAC7A0-076E-4BB1-A9DB-3BCA57A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050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RW</a:t>
            </a:r>
          </a:p>
        </p:txBody>
      </p:sp>
      <p:sp>
        <p:nvSpPr>
          <p:cNvPr id="12" name="regmap-0-3">
            <a:extLst xmlns:a="http://schemas.openxmlformats.org/drawingml/2006/main">
              <a:ext uri="{FF2B5EF4-FFF2-40B4-BE49-F238E27FC236}">
                <a16:creationId xmlns:a16="http://schemas.microsoft.com/office/drawing/2014/main" id="{4A7327D2-E0AB-4EA7-8A62-1AA4AF18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050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enable, irq_en, reset_en, clear</a:t>
            </a:r>
          </a:p>
        </p:txBody>
      </p:sp>
      <p:sp>
        <p:nvSpPr>
          <p:cNvPr id="13" name="regmap-1-0">
            <a:extLst xmlns:a="http://schemas.openxmlformats.org/drawingml/2006/main">
              <a:ext uri="{FF2B5EF4-FFF2-40B4-BE49-F238E27FC236}">
                <a16:creationId xmlns:a16="http://schemas.microsoft.com/office/drawing/2014/main" id="{3A70E084-8B9F-4192-80D4-7DBEEBF4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0x04</a:t>
            </a:r>
          </a:p>
        </p:txBody>
      </p:sp>
      <p:sp>
        <p:nvSpPr>
          <p:cNvPr id="14" name="regmap-1-1">
            <a:extLst xmlns:a="http://schemas.openxmlformats.org/drawingml/2006/main">
              <a:ext uri="{FF2B5EF4-FFF2-40B4-BE49-F238E27FC236}">
                <a16:creationId xmlns:a16="http://schemas.microsoft.com/office/drawing/2014/main" id="{47FE7E1D-75F8-4413-B05E-CF33A3D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57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STATUS</a:t>
            </a:r>
          </a:p>
        </p:txBody>
      </p:sp>
      <p:sp>
        <p:nvSpPr>
          <p:cNvPr id="15" name="regmap-1-2">
            <a:extLst xmlns:a="http://schemas.openxmlformats.org/drawingml/2006/main">
              <a:ext uri="{FF2B5EF4-FFF2-40B4-BE49-F238E27FC236}">
                <a16:creationId xmlns:a16="http://schemas.microsoft.com/office/drawing/2014/main" id="{CD73A52F-E18F-430B-BBE0-53C5AA35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</a:t>
            </a:r>
          </a:p>
        </p:txBody>
      </p:sp>
      <p:sp>
        <p:nvSpPr>
          <p:cNvPr id="16" name="regmap-1-3">
            <a:extLst xmlns:a="http://schemas.openxmlformats.org/drawingml/2006/main">
              <a:ext uri="{FF2B5EF4-FFF2-40B4-BE49-F238E27FC236}">
                <a16:creationId xmlns:a16="http://schemas.microsoft.com/office/drawing/2014/main" id="{361F2F13-A3B0-4A47-8558-A898EDE0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expired, reset_req, keyerr, running</a:t>
            </a:r>
          </a:p>
        </p:txBody>
      </p:sp>
      <p:sp>
        <p:nvSpPr>
          <p:cNvPr id="17" name="regmap-2-0">
            <a:extLst xmlns:a="http://schemas.openxmlformats.org/drawingml/2006/main">
              <a:ext uri="{FF2B5EF4-FFF2-40B4-BE49-F238E27FC236}">
                <a16:creationId xmlns:a16="http://schemas.microsoft.com/office/drawing/2014/main" id="{10A0E189-2667-4DB4-B2F8-7F752D5A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0x08</a:t>
            </a:r>
          </a:p>
        </p:txBody>
      </p:sp>
      <p:sp>
        <p:nvSpPr>
          <p:cNvPr id="18" name="regmap-2-1">
            <a:extLst xmlns:a="http://schemas.openxmlformats.org/drawingml/2006/main">
              <a:ext uri="{FF2B5EF4-FFF2-40B4-BE49-F238E27FC236}">
                <a16:creationId xmlns:a16="http://schemas.microsoft.com/office/drawing/2014/main" id="{A3752D46-4DA0-43DF-9E16-09A730E9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99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TIMEOUT</a:t>
            </a:r>
          </a:p>
        </p:txBody>
      </p:sp>
      <p:sp>
        <p:nvSpPr>
          <p:cNvPr id="19" name="regmap-2-2">
            <a:extLst xmlns:a="http://schemas.openxmlformats.org/drawingml/2006/main">
              <a:ext uri="{FF2B5EF4-FFF2-40B4-BE49-F238E27FC236}">
                <a16:creationId xmlns:a16="http://schemas.microsoft.com/office/drawing/2014/main" id="{72CFC23F-29B8-41A7-823F-FA517563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RW</a:t>
            </a:r>
          </a:p>
        </p:txBody>
      </p:sp>
      <p:sp>
        <p:nvSpPr>
          <p:cNvPr id="20" name="regmap-2-3">
            <a:extLst xmlns:a="http://schemas.openxmlformats.org/drawingml/2006/main">
              <a:ext uri="{FF2B5EF4-FFF2-40B4-BE49-F238E27FC236}">
                <a16:creationId xmlns:a16="http://schemas.microsoft.com/office/drawing/2014/main" id="{CA33B11B-74EA-4A21-AD4A-9A24EB6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99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32-bit terminal count</a:t>
            </a:r>
          </a:p>
        </p:txBody>
      </p:sp>
      <p:sp>
        <p:nvSpPr>
          <p:cNvPr id="21" name="regmap-3-0">
            <a:extLst xmlns:a="http://schemas.openxmlformats.org/drawingml/2006/main">
              <a:ext uri="{FF2B5EF4-FFF2-40B4-BE49-F238E27FC236}">
                <a16:creationId xmlns:a16="http://schemas.microsoft.com/office/drawing/2014/main" id="{D623F0A5-FE1F-4420-BB96-76D4ADD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0x0C</a:t>
            </a:r>
          </a:p>
        </p:txBody>
      </p:sp>
      <p:sp>
        <p:nvSpPr>
          <p:cNvPr id="22" name="regmap-3-1">
            <a:extLst xmlns:a="http://schemas.openxmlformats.org/drawingml/2006/main">
              <a:ext uri="{FF2B5EF4-FFF2-40B4-BE49-F238E27FC236}">
                <a16:creationId xmlns:a16="http://schemas.microsoft.com/office/drawing/2014/main" id="{4EAB4F0A-8318-46E4-B529-D00EDDB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624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COUNT</a:t>
            </a:r>
          </a:p>
        </p:txBody>
      </p:sp>
      <p:sp>
        <p:nvSpPr>
          <p:cNvPr id="23" name="regmap-3-2">
            <a:extLst xmlns:a="http://schemas.openxmlformats.org/drawingml/2006/main">
              <a:ext uri="{FF2B5EF4-FFF2-40B4-BE49-F238E27FC236}">
                <a16:creationId xmlns:a16="http://schemas.microsoft.com/office/drawing/2014/main" id="{A555EFD3-23CF-4A17-8587-84BCDFB2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624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</a:t>
            </a:r>
          </a:p>
        </p:txBody>
      </p:sp>
      <p:sp>
        <p:nvSpPr>
          <p:cNvPr id="24" name="regmap-3-3">
            <a:extLst xmlns:a="http://schemas.openxmlformats.org/drawingml/2006/main">
              <a:ext uri="{FF2B5EF4-FFF2-40B4-BE49-F238E27FC236}">
                <a16:creationId xmlns:a16="http://schemas.microsoft.com/office/drawing/2014/main" id="{6F2C9884-F49F-42D8-B04D-0C67AB8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624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current watchdog count</a:t>
            </a:r>
          </a:p>
        </p:txBody>
      </p:sp>
      <p:sp>
        <p:nvSpPr>
          <p:cNvPr id="25" name="regmap-4-0">
            <a:extLst xmlns:a="http://schemas.openxmlformats.org/drawingml/2006/main">
              <a:ext uri="{FF2B5EF4-FFF2-40B4-BE49-F238E27FC236}">
                <a16:creationId xmlns:a16="http://schemas.microsoft.com/office/drawing/2014/main" id="{055310E2-497E-4E31-9037-48A551F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0x10</a:t>
            </a:r>
          </a:p>
        </p:txBody>
      </p:sp>
      <p:sp>
        <p:nvSpPr>
          <p:cNvPr id="26" name="regmap-4-1">
            <a:extLst xmlns:a="http://schemas.openxmlformats.org/drawingml/2006/main">
              <a:ext uri="{FF2B5EF4-FFF2-40B4-BE49-F238E27FC236}">
                <a16:creationId xmlns:a16="http://schemas.microsoft.com/office/drawing/2014/main" id="{CF84520D-9B6E-4B45-9AFA-E032E9B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KICK</a:t>
            </a:r>
          </a:p>
        </p:txBody>
      </p:sp>
      <p:sp>
        <p:nvSpPr>
          <p:cNvPr id="27" name="regmap-4-2">
            <a:extLst xmlns:a="http://schemas.openxmlformats.org/drawingml/2006/main">
              <a:ext uri="{FF2B5EF4-FFF2-40B4-BE49-F238E27FC236}">
                <a16:creationId xmlns:a16="http://schemas.microsoft.com/office/drawing/2014/main" id="{2DC23B10-805F-4AD7-BE13-4244CC2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14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WO</a:t>
            </a:r>
          </a:p>
        </p:txBody>
      </p:sp>
      <p:sp>
        <p:nvSpPr>
          <p:cNvPr id="28" name="regmap-4-3">
            <a:extLst xmlns:a="http://schemas.openxmlformats.org/drawingml/2006/main">
              <a:ext uri="{FF2B5EF4-FFF2-40B4-BE49-F238E27FC236}">
                <a16:creationId xmlns:a16="http://schemas.microsoft.com/office/drawing/2014/main" id="{FAEFB374-943C-4D09-B082-9FA4026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1487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write WDG_KICK_VALUE to feed</a:t>
            </a:r>
          </a:p>
        </p:txBody>
      </p:sp>
      <p:sp>
        <p:nvSpPr>
          <p:cNvPr id="29" name="sw-flow">
            <a:extLst xmlns:a="http://schemas.openxmlformats.org/drawingml/2006/main">
              <a:ext uri="{FF2B5EF4-FFF2-40B4-BE49-F238E27FC236}">
                <a16:creationId xmlns:a16="http://schemas.microsoft.com/office/drawing/2014/main" id="{909B5C97-46A2-4882-890E-44AEB3F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flow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program TIMEOUT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set CTRL enable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periodic KICK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poll STATUS</a:t>
            </a:r>
          </a:p>
        </p:txBody>
      </p:sp>
      <p:sp>
        <p:nvSpPr>
          <p:cNvPr id="30" name="policy">
            <a:extLst xmlns:a="http://schemas.openxmlformats.org/drawingml/2006/main">
              <a:ext uri="{FF2B5EF4-FFF2-40B4-BE49-F238E27FC236}">
                <a16:creationId xmlns:a16="http://schemas.microsoft.com/office/drawing/2014/main" id="{FC2A4A33-4078-4328-B947-6F3C896E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KICK policy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correct key feeds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bad key latches keyerr</a:t>
            </a:r>
          </a:p>
        </p:txBody>
      </p:sp>
      <p:cxnSp>
        <p:nvCxnSpPr>
          <p:cNvPr id="63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9144000" y="3714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" name="footer-4">
            <a:extLst xmlns:a="http://schemas.openxmlformats.org/drawingml/2006/main">
              <a:ext uri="{FF2B5EF4-FFF2-40B4-BE49-F238E27FC236}">
                <a16:creationId xmlns:a16="http://schemas.microsoft.com/office/drawing/2014/main" id="{77647916-5546-41C2-8F4B-1B82ED8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6968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4C8B782-448D-45BE-A926-7E1E444A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75D007-6DA0-4F51-9863-0AC2C0D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更新优先级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76AA3FB-8315-4607-ACA2-671B40D2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clear/kick 必须能压过同周期 tick 或 expiry，这是 watchdog 语义最关键的地方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4178AD-8317-42EB-B4A2-257D427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io-text">
            <a:extLst xmlns:a="http://schemas.openxmlformats.org/drawingml/2006/main">
              <a:ext uri="{FF2B5EF4-FFF2-40B4-BE49-F238E27FC236}">
                <a16:creationId xmlns:a16="http://schemas.microsoft.com/office/drawing/2014/main" id="{67D3A083-33EF-4654-A2E9-F2E53D64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reset 初始化全部寄存器和 AHB response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默认 watchdog tick 先计算 count_plus_one / timeout_hit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软件 CTRL.clear 或 valid KICK 在同一 always_ff 后部覆盖 tick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bad KICK 不 feed，只 latch keyerr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未知寄存器和非法地址通过 HRESP ERROR 暴露</a:t>
            </a:r>
          </a:p>
        </p:txBody>
      </p:sp>
      <p:sp>
        <p:nvSpPr>
          <p:cNvPr id="6" name="prio-reset">
            <a:extLst xmlns:a="http://schemas.openxmlformats.org/drawingml/2006/main">
              <a:ext uri="{FF2B5EF4-FFF2-40B4-BE49-F238E27FC236}">
                <a16:creationId xmlns:a16="http://schemas.microsoft.com/office/drawing/2014/main" id="{7F92FF19-B466-41F5-A371-1A01A19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1762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reset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state init</a:t>
            </a:r>
          </a:p>
        </p:txBody>
      </p:sp>
      <p:sp>
        <p:nvSpPr>
          <p:cNvPr id="7" name="prio-tick">
            <a:extLst xmlns:a="http://schemas.openxmlformats.org/drawingml/2006/main">
              <a:ext uri="{FF2B5EF4-FFF2-40B4-BE49-F238E27FC236}">
                <a16:creationId xmlns:a16="http://schemas.microsoft.com/office/drawing/2014/main" id="{70D89E6B-35B3-4248-ACF5-6546B81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762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tick/compare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count+1&gt;=timeout</a:t>
            </a:r>
          </a:p>
        </p:txBody>
      </p:sp>
      <p:sp>
        <p:nvSpPr>
          <p:cNvPr id="8" name="prio-sw">
            <a:extLst xmlns:a="http://schemas.openxmlformats.org/drawingml/2006/main">
              <a:ext uri="{FF2B5EF4-FFF2-40B4-BE49-F238E27FC236}">
                <a16:creationId xmlns:a16="http://schemas.microsoft.com/office/drawing/2014/main" id="{EE9C2915-EA76-4002-9BCD-6F636B50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52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software write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clear/kick/control</a:t>
            </a:r>
          </a:p>
        </p:txBody>
      </p:sp>
      <p:sp>
        <p:nvSpPr>
          <p:cNvPr id="9" name="prio-state">
            <a:extLst xmlns:a="http://schemas.openxmlformats.org/drawingml/2006/main">
              <a:ext uri="{FF2B5EF4-FFF2-40B4-BE49-F238E27FC236}">
                <a16:creationId xmlns:a16="http://schemas.microsoft.com/office/drawing/2014/main" id="{2E51E0CD-7C65-4670-B091-07D11EA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final state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count/status/output</a:t>
            </a:r>
          </a:p>
        </p:txBody>
      </p:sp>
      <p:cxnSp>
        <p:nvCxnSpPr>
          <p:cNvPr id="2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548563" y="2667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29625" y="3548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953500" y="3952875"/>
            <a:ext cx="116681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548563" y="3952875"/>
            <a:ext cx="1404938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73494672-1DC8-4285-BADF-9F69A85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0902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58279DC-49BD-4B2E-81AA-CEFC1E4C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073DE8-D931-4368-851D-D1A5394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Timeout / Kick 工作原理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4E9C5C7-B405-4C17-8B81-A8D07DBD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count_plus_one 与 timeout_q 比较，避免 TIMEOUT=N 的 off-by-one 歧义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DD6F14F-32FA-4256-BD22-82EF0CCC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un">
            <a:extLst xmlns:a="http://schemas.openxmlformats.org/drawingml/2006/main">
              <a:ext uri="{FF2B5EF4-FFF2-40B4-BE49-F238E27FC236}">
                <a16:creationId xmlns:a16="http://schemas.microsoft.com/office/drawing/2014/main" id="{F789AFCF-7616-479A-A2CF-71DBF5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RUNNING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count&lt;N</a:t>
            </a:r>
          </a:p>
        </p:txBody>
      </p:sp>
      <p:sp>
        <p:nvSpPr>
          <p:cNvPr id="6" name="hit">
            <a:extLst xmlns:a="http://schemas.openxmlformats.org/drawingml/2006/main">
              <a:ext uri="{FF2B5EF4-FFF2-40B4-BE49-F238E27FC236}">
                <a16:creationId xmlns:a16="http://schemas.microsoft.com/office/drawing/2014/main" id="{25AA0203-E13D-4D69-82A2-A4EC165A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TIMEOUT_HIT</a:t>
            </a:r>
          </a:p>
        </p:txBody>
      </p:sp>
      <p:sp>
        <p:nvSpPr>
          <p:cNvPr id="7" name="exp">
            <a:extLst xmlns:a="http://schemas.openxmlformats.org/drawingml/2006/main">
              <a:ext uri="{FF2B5EF4-FFF2-40B4-BE49-F238E27FC236}">
                <a16:creationId xmlns:a16="http://schemas.microsoft.com/office/drawing/2014/main" id="{D76ACD1C-743F-4823-9E47-8BBD71C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EXPIRED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sticky</a:t>
            </a:r>
          </a:p>
        </p:txBody>
      </p:sp>
      <p:sp>
        <p:nvSpPr>
          <p:cNvPr id="8" name="feed">
            <a:extLst xmlns:a="http://schemas.openxmlformats.org/drawingml/2006/main">
              <a:ext uri="{FF2B5EF4-FFF2-40B4-BE49-F238E27FC236}">
                <a16:creationId xmlns:a16="http://schemas.microsoft.com/office/drawing/2014/main" id="{8C5E27B6-4C1E-4772-BCC4-46A1765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KICK/CLEAR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count=0</a:t>
            </a:r>
          </a:p>
        </p:txBody>
      </p:sp>
      <p:cxnSp>
        <p:nvCxnSpPr>
          <p:cNvPr id="2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238500" y="2676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5905500" y="2676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3238500" y="2266950"/>
            <a:ext cx="6191250" cy="40957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8572500" y="2676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3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A22BE0CE-4186-419D-9040-C5A4421F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5A5A"/>
                </a:solidFill>
              </a:defRPr>
            </a:pPr>
            <a:r>
              <a:rPr sz="1500">
                <a:solidFill>
                  <a:srgbClr val="5A5A5A"/>
                </a:solidFill>
              </a:rPr>
              <a:t>TIMEOUT=0 直接命中；TIMEOUT=N 时从 count=0 开始，第 N 个 enabled tick 进入 expired。expired 后计数停止，直到 clear 或正确 KICK。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D0D011E0-EF88-49EA-997C-375D33D1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433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63BFD7C-28C5-4D47-96FE-C9392115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118C2F-680E-429B-95FD-3BEBE32B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STATUS、IRQ 与 reset request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1848083-957F-4D06-8DFD-E76C7E01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expired 是 sticky completion；reset_req 只在 reset_en 到期时 sticky latch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8E33D3-D855-4B51-BF73-7A8FAB5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atus-h-0">
            <a:extLst xmlns:a="http://schemas.openxmlformats.org/drawingml/2006/main">
              <a:ext uri="{FF2B5EF4-FFF2-40B4-BE49-F238E27FC236}">
                <a16:creationId xmlns:a16="http://schemas.microsoft.com/office/drawing/2014/main" id="{8A6189A8-02EA-4D79-A826-4D28494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Signal/bit</a:t>
            </a:r>
          </a:p>
        </p:txBody>
      </p:sp>
      <p:sp>
        <p:nvSpPr>
          <p:cNvPr id="6" name="status-h-1">
            <a:extLst xmlns:a="http://schemas.openxmlformats.org/drawingml/2006/main">
              <a:ext uri="{FF2B5EF4-FFF2-40B4-BE49-F238E27FC236}">
                <a16:creationId xmlns:a16="http://schemas.microsoft.com/office/drawing/2014/main" id="{8B210E59-D9C5-4924-9500-36E714B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19526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7" name="status-h-2">
            <a:extLst xmlns:a="http://schemas.openxmlformats.org/drawingml/2006/main">
              <a:ext uri="{FF2B5EF4-FFF2-40B4-BE49-F238E27FC236}">
                <a16:creationId xmlns:a16="http://schemas.microsoft.com/office/drawing/2014/main" id="{9E54E1A4-F67E-415F-8E96-4B8C95A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19526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8" name="status-0-0">
            <a:extLst xmlns:a="http://schemas.openxmlformats.org/drawingml/2006/main">
              <a:ext uri="{FF2B5EF4-FFF2-40B4-BE49-F238E27FC236}">
                <a16:creationId xmlns:a16="http://schemas.microsoft.com/office/drawing/2014/main" id="{DABF7D93-17DD-416C-A0EC-1D5D10A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STATUS.running</a:t>
            </a:r>
          </a:p>
        </p:txBody>
      </p:sp>
      <p:sp>
        <p:nvSpPr>
          <p:cNvPr id="9" name="status-0-1">
            <a:extLst xmlns:a="http://schemas.openxmlformats.org/drawingml/2006/main">
              <a:ext uri="{FF2B5EF4-FFF2-40B4-BE49-F238E27FC236}">
                <a16:creationId xmlns:a16="http://schemas.microsoft.com/office/drawing/2014/main" id="{24D385EC-88C2-4CE8-BDD4-9C0A885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25050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enable &amp;&amp; !expired</a:t>
            </a:r>
          </a:p>
        </p:txBody>
      </p:sp>
      <p:sp>
        <p:nvSpPr>
          <p:cNvPr id="10" name="status-0-2">
            <a:extLst xmlns:a="http://schemas.openxmlformats.org/drawingml/2006/main">
              <a:ext uri="{FF2B5EF4-FFF2-40B4-BE49-F238E27FC236}">
                <a16:creationId xmlns:a16="http://schemas.microsoft.com/office/drawing/2014/main" id="{283C862E-2595-40E8-A8CD-627FF618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5050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软件可快速判断 watchdog 是否仍在计数</a:t>
            </a:r>
          </a:p>
        </p:txBody>
      </p:sp>
      <p:sp>
        <p:nvSpPr>
          <p:cNvPr id="11" name="status-1-0">
            <a:extLst xmlns:a="http://schemas.openxmlformats.org/drawingml/2006/main">
              <a:ext uri="{FF2B5EF4-FFF2-40B4-BE49-F238E27FC236}">
                <a16:creationId xmlns:a16="http://schemas.microsoft.com/office/drawing/2014/main" id="{C60B6883-E637-4447-8552-C8AF63D9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STATUS.expired</a:t>
            </a:r>
          </a:p>
        </p:txBody>
      </p:sp>
      <p:sp>
        <p:nvSpPr>
          <p:cNvPr id="12" name="status-1-1">
            <a:extLst xmlns:a="http://schemas.openxmlformats.org/drawingml/2006/main">
              <a:ext uri="{FF2B5EF4-FFF2-40B4-BE49-F238E27FC236}">
                <a16:creationId xmlns:a16="http://schemas.microsoft.com/office/drawing/2014/main" id="{F33D4055-AA8C-4A03-AB1A-DD3C0F21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0575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timeout hit latched</a:t>
            </a:r>
          </a:p>
        </p:txBody>
      </p:sp>
      <p:sp>
        <p:nvSpPr>
          <p:cNvPr id="13" name="status-1-2">
            <a:extLst xmlns:a="http://schemas.openxmlformats.org/drawingml/2006/main">
              <a:ext uri="{FF2B5EF4-FFF2-40B4-BE49-F238E27FC236}">
                <a16:creationId xmlns:a16="http://schemas.microsoft.com/office/drawing/2014/main" id="{4D7BA475-4AD1-43B2-886F-BF6CDA63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0575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polling 和 IRQ 共享同一 completion source</a:t>
            </a:r>
          </a:p>
        </p:txBody>
      </p:sp>
      <p:sp>
        <p:nvSpPr>
          <p:cNvPr id="14" name="status-2-0">
            <a:extLst xmlns:a="http://schemas.openxmlformats.org/drawingml/2006/main">
              <a:ext uri="{FF2B5EF4-FFF2-40B4-BE49-F238E27FC236}">
                <a16:creationId xmlns:a16="http://schemas.microsoft.com/office/drawing/2014/main" id="{0CD042DE-5B3A-4CF1-ABB9-CD9C17E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STATUS.reset_req</a:t>
            </a:r>
          </a:p>
        </p:txBody>
      </p:sp>
      <p:sp>
        <p:nvSpPr>
          <p:cNvPr id="15" name="status-2-1">
            <a:extLst xmlns:a="http://schemas.openxmlformats.org/drawingml/2006/main">
              <a:ext uri="{FF2B5EF4-FFF2-40B4-BE49-F238E27FC236}">
                <a16:creationId xmlns:a16="http://schemas.microsoft.com/office/drawing/2014/main" id="{5678896D-9B97-4271-A14F-88B656E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6099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reset_en sampled at expiry</a:t>
            </a:r>
          </a:p>
        </p:txBody>
      </p:sp>
      <p:sp>
        <p:nvSpPr>
          <p:cNvPr id="16" name="status-2-2">
            <a:extLst xmlns:a="http://schemas.openxmlformats.org/drawingml/2006/main">
              <a:ext uri="{FF2B5EF4-FFF2-40B4-BE49-F238E27FC236}">
                <a16:creationId xmlns:a16="http://schemas.microsoft.com/office/drawing/2014/main" id="{E96BA72B-FCFC-4F2C-A53A-3AFE61B8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6099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reset 请求保持到 kick/clear</a:t>
            </a:r>
          </a:p>
        </p:txBody>
      </p:sp>
      <p:sp>
        <p:nvSpPr>
          <p:cNvPr id="17" name="status-3-0">
            <a:extLst xmlns:a="http://schemas.openxmlformats.org/drawingml/2006/main">
              <a:ext uri="{FF2B5EF4-FFF2-40B4-BE49-F238E27FC236}">
                <a16:creationId xmlns:a16="http://schemas.microsoft.com/office/drawing/2014/main" id="{67410C0A-A75B-490C-9806-A267C86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wdg_irq_o</a:t>
            </a:r>
          </a:p>
        </p:txBody>
      </p:sp>
      <p:sp>
        <p:nvSpPr>
          <p:cNvPr id="18" name="status-3-1">
            <a:extLst xmlns:a="http://schemas.openxmlformats.org/drawingml/2006/main">
              <a:ext uri="{FF2B5EF4-FFF2-40B4-BE49-F238E27FC236}">
                <a16:creationId xmlns:a16="http://schemas.microsoft.com/office/drawing/2014/main" id="{9719361E-67AC-4BF9-AEB8-6210A26B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1624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expired &amp;&amp; irq_en</a:t>
            </a:r>
          </a:p>
        </p:txBody>
      </p:sp>
      <p:sp>
        <p:nvSpPr>
          <p:cNvPr id="19" name="status-3-2">
            <a:extLst xmlns:a="http://schemas.openxmlformats.org/drawingml/2006/main">
              <a:ext uri="{FF2B5EF4-FFF2-40B4-BE49-F238E27FC236}">
                <a16:creationId xmlns:a16="http://schemas.microsoft.com/office/drawing/2014/main" id="{B718B652-6812-4D15-9EF5-27F21A41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16242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IRQ mask 不改变 expired 状态</a:t>
            </a:r>
          </a:p>
        </p:txBody>
      </p:sp>
      <p:sp>
        <p:nvSpPr>
          <p:cNvPr id="20" name="status-4-0">
            <a:extLst xmlns:a="http://schemas.openxmlformats.org/drawingml/2006/main">
              <a:ext uri="{FF2B5EF4-FFF2-40B4-BE49-F238E27FC236}">
                <a16:creationId xmlns:a16="http://schemas.microsoft.com/office/drawing/2014/main" id="{F3FA167C-904C-4040-89A1-F7F5CCA3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wdg_reset_req_o</a:t>
            </a:r>
          </a:p>
        </p:txBody>
      </p:sp>
      <p:sp>
        <p:nvSpPr>
          <p:cNvPr id="21" name="status-4-1">
            <a:extLst xmlns:a="http://schemas.openxmlformats.org/drawingml/2006/main">
              <a:ext uri="{FF2B5EF4-FFF2-40B4-BE49-F238E27FC236}">
                <a16:creationId xmlns:a16="http://schemas.microsoft.com/office/drawing/2014/main" id="{A7A0D469-BF2B-48AB-A8D5-33756AF7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7148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reset_req_q</a:t>
            </a:r>
          </a:p>
        </p:txBody>
      </p:sp>
      <p:sp>
        <p:nvSpPr>
          <p:cNvPr id="22" name="status-4-2">
            <a:extLst xmlns:a="http://schemas.openxmlformats.org/drawingml/2006/main">
              <a:ext uri="{FF2B5EF4-FFF2-40B4-BE49-F238E27FC236}">
                <a16:creationId xmlns:a16="http://schemas.microsoft.com/office/drawing/2014/main" id="{BF882A19-2D1A-4879-A2A3-030A40D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714875"/>
            <a:ext cx="222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交给 SoC reset tree 处理</a:t>
            </a:r>
          </a:p>
        </p:txBody>
      </p:sp>
      <p:sp>
        <p:nvSpPr>
          <p:cNvPr id="23" name="out-comb">
            <a:extLst xmlns:a="http://schemas.openxmlformats.org/drawingml/2006/main">
              <a:ext uri="{FF2B5EF4-FFF2-40B4-BE49-F238E27FC236}">
                <a16:creationId xmlns:a16="http://schemas.microsoft.com/office/drawing/2014/main" id="{74BCA171-7738-4256-9297-97250FA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output decode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status image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IRQ/reset request</a:t>
            </a:r>
          </a:p>
        </p:txBody>
      </p:sp>
      <p:sp>
        <p:nvSpPr>
          <p:cNvPr id="24" name="soc">
            <a:extLst xmlns:a="http://schemas.openxmlformats.org/drawingml/2006/main">
              <a:ext uri="{FF2B5EF4-FFF2-40B4-BE49-F238E27FC236}">
                <a16:creationId xmlns:a16="http://schemas.microsoft.com/office/drawing/2014/main" id="{3C4FAB37-726C-485A-9D2D-1D9ED1A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SoC integration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interrupt input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reset controller</a:t>
            </a:r>
          </a:p>
        </p:txBody>
      </p:sp>
      <p:cxnSp>
        <p:nvCxnSpPr>
          <p:cNvPr id="51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382125" y="3762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6" name="footer-7">
            <a:extLst xmlns:a="http://schemas.openxmlformats.org/drawingml/2006/main">
              <a:ext uri="{FF2B5EF4-FFF2-40B4-BE49-F238E27FC236}">
                <a16:creationId xmlns:a16="http://schemas.microsoft.com/office/drawing/2014/main" id="{FEB5D7F4-7022-4747-86D2-9CD7502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58978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A66F36-E5CD-4019-9BF0-80ED9A9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2570D5-57A7-4765-AADF-119CD5F7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AHB 响应与错误处理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6FDB97D-CA53-4589-BE66-0DC47C7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always-ready 简化外设接入；非法访问仍在一拍后返回 HRESP ERROR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A02FD2-68CB-4F2D-8B38-ABF2324A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hb-text">
            <a:extLst xmlns:a="http://schemas.openxmlformats.org/drawingml/2006/main">
              <a:ext uri="{FF2B5EF4-FFF2-40B4-BE49-F238E27FC236}">
                <a16:creationId xmlns:a16="http://schemas.microsoft.com/office/drawing/2014/main" id="{45E58731-3374-47B9-A9CF-9CEE482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hready_o 固定 1，不产生 wait state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addr phase 捕获 req_valid/write/err/offset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只支持 aligned word access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misaligned、non-word、out-of-range 返回 ERROR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unknown register offset 在 data phase 返回 ERROR</a:t>
            </a:r>
          </a:p>
        </p:txBody>
      </p:sp>
      <p:sp>
        <p:nvSpPr>
          <p:cNvPr id="6" name="ahb-a">
            <a:extLst xmlns:a="http://schemas.openxmlformats.org/drawingml/2006/main">
              <a:ext uri="{FF2B5EF4-FFF2-40B4-BE49-F238E27FC236}">
                <a16:creationId xmlns:a16="http://schemas.microsoft.com/office/drawing/2014/main" id="{12291F2C-808F-4C5F-AC01-3C4888C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address phase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bus</a:t>
            </a:r>
          </a:p>
        </p:txBody>
      </p:sp>
      <p:sp>
        <p:nvSpPr>
          <p:cNvPr id="7" name="ahb-d">
            <a:extLst xmlns:a="http://schemas.openxmlformats.org/drawingml/2006/main">
              <a:ext uri="{FF2B5EF4-FFF2-40B4-BE49-F238E27FC236}">
                <a16:creationId xmlns:a16="http://schemas.microsoft.com/office/drawing/2014/main" id="{97570574-EFA7-4E38-9A90-F245FC14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decode errors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range align size</a:t>
            </a:r>
          </a:p>
        </p:txBody>
      </p:sp>
      <p:sp>
        <p:nvSpPr>
          <p:cNvPr id="8" name="ahb-q">
            <a:extLst xmlns:a="http://schemas.openxmlformats.org/drawingml/2006/main">
              <a:ext uri="{FF2B5EF4-FFF2-40B4-BE49-F238E27FC236}">
                <a16:creationId xmlns:a16="http://schemas.microsoft.com/office/drawing/2014/main" id="{E3388489-6B70-4CE4-AA0C-1701FDC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905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 regs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one-cycle delay</a:t>
            </a:r>
          </a:p>
        </p:txBody>
      </p:sp>
      <p:sp>
        <p:nvSpPr>
          <p:cNvPr id="9" name="ahb-r">
            <a:extLst xmlns:a="http://schemas.openxmlformats.org/drawingml/2006/main">
              <a:ext uri="{FF2B5EF4-FFF2-40B4-BE49-F238E27FC236}">
                <a16:creationId xmlns:a16="http://schemas.microsoft.com/office/drawing/2014/main" id="{D9CDB4BE-ADFC-4016-B56A-FDAE0D2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95875"/>
            <a:ext cx="1905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read/response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HRDATA/HRESP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77250" y="25003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858250" y="2905125"/>
            <a:ext cx="11906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858250" y="452437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3" name="footer-8">
            <a:extLst xmlns:a="http://schemas.openxmlformats.org/drawingml/2006/main">
              <a:ext uri="{FF2B5EF4-FFF2-40B4-BE49-F238E27FC236}">
                <a16:creationId xmlns:a16="http://schemas.microsoft.com/office/drawing/2014/main" id="{11E253E8-8A95-49A9-8E98-975995D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4651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A19AFC3-0674-4D0B-99EF-DC0FBA5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DF4C64-B2D1-4942-B9C8-2EF8A99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验证方法：为什么这样测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B99422-A3B7-477C-AE45-AAAB483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watchdog 的核心风险是计数边界、feed 优先级、sticky 输出和 AHB 错误契约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165AEF-5153-46F6-8E48-D4A93BA0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hy-h-0">
            <a:extLst xmlns:a="http://schemas.openxmlformats.org/drawingml/2006/main">
              <a:ext uri="{FF2B5EF4-FFF2-40B4-BE49-F238E27FC236}">
                <a16:creationId xmlns:a16="http://schemas.microsoft.com/office/drawing/2014/main" id="{4B8A15F2-7CAB-4E2F-AD15-B6D0547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风险</a:t>
            </a:r>
          </a:p>
        </p:txBody>
      </p:sp>
      <p:sp>
        <p:nvSpPr>
          <p:cNvPr id="6" name="why-h-1">
            <a:extLst xmlns:a="http://schemas.openxmlformats.org/drawingml/2006/main">
              <a:ext uri="{FF2B5EF4-FFF2-40B4-BE49-F238E27FC236}">
                <a16:creationId xmlns:a16="http://schemas.microsoft.com/office/drawing/2014/main" id="{14903804-AEB0-42CD-998C-AB476950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验证方法</a:t>
            </a:r>
          </a:p>
        </p:txBody>
      </p:sp>
      <p:sp>
        <p:nvSpPr>
          <p:cNvPr id="7" name="why-h-2">
            <a:extLst xmlns:a="http://schemas.openxmlformats.org/drawingml/2006/main">
              <a:ext uri="{FF2B5EF4-FFF2-40B4-BE49-F238E27FC236}">
                <a16:creationId xmlns:a16="http://schemas.microsoft.com/office/drawing/2014/main" id="{9258B213-7C16-49F0-8755-B8B518A2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根本逻辑</a:t>
            </a:r>
          </a:p>
        </p:txBody>
      </p:sp>
      <p:sp>
        <p:nvSpPr>
          <p:cNvPr id="8" name="why-0-0">
            <a:extLst xmlns:a="http://schemas.openxmlformats.org/drawingml/2006/main">
              <a:ext uri="{FF2B5EF4-FFF2-40B4-BE49-F238E27FC236}">
                <a16:creationId xmlns:a16="http://schemas.microsoft.com/office/drawing/2014/main" id="{18972AB5-6842-4130-A54E-5C1E78A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reset/register contract</a:t>
            </a:r>
          </a:p>
        </p:txBody>
      </p:sp>
      <p:sp>
        <p:nvSpPr>
          <p:cNvPr id="9" name="why-0-1">
            <a:extLst xmlns:a="http://schemas.openxmlformats.org/drawingml/2006/main">
              <a:ext uri="{FF2B5EF4-FFF2-40B4-BE49-F238E27FC236}">
                <a16:creationId xmlns:a16="http://schemas.microsoft.com/office/drawing/2014/main" id="{07956496-FFFA-4946-BF7D-801A570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reset reads + register readback</a:t>
            </a:r>
          </a:p>
        </p:txBody>
      </p:sp>
      <p:sp>
        <p:nvSpPr>
          <p:cNvPr id="10" name="why-0-2">
            <a:extLst xmlns:a="http://schemas.openxmlformats.org/drawingml/2006/main">
              <a:ext uri="{FF2B5EF4-FFF2-40B4-BE49-F238E27FC236}">
                <a16:creationId xmlns:a16="http://schemas.microsoft.com/office/drawing/2014/main" id="{C98E8AB2-42E2-40FD-980C-B3A99826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软件只通过寄存器面配置和诊断</a:t>
            </a:r>
          </a:p>
        </p:txBody>
      </p:sp>
      <p:sp>
        <p:nvSpPr>
          <p:cNvPr id="11" name="why-1-0">
            <a:extLst xmlns:a="http://schemas.openxmlformats.org/drawingml/2006/main">
              <a:ext uri="{FF2B5EF4-FFF2-40B4-BE49-F238E27FC236}">
                <a16:creationId xmlns:a16="http://schemas.microsoft.com/office/drawing/2014/main" id="{1F3B80E1-BD02-45E1-B029-A31F28EB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timeout boundary</a:t>
            </a:r>
          </a:p>
        </p:txBody>
      </p:sp>
      <p:sp>
        <p:nvSpPr>
          <p:cNvPr id="12" name="why-1-1">
            <a:extLst xmlns:a="http://schemas.openxmlformats.org/drawingml/2006/main">
              <a:ext uri="{FF2B5EF4-FFF2-40B4-BE49-F238E27FC236}">
                <a16:creationId xmlns:a16="http://schemas.microsoft.com/office/drawing/2014/main" id="{3E0229F5-0662-46FE-9A59-412D7BE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timeout=4, reset-only, random timeout</a:t>
            </a:r>
          </a:p>
        </p:txBody>
      </p:sp>
      <p:sp>
        <p:nvSpPr>
          <p:cNvPr id="13" name="why-1-2">
            <a:extLst xmlns:a="http://schemas.openxmlformats.org/drawingml/2006/main">
              <a:ext uri="{FF2B5EF4-FFF2-40B4-BE49-F238E27FC236}">
                <a16:creationId xmlns:a16="http://schemas.microsoft.com/office/drawing/2014/main" id="{AA77347D-2F4C-4A51-A5A8-B26318A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证明 TIMEOUT=N 和 TIMEOUT=0 语义</a:t>
            </a:r>
          </a:p>
        </p:txBody>
      </p:sp>
      <p:sp>
        <p:nvSpPr>
          <p:cNvPr id="14" name="why-2-0">
            <a:extLst xmlns:a="http://schemas.openxmlformats.org/drawingml/2006/main">
              <a:ext uri="{FF2B5EF4-FFF2-40B4-BE49-F238E27FC236}">
                <a16:creationId xmlns:a16="http://schemas.microsoft.com/office/drawing/2014/main" id="{1FB61995-8AB6-46AE-8441-10CFE301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feed priority</a:t>
            </a:r>
          </a:p>
        </p:txBody>
      </p:sp>
      <p:sp>
        <p:nvSpPr>
          <p:cNvPr id="15" name="why-2-1">
            <a:extLst xmlns:a="http://schemas.openxmlformats.org/drawingml/2006/main">
              <a:ext uri="{FF2B5EF4-FFF2-40B4-BE49-F238E27FC236}">
                <a16:creationId xmlns:a16="http://schemas.microsoft.com/office/drawing/2014/main" id="{DDDDC09E-3FEC-48CD-97E9-8A2D0CE2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correct KICK before expiry</a:t>
            </a:r>
          </a:p>
        </p:txBody>
      </p:sp>
      <p:sp>
        <p:nvSpPr>
          <p:cNvPr id="16" name="why-2-2">
            <a:extLst xmlns:a="http://schemas.openxmlformats.org/drawingml/2006/main">
              <a:ext uri="{FF2B5EF4-FFF2-40B4-BE49-F238E27FC236}">
                <a16:creationId xmlns:a16="http://schemas.microsoft.com/office/drawing/2014/main" id="{80B2E4A1-32AF-4DAC-A1F2-A6577C75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防止同周期 tick 错误抢先到期</a:t>
            </a:r>
          </a:p>
        </p:txBody>
      </p:sp>
      <p:sp>
        <p:nvSpPr>
          <p:cNvPr id="17" name="why-3-0">
            <a:extLst xmlns:a="http://schemas.openxmlformats.org/drawingml/2006/main">
              <a:ext uri="{FF2B5EF4-FFF2-40B4-BE49-F238E27FC236}">
                <a16:creationId xmlns:a16="http://schemas.microsoft.com/office/drawing/2014/main" id="{5B269B8A-D381-4BC9-85FB-2B7CCF47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bad key handling</a:t>
            </a:r>
          </a:p>
        </p:txBody>
      </p:sp>
      <p:sp>
        <p:nvSpPr>
          <p:cNvPr id="18" name="why-3-1">
            <a:extLst xmlns:a="http://schemas.openxmlformats.org/drawingml/2006/main">
              <a:ext uri="{FF2B5EF4-FFF2-40B4-BE49-F238E27FC236}">
                <a16:creationId xmlns:a16="http://schemas.microsoft.com/office/drawing/2014/main" id="{975D0377-A06F-4AC3-B5EE-1C5FBEAA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wrong KICK value then STATUS read</a:t>
            </a:r>
          </a:p>
        </p:txBody>
      </p:sp>
      <p:sp>
        <p:nvSpPr>
          <p:cNvPr id="19" name="why-3-2">
            <a:extLst xmlns:a="http://schemas.openxmlformats.org/drawingml/2006/main">
              <a:ext uri="{FF2B5EF4-FFF2-40B4-BE49-F238E27FC236}">
                <a16:creationId xmlns:a16="http://schemas.microsoft.com/office/drawing/2014/main" id="{B7E292BE-2E03-49A3-856E-56430E4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错误 feed 不应隐藏软件 bug</a:t>
            </a:r>
          </a:p>
        </p:txBody>
      </p:sp>
      <p:sp>
        <p:nvSpPr>
          <p:cNvPr id="20" name="why-4-0">
            <a:extLst xmlns:a="http://schemas.openxmlformats.org/drawingml/2006/main">
              <a:ext uri="{FF2B5EF4-FFF2-40B4-BE49-F238E27FC236}">
                <a16:creationId xmlns:a16="http://schemas.microsoft.com/office/drawing/2014/main" id="{1FCF448B-E4A0-4E05-A133-12890E8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AHB error path</a:t>
            </a:r>
          </a:p>
        </p:txBody>
      </p:sp>
      <p:sp>
        <p:nvSpPr>
          <p:cNvPr id="21" name="why-4-1">
            <a:extLst xmlns:a="http://schemas.openxmlformats.org/drawingml/2006/main">
              <a:ext uri="{FF2B5EF4-FFF2-40B4-BE49-F238E27FC236}">
                <a16:creationId xmlns:a16="http://schemas.microsoft.com/office/drawing/2014/main" id="{A6F69E00-8B1F-4607-BC2B-9A210590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misaligned/halfword/unknown/range</a:t>
            </a:r>
          </a:p>
        </p:txBody>
      </p:sp>
      <p:sp>
        <p:nvSpPr>
          <p:cNvPr id="22" name="why-4-2">
            <a:extLst xmlns:a="http://schemas.openxmlformats.org/drawingml/2006/main">
              <a:ext uri="{FF2B5EF4-FFF2-40B4-BE49-F238E27FC236}">
                <a16:creationId xmlns:a16="http://schemas.microsoft.com/office/drawing/2014/main" id="{AEDD4B68-29FA-4055-9657-A4C432B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非法访问必须是总线错误而不是静默忽略</a:t>
            </a:r>
          </a:p>
        </p:txBody>
      </p:sp>
      <p:sp>
        <p:nvSpPr>
          <p:cNvPr id="23" name="tb">
            <a:extLst xmlns:a="http://schemas.openxmlformats.org/drawingml/2006/main">
              <a:ext uri="{FF2B5EF4-FFF2-40B4-BE49-F238E27FC236}">
                <a16:creationId xmlns:a16="http://schemas.microsoft.com/office/drawing/2014/main" id="{0CE051A8-A75D-4B94-B663-7B6B9A83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095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self-checking TB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driver</a:t>
            </a:r>
          </a:p>
        </p:txBody>
      </p:sp>
      <p:sp>
        <p:nvSpPr>
          <p:cNvPr id="24" name="sb">
            <a:extLst xmlns:a="http://schemas.openxmlformats.org/drawingml/2006/main">
              <a:ext uri="{FF2B5EF4-FFF2-40B4-BE49-F238E27FC236}">
                <a16:creationId xmlns:a16="http://schemas.microsoft.com/office/drawing/2014/main" id="{55109117-18BE-4662-B399-48C66E5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scoreboard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register/status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cycle timing</a:t>
            </a:r>
          </a:p>
        </p:txBody>
      </p:sp>
      <p:cxnSp>
        <p:nvCxnSpPr>
          <p:cNvPr id="51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429750" y="31432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6" name="footer-9">
            <a:extLst xmlns:a="http://schemas.openxmlformats.org/drawingml/2006/main">
              <a:ext uri="{FF2B5EF4-FFF2-40B4-BE49-F238E27FC236}">
                <a16:creationId xmlns:a16="http://schemas.microsoft.com/office/drawing/2014/main" id="{6AB85B81-5070-403E-8E35-C94FCB9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9000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2023B6C-7899-47AD-B03B-A0FAB54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B93F16-81B4-4F36-9C81-ABE4F6F1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验证结果快照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F9C455-62D1-48AC-8E72-2DCCCA98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当前报告是 functional self-check coverage；generic/IC/Virtex-7 lint 与仿真均通过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A055DC-2D38-4AD5-BE05-62B8E45F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s-h-0">
            <a:extLst xmlns:a="http://schemas.openxmlformats.org/drawingml/2006/main">
              <a:ext uri="{FF2B5EF4-FFF2-40B4-BE49-F238E27FC236}">
                <a16:creationId xmlns:a16="http://schemas.microsoft.com/office/drawing/2014/main" id="{B1AE0013-1AC8-48EF-8109-552ACA7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s-h-1">
            <a:extLst xmlns:a="http://schemas.openxmlformats.org/drawingml/2006/main">
              <a:ext uri="{FF2B5EF4-FFF2-40B4-BE49-F238E27FC236}">
                <a16:creationId xmlns:a16="http://schemas.microsoft.com/office/drawing/2014/main" id="{C8A382CB-CF33-46A5-8374-01CBA60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1905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7" name="res-h-2">
            <a:extLst xmlns:a="http://schemas.openxmlformats.org/drawingml/2006/main">
              <a:ext uri="{FF2B5EF4-FFF2-40B4-BE49-F238E27FC236}">
                <a16:creationId xmlns:a16="http://schemas.microsoft.com/office/drawing/2014/main" id="{2B68FEF8-6992-4D86-8048-C7EB5CD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905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8" name="res-0-0">
            <a:extLst xmlns:a="http://schemas.openxmlformats.org/drawingml/2006/main">
              <a:ext uri="{FF2B5EF4-FFF2-40B4-BE49-F238E27FC236}">
                <a16:creationId xmlns:a16="http://schemas.microsoft.com/office/drawing/2014/main" id="{6E4DB959-F213-4421-8645-537779B9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pass_count</a:t>
            </a:r>
          </a:p>
        </p:txBody>
      </p:sp>
      <p:sp>
        <p:nvSpPr>
          <p:cNvPr id="9" name="res-0-1">
            <a:extLst xmlns:a="http://schemas.openxmlformats.org/drawingml/2006/main">
              <a:ext uri="{FF2B5EF4-FFF2-40B4-BE49-F238E27FC236}">
                <a16:creationId xmlns:a16="http://schemas.microsoft.com/office/drawing/2014/main" id="{BFB4C22B-3DBB-4617-BB95-9F1DD11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2438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50</a:t>
            </a:r>
          </a:p>
        </p:txBody>
      </p:sp>
      <p:sp>
        <p:nvSpPr>
          <p:cNvPr id="10" name="res-0-2">
            <a:extLst xmlns:a="http://schemas.openxmlformats.org/drawingml/2006/main">
              <a:ext uri="{FF2B5EF4-FFF2-40B4-BE49-F238E27FC236}">
                <a16:creationId xmlns:a16="http://schemas.microsoft.com/office/drawing/2014/main" id="{B22FA9E8-65EE-42FE-8E59-3EDBF2A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438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self-check milestones</a:t>
            </a:r>
          </a:p>
        </p:txBody>
      </p:sp>
      <p:sp>
        <p:nvSpPr>
          <p:cNvPr id="11" name="res-1-0">
            <a:extLst xmlns:a="http://schemas.openxmlformats.org/drawingml/2006/main">
              <a:ext uri="{FF2B5EF4-FFF2-40B4-BE49-F238E27FC236}">
                <a16:creationId xmlns:a16="http://schemas.microsoft.com/office/drawing/2014/main" id="{998076BA-20C1-4465-A81E-22CD33B9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reg_count</a:t>
            </a:r>
          </a:p>
        </p:txBody>
      </p:sp>
      <p:sp>
        <p:nvSpPr>
          <p:cNvPr id="12" name="res-1-1">
            <a:extLst xmlns:a="http://schemas.openxmlformats.org/drawingml/2006/main">
              <a:ext uri="{FF2B5EF4-FFF2-40B4-BE49-F238E27FC236}">
                <a16:creationId xmlns:a16="http://schemas.microsoft.com/office/drawing/2014/main" id="{D3331332-E51D-4136-B12A-ACA7C581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29718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35</a:t>
            </a:r>
          </a:p>
        </p:txBody>
      </p:sp>
      <p:sp>
        <p:nvSpPr>
          <p:cNvPr id="13" name="res-1-2">
            <a:extLst xmlns:a="http://schemas.openxmlformats.org/drawingml/2006/main">
              <a:ext uri="{FF2B5EF4-FFF2-40B4-BE49-F238E27FC236}">
                <a16:creationId xmlns:a16="http://schemas.microsoft.com/office/drawing/2014/main" id="{BE0F3907-9829-444F-AC25-D98B13D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9718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register access checks</a:t>
            </a:r>
          </a:p>
        </p:txBody>
      </p:sp>
      <p:sp>
        <p:nvSpPr>
          <p:cNvPr id="14" name="res-2-0">
            <a:extLst xmlns:a="http://schemas.openxmlformats.org/drawingml/2006/main">
              <a:ext uri="{FF2B5EF4-FFF2-40B4-BE49-F238E27FC236}">
                <a16:creationId xmlns:a16="http://schemas.microsoft.com/office/drawing/2014/main" id="{B665A997-42F3-428D-975F-E7B606E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timeout_count</a:t>
            </a:r>
          </a:p>
        </p:txBody>
      </p:sp>
      <p:sp>
        <p:nvSpPr>
          <p:cNvPr id="15" name="res-2-1">
            <a:extLst xmlns:a="http://schemas.openxmlformats.org/drawingml/2006/main">
              <a:ext uri="{FF2B5EF4-FFF2-40B4-BE49-F238E27FC236}">
                <a16:creationId xmlns:a16="http://schemas.microsoft.com/office/drawing/2014/main" id="{A3103D39-1E98-4153-A019-91F0175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35052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6" name="res-2-2">
            <a:extLst xmlns:a="http://schemas.openxmlformats.org/drawingml/2006/main">
              <a:ext uri="{FF2B5EF4-FFF2-40B4-BE49-F238E27FC236}">
                <a16:creationId xmlns:a16="http://schemas.microsoft.com/office/drawing/2014/main" id="{C8BC1747-1790-4C45-9190-F9B81CA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5052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directed timeout classes</a:t>
            </a:r>
          </a:p>
        </p:txBody>
      </p:sp>
      <p:sp>
        <p:nvSpPr>
          <p:cNvPr id="17" name="res-3-0">
            <a:extLst xmlns:a="http://schemas.openxmlformats.org/drawingml/2006/main">
              <a:ext uri="{FF2B5EF4-FFF2-40B4-BE49-F238E27FC236}">
                <a16:creationId xmlns:a16="http://schemas.microsoft.com/office/drawing/2014/main" id="{A83581A2-304C-47C3-BA93-F13CC7D4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kick_count</a:t>
            </a:r>
          </a:p>
        </p:txBody>
      </p:sp>
      <p:sp>
        <p:nvSpPr>
          <p:cNvPr id="18" name="res-3-1">
            <a:extLst xmlns:a="http://schemas.openxmlformats.org/drawingml/2006/main">
              <a:ext uri="{FF2B5EF4-FFF2-40B4-BE49-F238E27FC236}">
                <a16:creationId xmlns:a16="http://schemas.microsoft.com/office/drawing/2014/main" id="{8820155C-B03B-48A6-8729-11EC03A2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40386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9" name="res-3-2">
            <a:extLst xmlns:a="http://schemas.openxmlformats.org/drawingml/2006/main">
              <a:ext uri="{FF2B5EF4-FFF2-40B4-BE49-F238E27FC236}">
                <a16:creationId xmlns:a16="http://schemas.microsoft.com/office/drawing/2014/main" id="{7DB13E9B-45D3-4739-9A2F-8A95AE6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0386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valid kick and pre-expiry feed</a:t>
            </a:r>
          </a:p>
        </p:txBody>
      </p:sp>
      <p:sp>
        <p:nvSpPr>
          <p:cNvPr id="20" name="res-4-0">
            <a:extLst xmlns:a="http://schemas.openxmlformats.org/drawingml/2006/main">
              <a:ext uri="{FF2B5EF4-FFF2-40B4-BE49-F238E27FC236}">
                <a16:creationId xmlns:a16="http://schemas.microsoft.com/office/drawing/2014/main" id="{7A133B19-2BB0-47DA-B345-3492557D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error_count</a:t>
            </a:r>
          </a:p>
        </p:txBody>
      </p:sp>
      <p:sp>
        <p:nvSpPr>
          <p:cNvPr id="21" name="res-4-1">
            <a:extLst xmlns:a="http://schemas.openxmlformats.org/drawingml/2006/main">
              <a:ext uri="{FF2B5EF4-FFF2-40B4-BE49-F238E27FC236}">
                <a16:creationId xmlns:a16="http://schemas.microsoft.com/office/drawing/2014/main" id="{FEDAB232-BF55-49F8-AC3A-9B58589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4572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2" name="res-4-2">
            <a:extLst xmlns:a="http://schemas.openxmlformats.org/drawingml/2006/main">
              <a:ext uri="{FF2B5EF4-FFF2-40B4-BE49-F238E27FC236}">
                <a16:creationId xmlns:a16="http://schemas.microsoft.com/office/drawing/2014/main" id="{132FD217-F455-4D96-9569-B035B72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5720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AHB / register error paths</a:t>
            </a:r>
          </a:p>
        </p:txBody>
      </p:sp>
      <p:sp>
        <p:nvSpPr>
          <p:cNvPr id="23" name="res-5-0">
            <a:extLst xmlns:a="http://schemas.openxmlformats.org/drawingml/2006/main">
              <a:ext uri="{FF2B5EF4-FFF2-40B4-BE49-F238E27FC236}">
                <a16:creationId xmlns:a16="http://schemas.microsoft.com/office/drawing/2014/main" id="{096089B5-5ADB-4B7A-AE94-3551636C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random_count</a:t>
            </a:r>
          </a:p>
        </p:txBody>
      </p:sp>
      <p:sp>
        <p:nvSpPr>
          <p:cNvPr id="24" name="res-5-1">
            <a:extLst xmlns:a="http://schemas.openxmlformats.org/drawingml/2006/main">
              <a:ext uri="{FF2B5EF4-FFF2-40B4-BE49-F238E27FC236}">
                <a16:creationId xmlns:a16="http://schemas.microsoft.com/office/drawing/2014/main" id="{BA071070-C87B-4788-B0B0-7E8642FF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5105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5" name="res-5-2">
            <a:extLst xmlns:a="http://schemas.openxmlformats.org/drawingml/2006/main">
              <a:ext uri="{FF2B5EF4-FFF2-40B4-BE49-F238E27FC236}">
                <a16:creationId xmlns:a16="http://schemas.microsoft.com/office/drawing/2014/main" id="{3768DF21-1380-4315-88D4-2906B5C3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5105400"/>
            <a:ext cx="203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deterministic random timeouts</a:t>
            </a:r>
          </a:p>
        </p:txBody>
      </p:sp>
      <p:sp>
        <p:nvSpPr>
          <p:cNvPr id="26" name="tag-Generic lint PASS">
            <a:extLst xmlns:a="http://schemas.openxmlformats.org/drawingml/2006/main">
              <a:ext uri="{FF2B5EF4-FFF2-40B4-BE49-F238E27FC236}">
                <a16:creationId xmlns:a16="http://schemas.microsoft.com/office/drawing/2014/main" id="{B9AF4D35-0EC6-4A60-AF42-8C3F8F54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Generic lint PASS</a:t>
            </a:r>
          </a:p>
        </p:txBody>
      </p:sp>
      <p:sp>
        <p:nvSpPr>
          <p:cNvPr id="27" name="tag-IC lint PASS">
            <a:extLst xmlns:a="http://schemas.openxmlformats.org/drawingml/2006/main">
              <a:ext uri="{FF2B5EF4-FFF2-40B4-BE49-F238E27FC236}">
                <a16:creationId xmlns:a16="http://schemas.microsoft.com/office/drawing/2014/main" id="{BABDCAFB-A2B6-431E-8E1F-8F4DCC7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IC lint PASS</a:t>
            </a:r>
          </a:p>
        </p:txBody>
      </p:sp>
      <p:sp>
        <p:nvSpPr>
          <p:cNvPr id="28" name="tag-Virtex-7 lint PASS">
            <a:extLst xmlns:a="http://schemas.openxmlformats.org/drawingml/2006/main">
              <a:ext uri="{FF2B5EF4-FFF2-40B4-BE49-F238E27FC236}">
                <a16:creationId xmlns:a16="http://schemas.microsoft.com/office/drawing/2014/main" id="{564C13B2-6C28-488A-B7A8-3343BB9F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24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Virtex-7 lint PASS</a:t>
            </a:r>
          </a:p>
        </p:txBody>
      </p:sp>
      <p:sp>
        <p:nvSpPr>
          <p:cNvPr id="29" name="tag-tb_ahb_wdg PASS">
            <a:extLst xmlns:a="http://schemas.openxmlformats.org/drawingml/2006/main">
              <a:ext uri="{FF2B5EF4-FFF2-40B4-BE49-F238E27FC236}">
                <a16:creationId xmlns:a16="http://schemas.microsoft.com/office/drawing/2014/main" id="{D7EE8BE3-4D84-439B-A48C-05CB7A54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tb_ahb_wdg PASS</a:t>
            </a:r>
          </a:p>
        </p:txBody>
      </p:sp>
      <p:sp>
        <p:nvSpPr>
          <p:cNvPr id="30" name="res-note">
            <a:extLst xmlns:a="http://schemas.openxmlformats.org/drawingml/2006/main">
              <a:ext uri="{FF2B5EF4-FFF2-40B4-BE49-F238E27FC236}">
                <a16:creationId xmlns:a16="http://schemas.microsoft.com/office/drawing/2014/main" id="{A337B954-4FA0-4C87-8BE1-411CC112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Timebase: 1ns/1ps, 10ns verification clock. Cases cover reset, timeout IRQ/reset, valid/bad kick, clear behavior, IRQ masking, AHB error paths, and random timeout values.</a:t>
            </a:r>
          </a:p>
        </p:txBody>
      </p:sp>
      <p:sp>
        <p:nvSpPr>
          <p:cNvPr id="31" name="footer-10">
            <a:extLst xmlns:a="http://schemas.openxmlformats.org/drawingml/2006/main">
              <a:ext uri="{FF2B5EF4-FFF2-40B4-BE49-F238E27FC236}">
                <a16:creationId xmlns:a16="http://schemas.microsoft.com/office/drawing/2014/main" id="{84CD350A-E8CC-4684-862C-EC74951E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752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81E0505-39E3-47D2-8950-8B95D87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AHB-Lite Watchdog Timer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AF46E-98E6-4E95-8911-8A859A9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后续集成关注点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5FE340-08AD-4F94-9E46-AE9D146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模块级 watchdog 已验证；reset request 如何进入 SoC reset tree 是顶层验证项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EAF00E-0822-4CAB-BC12-74C1791F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w">
            <a:extLst xmlns:a="http://schemas.openxmlformats.org/drawingml/2006/main">
              <a:ext uri="{FF2B5EF4-FFF2-40B4-BE49-F238E27FC236}">
                <a16:creationId xmlns:a16="http://schemas.microsoft.com/office/drawing/2014/main" id="{77E949BA-935C-4DE1-A57A-EE891A2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module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verified register file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timeout/kick logic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IRQ/reset outputs</a:t>
            </a:r>
          </a:p>
        </p:txBody>
      </p:sp>
      <p:sp>
        <p:nvSpPr>
          <p:cNvPr id="6" name="integ">
            <a:extLst xmlns:a="http://schemas.openxmlformats.org/drawingml/2006/main">
              <a:ext uri="{FF2B5EF4-FFF2-40B4-BE49-F238E27FC236}">
                <a16:creationId xmlns:a16="http://schemas.microsoft.com/office/drawing/2014/main" id="{31455C1B-9D5F-448C-AB8A-CED4CB42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286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integration work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reset tree policy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interrupt wiring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firmware driver</a:t>
            </a:r>
          </a:p>
        </p:txBody>
      </p:sp>
      <p:sp>
        <p:nvSpPr>
          <p:cNvPr id="7" name="sys">
            <a:extLst xmlns:a="http://schemas.openxmlformats.org/drawingml/2006/main">
              <a:ext uri="{FF2B5EF4-FFF2-40B4-BE49-F238E27FC236}">
                <a16:creationId xmlns:a16="http://schemas.microsoft.com/office/drawing/2014/main" id="{CC7378AC-7498-439E-A073-6BE5DE47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286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system validation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end-to-end timeout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recovery behavior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boot interaction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43250" y="30241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0241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0" name="residual">
            <a:extLst xmlns:a="http://schemas.openxmlformats.org/drawingml/2006/main">
              <a:ext uri="{FF2B5EF4-FFF2-40B4-BE49-F238E27FC236}">
                <a16:creationId xmlns:a16="http://schemas.microsoft.com/office/drawing/2014/main" id="{B6791041-0E7D-4276-BAD5-C1C2715D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SoC 顶层要决定 wdg_reset_req_o 是局部复位还是全芯片复位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需要 firmware-driven kick/timeout 回归验证 reset/boot 交互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后续可补结构覆盖和长时间 soak/random timeout tests</a:t>
            </a:r>
          </a:p>
        </p:txBody>
      </p:sp>
      <p:sp>
        <p:nvSpPr>
          <p:cNvPr id="11" name="footer-11">
            <a:extLst xmlns:a="http://schemas.openxmlformats.org/drawingml/2006/main">
              <a:ext uri="{FF2B5EF4-FFF2-40B4-BE49-F238E27FC236}">
                <a16:creationId xmlns:a16="http://schemas.microsoft.com/office/drawing/2014/main" id="{A477AC93-4C5F-428F-8425-31A40CE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2179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2026-06-30T03:30:17.5190000Z</dcterms:created>
  <dcterms:modified xsi:type="dcterms:W3CDTF">2026-06-30T03:30:17.5190000Z</dcterms:modified>
</coreProperties>
</file>