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6419b91bae4bfc" /><Relationship Type="http://schemas.openxmlformats.org/officeDocument/2006/relationships/extended-properties" Target="/docProps/app.xml" Id="R1b9ff759c88e428f" /><Relationship Type="http://schemas.openxmlformats.org/officeDocument/2006/relationships/officeDocument" Target="/ppt/presentation.xml" Id="R7fbee4bf853a45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a2effb7d2e43a6"/>
  </p:sldMasterIdLst>
  <p:notesMasterIdLst>
    <p:notesMasterId xmlns:r="http://schemas.openxmlformats.org/officeDocument/2006/relationships" r:id="R79fb304de56e4805"/>
  </p:notesMasterIdLst>
  <p:sldIdLst>
    <p:sldId xmlns:r="http://schemas.openxmlformats.org/officeDocument/2006/relationships" id="256" r:id="R4157be4280094d39"/>
    <p:sldId xmlns:r="http://schemas.openxmlformats.org/officeDocument/2006/relationships" id="257" r:id="R6b1bca693a814fe9"/>
    <p:sldId xmlns:r="http://schemas.openxmlformats.org/officeDocument/2006/relationships" id="258" r:id="R706a402246a14f87"/>
    <p:sldId xmlns:r="http://schemas.openxmlformats.org/officeDocument/2006/relationships" id="259" r:id="R0031af218fc94b27"/>
    <p:sldId xmlns:r="http://schemas.openxmlformats.org/officeDocument/2006/relationships" id="260" r:id="R2a4d0a9fc2f2472d"/>
    <p:sldId xmlns:r="http://schemas.openxmlformats.org/officeDocument/2006/relationships" id="261" r:id="Rdd453b52abb54869"/>
    <p:sldId xmlns:r="http://schemas.openxmlformats.org/officeDocument/2006/relationships" id="262" r:id="Rf917d3279d1b4c3f"/>
    <p:sldId xmlns:r="http://schemas.openxmlformats.org/officeDocument/2006/relationships" id="263" r:id="R189346e12b764299"/>
    <p:sldId xmlns:r="http://schemas.openxmlformats.org/officeDocument/2006/relationships" id="264" r:id="R1fc3c75b9ba84ebd"/>
    <p:sldId xmlns:r="http://schemas.openxmlformats.org/officeDocument/2006/relationships" id="265" r:id="R476245e2bdc04d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c415f226334a27" /><Relationship Type="http://schemas.openxmlformats.org/officeDocument/2006/relationships/slideMaster" Target="/ppt/slideMasters/slideMaster1.xml" Id="R5aa2effb7d2e43a6" /><Relationship Type="http://schemas.openxmlformats.org/officeDocument/2006/relationships/notesMaster" Target="/ppt/notesMasters/notesMaster1.xml" Id="R79fb304de56e4805" /><Relationship Type="http://schemas.openxmlformats.org/officeDocument/2006/relationships/presProps" Target="/ppt/presProps.xml" Id="R48c999cd1db54df4" /><Relationship Type="http://schemas.openxmlformats.org/officeDocument/2006/relationships/tableStyles" Target="/ppt/tableStyles.xml" Id="R6db23563bb674c48" /><Relationship Type="http://schemas.openxmlformats.org/officeDocument/2006/relationships/slide" Target="/ppt/slides/slide1.xml" Id="R4157be4280094d39" /><Relationship Type="http://schemas.openxmlformats.org/officeDocument/2006/relationships/slide" Target="/ppt/slides/slide2.xml" Id="R6b1bca693a814fe9" /><Relationship Type="http://schemas.openxmlformats.org/officeDocument/2006/relationships/slide" Target="/ppt/slides/slide3.xml" Id="R706a402246a14f87" /><Relationship Type="http://schemas.openxmlformats.org/officeDocument/2006/relationships/slide" Target="/ppt/slides/slide4.xml" Id="R0031af218fc94b27" /><Relationship Type="http://schemas.openxmlformats.org/officeDocument/2006/relationships/slide" Target="/ppt/slides/slide5.xml" Id="R2a4d0a9fc2f2472d" /><Relationship Type="http://schemas.openxmlformats.org/officeDocument/2006/relationships/slide" Target="/ppt/slides/slide6.xml" Id="Rdd453b52abb54869" /><Relationship Type="http://schemas.openxmlformats.org/officeDocument/2006/relationships/slide" Target="/ppt/slides/slide7.xml" Id="Rf917d3279d1b4c3f" /><Relationship Type="http://schemas.openxmlformats.org/officeDocument/2006/relationships/slide" Target="/ppt/slides/slide8.xml" Id="R189346e12b764299" /><Relationship Type="http://schemas.openxmlformats.org/officeDocument/2006/relationships/slide" Target="/ppt/slides/slide9.xml" Id="R1fc3c75b9ba84ebd" /><Relationship Type="http://schemas.openxmlformats.org/officeDocument/2006/relationships/slide" Target="/ppt/slides/slide10.xml" Id="R476245e2bdc04d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78ab0c42da43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4fb8bd0b86492e" /><Relationship Type="http://schemas.openxmlformats.org/officeDocument/2006/relationships/notesMaster" Target="/ppt/notesMasters/notesMaster1.xml" Id="R450e17a0d0ff4a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3aba2fbd7046af" /><Relationship Type="http://schemas.openxmlformats.org/officeDocument/2006/relationships/notesMaster" Target="/ppt/notesMasters/notesMaster1.xml" Id="R6eb9456623ec47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81e2b2b62b4651" /><Relationship Type="http://schemas.openxmlformats.org/officeDocument/2006/relationships/notesMaster" Target="/ppt/notesMasters/notesMaster1.xml" Id="Rab906e26a2524d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41e07cf2d24b69" /><Relationship Type="http://schemas.openxmlformats.org/officeDocument/2006/relationships/notesMaster" Target="/ppt/notesMasters/notesMaster1.xml" Id="R3c0b688c1bee4c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ba07ddfb8e4de6" /><Relationship Type="http://schemas.openxmlformats.org/officeDocument/2006/relationships/notesMaster" Target="/ppt/notesMasters/notesMaster1.xml" Id="Rbd2f4c7bb42d4f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d599fd8a0c43dc" /><Relationship Type="http://schemas.openxmlformats.org/officeDocument/2006/relationships/notesMaster" Target="/ppt/notesMasters/notesMaster1.xml" Id="R1727ce2e724048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fa360924ea4993" /><Relationship Type="http://schemas.openxmlformats.org/officeDocument/2006/relationships/notesMaster" Target="/ppt/notesMasters/notesMaster1.xml" Id="R0e9edbc1629b46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3fb72e47e94559" /><Relationship Type="http://schemas.openxmlformats.org/officeDocument/2006/relationships/notesMaster" Target="/ppt/notesMasters/notesMaster1.xml" Id="R95b3ab09d76c46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a8644376634fe2" /><Relationship Type="http://schemas.openxmlformats.org/officeDocument/2006/relationships/notesMaster" Target="/ppt/notesMasters/notesMaster1.xml" Id="Rc7134b9031394f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aa73ee4eaf48b2" /><Relationship Type="http://schemas.openxmlformats.org/officeDocument/2006/relationships/notesMaster" Target="/ppt/notesMasters/notesMaster1.xml" Id="R1924a48d9a4241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96ab0c44b4f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d7cf78294a41da" /><Relationship Type="http://schemas.openxmlformats.org/officeDocument/2006/relationships/slideLayout" Target="/ppt/slideLayouts/slideLayout1.xml" Id="R74d888fb0e7c45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d888fb0e7c45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e8dd62da84c88" /><Relationship Type="http://schemas.openxmlformats.org/officeDocument/2006/relationships/notesSlide" Target="/ppt/notesSlides/notesSlide1.xml" Id="R2f2e9a7c9a7440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c6df1367f4ec9" /><Relationship Type="http://schemas.openxmlformats.org/officeDocument/2006/relationships/notesSlide" Target="/ppt/notesSlides/notesSlide2.xml" Id="R2c15c11aa25740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4b06fb4a44407" /><Relationship Type="http://schemas.openxmlformats.org/officeDocument/2006/relationships/notesSlide" Target="/ppt/notesSlides/notesSlide3.xml" Id="R08871ceb91a046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0c2365ed94d71" /><Relationship Type="http://schemas.openxmlformats.org/officeDocument/2006/relationships/notesSlide" Target="/ppt/notesSlides/notesSlide4.xml" Id="R6c82bb69bbd648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ba8e7bb494583" /><Relationship Type="http://schemas.openxmlformats.org/officeDocument/2006/relationships/notesSlide" Target="/ppt/notesSlides/notesSlide5.xml" Id="Rab9e9e545f3349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5fa8c82034679" /><Relationship Type="http://schemas.openxmlformats.org/officeDocument/2006/relationships/image" Target="/ppt/media/image.png" Id="Rd414622654b54c26" /><Relationship Type="http://schemas.openxmlformats.org/officeDocument/2006/relationships/image" Target="/ppt/media/image2.png" Id="R46eff0afe8874d8d" /><Relationship Type="http://schemas.openxmlformats.org/officeDocument/2006/relationships/notesSlide" Target="/ppt/notesSlides/notesSlide6.xml" Id="R59c45ac2298648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5a77b992f41ff" /><Relationship Type="http://schemas.openxmlformats.org/officeDocument/2006/relationships/notesSlide" Target="/ppt/notesSlides/notesSlide7.xml" Id="R36ab3eed1b664d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4152acdf04504" /><Relationship Type="http://schemas.openxmlformats.org/officeDocument/2006/relationships/notesSlide" Target="/ppt/notesSlides/notesSlide8.xml" Id="Rd8d015ced4c047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87df757ff4faf" /><Relationship Type="http://schemas.openxmlformats.org/officeDocument/2006/relationships/notesSlide" Target="/ppt/notesSlides/notesSlide9.xml" Id="R9ffce77482ea4f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a044ac19745d5" /><Relationship Type="http://schemas.openxmlformats.org/officeDocument/2006/relationships/notesSlide" Target="/ppt/notesSlides/notesSlide10.xml" Id="R7e8d41a76c9541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A5745D-0C86-4D38-AC1C-09671EEC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wasp1 dma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C2717-D9BE-4845-A973-8D0C2756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模块讲解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B1C45-11C8-4AAA-BF23-67101AE3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AHB DMA register block 与 memory copy initiator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1190D-CF69-456F-B5ED-ECBB7186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dma 通过寄存器配置源/目的/长度，作为第二 AHB master 执行搬运事务。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66E8D-63DF-4541-8BD4-D147AF37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EC5E0-B47B-490E-8AD3-0AEDD5D0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软件通过寄存器启动搬运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D5D72-18E8-41D1-8312-BA81F6C2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5AB51-582F-4711-A7AE-FF899B24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96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busy 时保护关键配置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E4637-DC7C-4243-A0A8-30F3CCB5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ECA9D-02E9-4542-9763-12D12D29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读源地址再写目的地址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EBF4B3-DC10-4A45-8513-9C9A239A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54F0E-B49D-4E25-8578-649B51CC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完成/错误状态可查询并中断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EA295-B205-49A7-9761-4C6394D1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742950"/>
            <a:ext cx="4095750" cy="4572000"/>
          </a:xfrm>
          <a:prstGeom xmlns:a="http://schemas.openxmlformats.org/drawingml/2006/main" prst="roundRect">
            <a:avLst>
              <a:gd name="adj" fmla="val 4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1B1A5-E5B3-4A15-858C-A57D54A7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 slave regs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config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8DA98-5298-4DCD-ABFE-C22A6A32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descriptor regs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8D1A9-70F7-4345-87EE-E6E74775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200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DMA FSM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read/write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90AB4-D2D0-4945-B804-55FB1BC4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AHB master port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initiator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FABFE-2120-4691-BD91-F7097C07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1145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done/error irq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3D1F3A-E263-4494-8622-D9F8631D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dma design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C25FB-B15E-442B-AB2D-5BF57226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71812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19185D-6FF2-4311-8F83-89231D7C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GOALS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823B4-1554-4222-BD59-06E735C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设计目标与边界：先把职责收紧，再谈扩展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870D4-8CA4-4E1C-84CB-A90BE0F8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9ACC8-F5AC-4B04-8A4D-BD3BD40B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86A61-0270-4DEF-91C6-FC4638FF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1D908-2FDF-42FD-89F7-BD0773FB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3714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模块定位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CF078-A2C7-4F31-9351-19E0EA7B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66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289EF-EA44-45E2-9F71-120B2B29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dma 通过寄存器配置源/目的/长度，作为第二 AHB master 执行搬运事务。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0A77E-A07A-4EEB-B425-558DD2C2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AC1C1-3AB8-43BB-80E1-E02A1636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软件通过寄存器启动搬运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4625B-C651-4A37-881C-488E4D15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748DE-A7D5-4D1E-95B2-48B37A35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194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busy 时保护关键配置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1B28D-2934-4664-BCFA-F41961E3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AA828-B2C0-44C6-A7E8-A28A718A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读源地址再写目的地址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C2B96C-1DF1-4BFB-958F-FB453D83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2476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外部可见契约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AC83C2-1679-494F-A74D-30A467A4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000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8D026-DCFB-4C1A-9117-4EB85CE7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3238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接口、寄存器语义、错误响应、中断/握手行为必须稳定。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334155"/>
                </a:solidFill>
              </a:defRPr>
            </a:pPr>
            <a:r>
              <a:rPr sz="1275" b="1">
                <a:solidFill>
                  <a:srgbClr val="334155"/>
                </a:solidFill>
              </a:rPr>
              <a:t>实现可替换，但软件和总线观察到的行为不应改变。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3B1DD-BC5F-4628-84BE-BCB32E3B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952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实现侧选择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97CCD-7D0A-44AC-B495-A677F093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ECB160-7733-4E95-A68D-ED6FB5B1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146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明确 SEQ/COMB/IF 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D1591-9DD4-4CA6-B709-4993AC49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FE095F-69B0-4A92-BBF7-813ECC12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718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状态归属到叶子或寄存器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57462F-8C5B-4243-A8FB-9F3E6733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957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BD4E84-CE51-4C9E-9C5D-24E8E975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290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IC 与 Virtex-7 FPGA 行为一致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6B255-34D2-4DF6-9F97-A4DE631A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7E0F9E-8FD7-4FCA-824D-3E81DECF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8622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验证覆盖正常/边界/错误/停顿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7F06E1-E4EB-4B80-B9B4-9C5B722B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dma design explanation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CCC125-6154-44E6-B84A-CB8223C7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342462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5813D6-F2D2-4432-A639-4D6D1E9D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EXTERNAL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F6DB8-6384-4B6D-B062-774709C2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接口契约：软件/总线/相邻模块能观察到什么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D16D8-3EBF-411D-85A7-348DBF8D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23D0D-D89A-4EBC-850B-A1968B55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352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软件通过寄存器启动搬运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15359-CFC6-46AD-817D-EDD67EA1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4FEAD-6867-4EDE-99ED-6A12EC87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383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busy 时保护关键配置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60ADD-4256-4635-BBF5-D6059FA6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3799D-A1AF-4B10-84D4-08346837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241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读源地址再写目的地址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EC5CF-37AD-4363-A0E2-311AA406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C4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54837-FD75-4E8F-A9D1-BF1E5E5F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099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完成/错误状态可查询并中断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576AA-D86F-4284-A68A-17183068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C5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81FAC-8797-4713-A2C1-DD047AFF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957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program src/dst/len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44298-A309-4165-A795-AFD3B2B9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428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C6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D615A-03F3-4055-B4A8-2CAD09ED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81550"/>
            <a:ext cx="809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start 进入 read phase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590456-675A-4D0B-A9C2-46B81789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契约优先级</a:t>
            </a:r>
          </a:p>
          <a:p xmlns:a="http://schemas.openxmlformats.org/drawingml/2006/main">
            <a:pPr algn="ctr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spec &gt; design spec &gt; RTL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3F519-E4E5-42C4-A26E-BA155F59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dma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47493-9736-45BB-B607-DB4A8F1B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3625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AE02DC-AAA5-47DE-B1BE-F26D6D2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ARCHITECTURE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1E075-8D71-4E3A-B545-3E2314BF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总体架构图：SEQ、COMB、IF 明确分开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74AD4-AC9A-4E1E-9E8A-FB39D507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09600"/>
            <a:ext cx="114300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SEQ clk/rst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C7DB0-D128-4F63-8DB7-5C9D470E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9600"/>
            <a:ext cx="7810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COMB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BF27F-6ED8-4B67-8B1A-60F7A6D6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9600"/>
            <a:ext cx="552450" cy="285750"/>
          </a:xfrm>
          <a:prstGeom xmlns:a="http://schemas.openxmlformats.org/drawingml/2006/main" prst="roundRect">
            <a:avLst>
              <a:gd name="adj" fmla="val 4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93E92-B0B9-4009-AADA-B58D3815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AHB slave regs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config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517CB-600E-4534-BA7B-26C4C46D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descriptor regs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58894-AD44-4159-AFD3-BA6205A1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287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DMA FSM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read/write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7948C-51E1-4355-AEBC-35B3D31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AHB master port</a:t>
            </a:r>
          </a:p>
          <a:p xmlns:a="http://schemas.openxmlformats.org/drawingml/2006/main"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IF initiator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6CA18-4C10-404E-B77C-DE48DC47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43150"/>
            <a:ext cx="17621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done/error irq</a:t>
            </a:r>
          </a:p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SEQ status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B23C5-3590-4E93-90D8-63E97875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图示原则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61CA8-36F1-406D-83DF-E69C3F97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9716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0FFA7-2E92-458F-9EA5-518D9EA5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050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绿色：时序状态或寄存器/存储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D2285-E482-4186-9A65-946AE0C5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24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C3CEF-908E-4A77-A07E-A5559F26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574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橙色：组合判断、mux、编码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50469-4186-4A65-B4E1-ADFD6D7D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765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AC3CA-8363-47EE-ACAB-155FA1AB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蓝色：模块边界或外部接口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E4CDC-6C05-4754-8C1C-06952215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290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68F5B-75B1-4509-A7CF-25156CFC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5623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每个 SEQ 块在设计文档中必须标明 clock/reset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DD93B6-DCC5-484F-9BDE-2572C98C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dma design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E0AC1C-6332-459F-96E1-E335E87E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28015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01AC4B-FA07-4CCC-B325-D0855186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FUNCTIONAL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26F7F-6CBD-4FCC-B7C5-2EFD4BE4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功能原理：从输入事件到可观察结果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909D2-41DD-490B-88BD-6780C487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program src/dst/len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798A5-A70D-427D-ADB8-5930B23A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757FB-631F-4B88-81D1-6DA0644A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start 进入 read phase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12667-1077-4E9A-A230-27234D80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3954A-1B88-4FF6-9DE2-3B4B3122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读数据暂存后进入 write phase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129E3-F89C-4643-883A-ECA5986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193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75251-AD70-48C8-ADDE-258F26F1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09750"/>
            <a:ext cx="1809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</a:defRPr>
            </a:pPr>
            <a:r>
              <a:rPr sz="975" b="1">
                <a:solidFill>
                  <a:srgbClr val="16A34A"/>
                </a:solidFill>
              </a:rPr>
              <a:t>长度耗尽进入 done 或 error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B0F73-AB7A-4D73-9679-B7EA51F5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根本逻辑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269F9-759C-4780-AC1F-62B704D8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79379-0D2D-4385-B239-E68145CA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program src/dst/len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B80A9-53B4-46FE-A1D7-A13EA5B3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9679E-603E-4B02-A69B-2AB4B194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434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start 进入 read phase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5B91D-C7BA-4F9B-A7CF-2E5347F0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CF1C2-759C-4218-8D4F-414FE5AD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863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读数据暂存后进入 write phase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172C6-2257-4403-A673-70657CFA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C7441A-0FE1-4389-B9D5-9F0F7EFF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897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长度耗尽进入 done 或 error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B87D1-B8E9-4715-994C-3ABD5297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dma design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A6404F-2DB4-47C2-BBB3-67C3AAE5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53610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738657-44DE-4C74-B731-1926E667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STATE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2EA98-DC4F-48DF-9625-24B9B5A5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状态/时序图：所有状态都必须可定位、可验证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4622654b54c26"/>
          <a:stretch xmlns:a="http://schemas.openxmlformats.org/drawingml/2006/main"/>
        </p:blipFill>
        <p:spPr>
          <a:xfrm xmlns:a="http://schemas.openxmlformats.org/drawingml/2006/main">
            <a:off x="571500" y="1597602"/>
            <a:ext cx="3429000" cy="1948295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ff0afe8874d8d"/>
          <a:stretch xmlns:a="http://schemas.openxmlformats.org/drawingml/2006/main"/>
        </p:blipFill>
        <p:spPr>
          <a:xfrm xmlns:a="http://schemas.openxmlformats.org/drawingml/2006/main">
            <a:off x="4333875" y="1664074"/>
            <a:ext cx="3429000" cy="181535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4B68C-12AD-4C62-832D-593DB129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859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116AF-A1C0-46A8-891B-B0DE3661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192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状态图来自模块 docs/images，并与 design spec 中状态描述对应。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92357-DAB6-4009-BE5B-0997BF7A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717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458E3-1F95-4F07-BC0E-D464E9D9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050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复杂控制器默认按 L3：条件、动作、错误路径、优先级都要明确。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6F554-A5D7-4B1C-A976-391FA0B9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BE3A5-057A-4494-95F5-07C52C11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无显式 FSM 的模块用寄存器/计数器/流水线状态图表达。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0B190-DA5D-49B7-92C9-B8DB6CE9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dma design explanation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5A7D3-A01C-49C8-BF52-E4C19428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276179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8B03EC-464E-421B-8284-3C574AE2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VERIFICATION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A7861-C3CD-4468-8DA4-0C8A3001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验证方法：不是冒烟测试，而是证明交互正确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CAE53-C674-4F55-95B1-42759834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normal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22D0F-E6E1-4015-9AE6-8F08F5C4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66686-3931-4B5E-8A6A-A6F8163F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228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0478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error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C95631-4B60-4556-B8D6-3AAC9823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240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7706"/>
                </a:solidFill>
              </a:defRPr>
            </a:pPr>
            <a:r>
              <a:rPr sz="1650" b="1">
                <a:solidFill>
                  <a:srgbClr val="D97706"/>
                </a:solidFill>
              </a:rPr>
              <a:t>stall/idle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6CC7A-66EB-4F8C-968B-5A4B8C01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寄存器配置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6BA3E-2E26-41C6-A3EA-944474DA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3DC29-E1AA-4DD6-A1B4-D2A8447E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单字/多字搬运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D2CF1-2737-4609-99C1-5486202F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089262-85A4-4AC5-845E-4BC05582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2286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wait-state backpressure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CCFD5-FADE-461A-920D-EC6F821E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30D68-B5FC-4821-8107-75D09300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67000"/>
            <a:ext cx="1809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错误响应与 busy 保护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4F03A-4ED0-44BC-9894-4F11B1B5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04812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BE094-46F7-4768-A9C3-31A914AD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05375"/>
            <a:ext cx="7334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C3AED"/>
                </a:solidFill>
              </a:defRPr>
            </a:pPr>
            <a:r>
              <a:rPr sz="1725" b="1">
                <a:solidFill>
                  <a:srgbClr val="7C3AED"/>
                </a:solidFill>
              </a:rPr>
              <a:t>self-checking TB + scoreboard/reference model + coverage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163F38-65A9-4371-9DCA-11182AFEB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dma design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280BB5-2C37-4909-8045-F965B3BD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43389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241F75-4273-4027-B998-4A9C0715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CASE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32E24-CD57-4CF6-AFEF-C4A17864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验证 case 时间表：动作、期望、观测结果必须逐段列出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845FD-5F8F-4A29-89EC-80B28E44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时间段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6040B-D9C1-4F1D-86A2-FCA4ED70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287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85023-3980-4F4D-A4BF-8995B68D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28750"/>
            <a:ext cx="4000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期望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7BC5A-189E-414C-A6DF-8485072A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65A0E-A832-4A4F-B931-0A14C8BC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0ns-40ns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CAF5E-9A1A-4BDD-886E-5F3C35BF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526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reset/init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7DB47-CB73-45B3-ACA3-5CBCBEA7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526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所有寄存器进入默认状态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9A474-56CE-46D3-963F-C4D0D4F6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D0FBB-5E8F-4045-BDF0-179C6DD3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40ns-120ns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500CC-FA41-4C11-8997-C362DE4F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normal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7F174-704E-46A7-8A87-E0263D73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基本请求响应符合 spec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4DFAB-ADB1-4FA7-A649-145AFD68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3975E1-FA95-4849-B694-1BC87334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120ns-220ns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6A308-E411-4E5E-9034-28274BCC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boundary/error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E0DF0-2048-4993-BF09-73D4D504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边界和错误路径被检查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D20C4-030F-4AC4-8816-90713D6A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E9A1C4-F742-4A94-90BF-CAC45D04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220ns-320ns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BAB118-E77D-4D9C-B3A6-BFAB2AFB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24200"/>
            <a:ext cx="2762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stall/backpressure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E4C65-6ECF-49E2-8F41-04BBB897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400050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ready/valid 或 wait-state 行为稳定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BECA20-A1A6-4AEB-9B63-22915138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24200"/>
            <a:ext cx="1619250" cy="4572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334155"/>
                </a:solidFill>
              </a:defRPr>
            </a:pPr>
            <a:r>
              <a:rPr sz="825" b="0">
                <a:solidFill>
                  <a:srgbClr val="334155"/>
                </a:solidFill>
              </a:rPr>
              <a:t>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294B4-7FAE-4742-B2CB-471EAB0E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说明：此页抽取/概括自现有 verification report。后续若 testbench 扩展，应同步更新报告和 PPT。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0D0EAF-0078-4B1E-B436-413AE642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dma design explanation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946465-0694-45A9-98AD-CB8D0603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14942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8C1948-A92A-4DD3-89B1-0B538007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COVERAGE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13CA7-24A5-4E00-9353-5CB5ADDF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覆盖与风险：覆盖面决定这个模块能不能被信任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49B90-C7E9-412D-B582-786BCF8D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寄存器配置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6CBB6-10AE-4D64-AFFF-D2121673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D375B-4913-45CD-A379-B38E1669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1031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F8A38-2D37-419B-8CC9-1E0A02DF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144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7C18F-3605-464B-B038-C2779281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单字/多字搬运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81EF6-84A7-4211-A4BE-AF52ECA0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30CF6-1D88-45AC-96D0-9E15E76D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71675"/>
            <a:ext cx="201168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974B0-55F7-438A-B7D6-89613F39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14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7F952-8A6F-4D8E-83C5-56EBC22A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wait-state backpressure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F7430-8962-4092-869A-C9BED133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29E6B-A35B-42B0-9060-FBEA853A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71725"/>
            <a:ext cx="196596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BB2EC-2AD3-42DE-8ECD-302B2FBA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145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86%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7143B-AA1B-49AF-942D-37B4EA47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错误响应与 busy 保护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5B834-4476-4AFA-8FF6-950E6180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D68B0-A3F6-4B62-8617-EF2105C7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71775"/>
            <a:ext cx="192024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0CF3A-2499-49FA-B9AA-18918A82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9E15A-2A0A-4AE5-BF04-61EED66F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软件通过寄存器启动搬运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C55F7-40DE-42E4-AA8C-103D2C60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83364-A625-4C57-84CD-EBFC8628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20574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158F6-224A-4868-99E5-7446AAF1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146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90%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22A6F2-2936-42D3-B0C5-E5C3E614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busy 时保护关键配置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A7B4B7-C300-4DFF-A325-56F51F28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228600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10478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AEE294-563A-4DA9-90FA-0D863DBC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1874520" cy="12382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A2B6DB-E78F-4A4F-89EE-3E5931A8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147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82%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62B91E-A8D1-4161-911C-9A3A6065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81125"/>
            <a:ext cx="3714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已覆盖维度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9D08FC-2AAD-43EA-822F-CF89AF9A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670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3B7769-38AC-4E68-8229-8B4D4B20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003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寄存器配置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813618-2DAE-4BFA-BCC3-07DFD1C5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861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BCCA60-8B27-48D3-94F7-C5CA2936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194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单字/多字搬运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85750D-3ACC-4961-80A2-39418DC8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052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F458AD-E43C-4A7A-AE68-B49D81F1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8385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wait-state backpressure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DB3085-BE26-46B9-BC3B-ABF7E914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2435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CA06F8-0311-4BB8-83CA-35244A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57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错误响应与 busy 保护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649B76-2EF8-4057-96D7-8A0CAD12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86375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0478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风险原则：新增 RTL 行为必须先补 spec 和验证，再进集成。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94239D-56F4-49B1-9F04-DBDE7EFA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dma design explanation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DF4460-1D2E-41FC-A7FF-168BD4E4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004687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B35F45-8915-4898-BDE3-4A006125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38227-CC96-4B80-A095-E4C83915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结论：这个模块已经形成可讲解、可追踪、可继续扩展的设计资产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6727D-A6DF-4FDF-9FCB-02D6D708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设计结论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BCE32-6DB3-4ADD-A4E6-7C227735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D7BCC-680E-4571-812F-03E70ED4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33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软件通过寄存器启动搬运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3312DB-928C-4175-9614-3AA29CAB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E45F7-450E-463C-9A95-AC4029A0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714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busy 时保护关键配置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6A8F6-C7BD-41C3-9DA0-12EF18D8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53E2E-EC1F-4E08-B048-61CB90A6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95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读源地址再写目的地址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8C3E3-6432-40BB-83B6-25E8C703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A827E-C1C7-445E-B67B-7B00075E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76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完成/错误状态可查询并中断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85C45-4DB6-454E-9B03-38BB5996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A34A"/>
                </a:solidFill>
              </a:defRPr>
            </a:pPr>
            <a:r>
              <a:rPr sz="1650" b="1">
                <a:solidFill>
                  <a:srgbClr val="16A34A"/>
                </a:solidFill>
              </a:rPr>
              <a:t>验证结论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0BE2F-32DE-4004-B415-E3C930FB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FEB25-FFDE-474B-9A74-58337E0C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寄存器配置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A331A-19A6-453E-B74A-97BABC96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E5BE3-F762-4E13-B90C-EA863C15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单字/多字搬运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4D82E-C707-4B20-B5A6-015492AE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EB64BA-4583-4AC6-99A9-439AB26B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wait-state backpressure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912D32-7F3A-4CF1-AAA3-17C35B6C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D8E621-2075-4EA9-A221-8389454E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错误响应与 busy 保护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65844F-8728-45EA-AB98-570EACD6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1925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后续关注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28479-1700-4752-8678-979DF33C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0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A7B960-EB46-4A49-94F9-68BBF062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与上层集成后的端到端 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A0912-4DF9-4914-8AF3-CE2602D1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934D57-6B5E-44C3-A8D6-7FA19BF7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目标宏/FPGA 综合路径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1DCCF5-B519-4AC3-8634-21906A97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62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FD8E22-75BB-4AA1-84FF-46AF7F6A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新增功能保持 contract 稳定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14985F-FE81-4182-AFD3-E949189B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3300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3FCF08-D5A9-4471-B9C6-F97DA84D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76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文档、RTL、TB 同步更新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C12DD7-2CEA-4662-B057-248B3905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交付物：dma/docs/wasp1_dma_design.pptx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4E5FA9-3F25-44D8-951B-DF655CF3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wasp1 / dma design explanation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512698-032D-4010-85A9-FE9C9C32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913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298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2026-06-18T05:31:01.8880000Z</dcterms:created>
  <dcterms:modified xsi:type="dcterms:W3CDTF">2026-06-18T05:31:01.8880000Z</dcterms:modified>
</coreProperties>
</file>