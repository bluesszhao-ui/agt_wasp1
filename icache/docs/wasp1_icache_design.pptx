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a9d26f3f6f4d52" /><Relationship Type="http://schemas.openxmlformats.org/officeDocument/2006/relationships/extended-properties" Target="/docProps/app.xml" Id="R06d58ae9a9ea4cbd" /><Relationship Type="http://schemas.openxmlformats.org/officeDocument/2006/relationships/officeDocument" Target="/ppt/presentation.xml" Id="Re1e81105db8544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f38ba73ea845d0"/>
  </p:sldMasterIdLst>
  <p:notesMasterIdLst>
    <p:notesMasterId xmlns:r="http://schemas.openxmlformats.org/officeDocument/2006/relationships" r:id="R0ec3edb6015641f4"/>
  </p:notesMasterIdLst>
  <p:sldIdLst>
    <p:sldId xmlns:r="http://schemas.openxmlformats.org/officeDocument/2006/relationships" id="256" r:id="R59f74b7a4f1b4c65"/>
    <p:sldId xmlns:r="http://schemas.openxmlformats.org/officeDocument/2006/relationships" id="257" r:id="R59c657b305aa4b7f"/>
    <p:sldId xmlns:r="http://schemas.openxmlformats.org/officeDocument/2006/relationships" id="258" r:id="R1c55a88613d24917"/>
    <p:sldId xmlns:r="http://schemas.openxmlformats.org/officeDocument/2006/relationships" id="259" r:id="Rc3701cd141664f39"/>
    <p:sldId xmlns:r="http://schemas.openxmlformats.org/officeDocument/2006/relationships" id="260" r:id="Re24eb96e6f8c48d0"/>
    <p:sldId xmlns:r="http://schemas.openxmlformats.org/officeDocument/2006/relationships" id="261" r:id="Rff956b2685a24156"/>
    <p:sldId xmlns:r="http://schemas.openxmlformats.org/officeDocument/2006/relationships" id="262" r:id="R470f5347198a4257"/>
    <p:sldId xmlns:r="http://schemas.openxmlformats.org/officeDocument/2006/relationships" id="263" r:id="Rc1a4699f63ec400e"/>
    <p:sldId xmlns:r="http://schemas.openxmlformats.org/officeDocument/2006/relationships" id="264" r:id="R85dd99d0782d4537"/>
    <p:sldId xmlns:r="http://schemas.openxmlformats.org/officeDocument/2006/relationships" id="265" r:id="R5b7e65b9ddef43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e13b929d1f40ef" /><Relationship Type="http://schemas.openxmlformats.org/officeDocument/2006/relationships/slideMaster" Target="/ppt/slideMasters/slideMaster1.xml" Id="Rd8f38ba73ea845d0" /><Relationship Type="http://schemas.openxmlformats.org/officeDocument/2006/relationships/notesMaster" Target="/ppt/notesMasters/notesMaster1.xml" Id="R0ec3edb6015641f4" /><Relationship Type="http://schemas.openxmlformats.org/officeDocument/2006/relationships/presProps" Target="/ppt/presProps.xml" Id="R8845f0420aef44eb" /><Relationship Type="http://schemas.openxmlformats.org/officeDocument/2006/relationships/tableStyles" Target="/ppt/tableStyles.xml" Id="R0996a15e84204ba5" /><Relationship Type="http://schemas.openxmlformats.org/officeDocument/2006/relationships/slide" Target="/ppt/slides/slide1.xml" Id="R59f74b7a4f1b4c65" /><Relationship Type="http://schemas.openxmlformats.org/officeDocument/2006/relationships/slide" Target="/ppt/slides/slide2.xml" Id="R59c657b305aa4b7f" /><Relationship Type="http://schemas.openxmlformats.org/officeDocument/2006/relationships/slide" Target="/ppt/slides/slide3.xml" Id="R1c55a88613d24917" /><Relationship Type="http://schemas.openxmlformats.org/officeDocument/2006/relationships/slide" Target="/ppt/slides/slide4.xml" Id="Rc3701cd141664f39" /><Relationship Type="http://schemas.openxmlformats.org/officeDocument/2006/relationships/slide" Target="/ppt/slides/slide5.xml" Id="Re24eb96e6f8c48d0" /><Relationship Type="http://schemas.openxmlformats.org/officeDocument/2006/relationships/slide" Target="/ppt/slides/slide6.xml" Id="Rff956b2685a24156" /><Relationship Type="http://schemas.openxmlformats.org/officeDocument/2006/relationships/slide" Target="/ppt/slides/slide7.xml" Id="R470f5347198a4257" /><Relationship Type="http://schemas.openxmlformats.org/officeDocument/2006/relationships/slide" Target="/ppt/slides/slide8.xml" Id="Rc1a4699f63ec400e" /><Relationship Type="http://schemas.openxmlformats.org/officeDocument/2006/relationships/slide" Target="/ppt/slides/slide9.xml" Id="R85dd99d0782d4537" /><Relationship Type="http://schemas.openxmlformats.org/officeDocument/2006/relationships/slide" Target="/ppt/slides/slide10.xml" Id="R5b7e65b9ddef43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e8f8dcc8934a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6d1c3624be475c" /><Relationship Type="http://schemas.openxmlformats.org/officeDocument/2006/relationships/notesMaster" Target="/ppt/notesMasters/notesMaster1.xml" Id="R92895d45528745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ef8a2882084276" /><Relationship Type="http://schemas.openxmlformats.org/officeDocument/2006/relationships/notesMaster" Target="/ppt/notesMasters/notesMaster1.xml" Id="R308962dd4bb949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807eef32e146f6" /><Relationship Type="http://schemas.openxmlformats.org/officeDocument/2006/relationships/notesMaster" Target="/ppt/notesMasters/notesMaster1.xml" Id="R98e3963c1c0c4d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d3379d2d2b4bb3" /><Relationship Type="http://schemas.openxmlformats.org/officeDocument/2006/relationships/notesMaster" Target="/ppt/notesMasters/notesMaster1.xml" Id="R798017aeb28c46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2d560512774dc4" /><Relationship Type="http://schemas.openxmlformats.org/officeDocument/2006/relationships/notesMaster" Target="/ppt/notesMasters/notesMaster1.xml" Id="R574d662d347949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021f20ab9f4322" /><Relationship Type="http://schemas.openxmlformats.org/officeDocument/2006/relationships/notesMaster" Target="/ppt/notesMasters/notesMaster1.xml" Id="R284c1fe2268547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4897204c464630" /><Relationship Type="http://schemas.openxmlformats.org/officeDocument/2006/relationships/notesMaster" Target="/ppt/notesMasters/notesMaster1.xml" Id="R6c706f7b601f4f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78881b0d564025" /><Relationship Type="http://schemas.openxmlformats.org/officeDocument/2006/relationships/notesMaster" Target="/ppt/notesMasters/notesMaster1.xml" Id="R7c439d8ad67a47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a48351b6ea422d" /><Relationship Type="http://schemas.openxmlformats.org/officeDocument/2006/relationships/notesMaster" Target="/ppt/notesMasters/notesMaster1.xml" Id="R232d46a3287648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85888d6e2448e9" /><Relationship Type="http://schemas.openxmlformats.org/officeDocument/2006/relationships/notesMaster" Target="/ppt/notesMasters/notesMaster1.xml" Id="R11849c4d517e44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512af147414e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592ad3317d47af" /><Relationship Type="http://schemas.openxmlformats.org/officeDocument/2006/relationships/slideLayout" Target="/ppt/slideLayouts/slideLayout1.xml" Id="Rd532e075d4b741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32e075d4b741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d2cd58c514496" /><Relationship Type="http://schemas.openxmlformats.org/officeDocument/2006/relationships/notesSlide" Target="/ppt/notesSlides/notesSlide1.xml" Id="R452a756285494e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6081e8d574037" /><Relationship Type="http://schemas.openxmlformats.org/officeDocument/2006/relationships/notesSlide" Target="/ppt/notesSlides/notesSlide2.xml" Id="R50a60258c7d243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88fad62c44e11" /><Relationship Type="http://schemas.openxmlformats.org/officeDocument/2006/relationships/notesSlide" Target="/ppt/notesSlides/notesSlide3.xml" Id="R79812fc3e0a047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71c1444134557" /><Relationship Type="http://schemas.openxmlformats.org/officeDocument/2006/relationships/notesSlide" Target="/ppt/notesSlides/notesSlide4.xml" Id="R7de8ab11a7e44f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6f5e449484fe6" /><Relationship Type="http://schemas.openxmlformats.org/officeDocument/2006/relationships/notesSlide" Target="/ppt/notesSlides/notesSlide5.xml" Id="R9a962611f50b48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98db4c9114ee0" /><Relationship Type="http://schemas.openxmlformats.org/officeDocument/2006/relationships/image" Target="/ppt/media/image.png" Id="R171165fb756c4ad4" /><Relationship Type="http://schemas.openxmlformats.org/officeDocument/2006/relationships/image" Target="/ppt/media/image2.png" Id="Rb47492afb0e144b5" /><Relationship Type="http://schemas.openxmlformats.org/officeDocument/2006/relationships/image" Target="/ppt/media/image3.png" Id="Rde61361c33ee4b81" /><Relationship Type="http://schemas.openxmlformats.org/officeDocument/2006/relationships/image" Target="/ppt/media/image4.png" Id="R9a26579094bd4096" /><Relationship Type="http://schemas.openxmlformats.org/officeDocument/2006/relationships/notesSlide" Target="/ppt/notesSlides/notesSlide6.xml" Id="R95d4539b713e40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aad94bc5d45b8" /><Relationship Type="http://schemas.openxmlformats.org/officeDocument/2006/relationships/notesSlide" Target="/ppt/notesSlides/notesSlide7.xml" Id="R300373ef665c43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1555760a64ae3" /><Relationship Type="http://schemas.openxmlformats.org/officeDocument/2006/relationships/notesSlide" Target="/ppt/notesSlides/notesSlide8.xml" Id="R9886a17088b04a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ac48a9f8c41df" /><Relationship Type="http://schemas.openxmlformats.org/officeDocument/2006/relationships/notesSlide" Target="/ppt/notesSlides/notesSlide9.xml" Id="Rb45674b06d6f4c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5da38259e4755" /><Relationship Type="http://schemas.openxmlformats.org/officeDocument/2006/relationships/notesSlide" Target="/ppt/notesSlides/notesSlide10.xml" Id="Ra444561db59443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D8B4F8-E82F-43D2-9A40-41E40489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wasp1 icache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FB7B0-E87A-418D-BB30-BA0DFE5B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模块讲解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3A65D-ECD4-4F41-8FCC-0C65CFD3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指令 cache 顶层：tag/data/refill/ctrl 集成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24D55-B0DF-4257-9387-EFD93C90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icache 顶层只整合叶子模块，状态分布在 tag/data/refill/ctrl 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14544-FF55-4FDB-A76B-4F250721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5D1EE-6498-4D33-9415-BEEE072A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直接映射 instruction cache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76E21-E047-4F5A-91AC-BEF3EB9F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04546-CF27-4D75-85DE-BB1A455E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hit 直接返回 instruction word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F279D-DAC9-4005-9C96-B446F607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2A584-005F-4E0B-98B0-84CB8276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miss 触发 refill 并更新 tag/data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5DF89-D8E2-4832-9482-9144F8F9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F66CF-1759-4F7F-B85E-BF696136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invalidate 清除有效位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CC423-E27F-40E2-ACDD-7B5265D1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42950"/>
            <a:ext cx="4095750" cy="457200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EB20D-1467-4391-8F63-E00990D0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front_if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3C99C-2B9C-4A10-A8AD-4F8334DA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icache_ctrl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FSM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2A1A3-856D-44DC-A5D5-456F2805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tag store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valid/tag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D031C-C3B9-406B-A3EE-F79D417B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tag compare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hit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1FF7D-E5B6-4000-A0F3-A08666EB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data RAM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D03BF-1A53-48A7-A103-A70AD7EB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refill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FSM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13500C-29AC-4908-98FC-97A66196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mem_if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initiator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075FE4-121F-4E9B-804B-BDFC2462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icache design explanation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C3DBD-FEB0-4A2B-BAFE-AD3EE2FA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84248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8B231E-ACED-4A5B-A23C-A8908892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GOALS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C8626-016A-4CC4-95E6-87277831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设计目标与边界：先把职责收紧，再谈扩展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226EA-0DEA-47EE-B32C-2C202C3C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E3666-FD6E-48E2-ACB9-3FF6BF17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BDE1A-E201-4198-A2E3-67111341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0B4C7-C7A6-4869-9410-5D29EE6C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模块定位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B4CA5-E980-4F22-9405-4B49202F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1F13B-7F3E-4517-AB18-F803AE52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icache 顶层只整合叶子模块，状态分布在 tag/data/refill/ctrl 内。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26DF5-201E-44A4-80CC-077D5B9F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76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C577C-843B-497A-8C3E-027CDEAA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直接映射 instruction cache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3B4E7-D19D-4215-8C89-CEC0CCBF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2229B-80C8-491E-80D9-3921703A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hit 直接返回 instruction word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2F167-2127-4E72-8646-7FEBB895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904B8-21F2-4FFC-8684-79050507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miss 触发 refill 并更新 tag/data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4EC60-18F1-4CD5-AC0C-A4FE35C1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247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外部可见契约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DAA2E-9269-402C-BB31-FAB4A156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A36EE2-32AA-4D3F-895C-29A96149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接口、寄存器语义、错误响应、中断/握手行为必须稳定。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实现可替换，但软件和总线观察到的行为不应改变。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F3115-B4C2-46F6-800E-B21278BB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95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实现侧选择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C64DA-481E-4824-8EF1-08EE0331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9D115-3969-4555-8CFB-ECB8CF1C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146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明确 SEQ/COMB/IF 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AC55C-F399-4909-82B0-F76DF1E8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9048B-357F-47CA-87DD-A02B2CAB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718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状态归属到叶子或寄存器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0839B6-BA6C-4B2E-9FEA-906E3EDB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B0705F-7ADD-490E-8469-4AF7530B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290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IC 与 Virtex-7 FPGA 行为一致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A3C50F-6664-41B3-AFC3-4C6D107C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37FF1F-833A-411B-A83F-27B6602B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862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验证覆盖正常/边界/错误/停顿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E42F4B-FA28-45DA-A7AD-EC5255D9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icache design explanation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5DCECE-50C6-461C-88D0-969D6F8C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80963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1FD0A8-B7E3-4B7D-8CFD-BD03BA82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EXTERNAL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82381-9D5C-4A29-A83E-60827555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接口契约：软件/总线/相邻模块能观察到什么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276C3-123F-404E-8104-220B35A1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81B51-C39E-4F95-95DE-08FAB63D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352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直接映射 instruction cache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33067-AD16-433B-B5EC-8E698CEB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C86CD-BFA0-4733-93BA-C0D7DBF7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383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hit 直接返回 instruction 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8945A-D8EB-4EFD-A9BD-BF1FC515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E8E55-09E5-4248-9F88-46A1CAD3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241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miss 触发 refill 并更新 tag/data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7517A-F5EF-4D07-9CD7-ECC97241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23781-7274-4F30-ACE2-EC88412E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099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invalidate 清除有效位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9F525-521A-4CDF-B9A1-8952ACF5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6691F-02F7-4B87-B329-83ABE1AC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957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frontend 请求 lookup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2FE82-7A1C-4021-8FB9-45C35D8D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5B02C-9761-4FCC-9F22-8CFFC839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81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hit 返回 data word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BF9C5-0C94-468B-BC64-333B40A0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契约优先级</a:t>
            </a:r>
          </a:p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spec &gt; design spec &gt; RTL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8C597-8451-42AB-A753-5B55847C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icache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7B46D-EE73-4F79-A068-B5F6F6C1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20388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575ED1-4209-4EDE-9D94-70279BD5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ARCHITECTURE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37745-410C-4247-BAED-CADD0F90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总体架构图：SEQ、COMB、IF 明确分开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F992A-C238-46FD-9F45-835CD64A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6C286-A397-421E-9B0E-799ED74B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9BD26-3692-4729-9D26-1B208814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23731-BB9C-45CB-A546-47208046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front_if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F926E-D29A-4DA3-B25B-4AD0E801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icache_ctrl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FSM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501F2-EF77-481A-8DFC-E6B46CA7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tag store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valid/tag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5011E-953B-4E5E-A536-764202EE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tag compare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hit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6FE53-185C-44CC-8F7D-8FD680D2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data RAM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B0F82-9341-4EE7-9991-899BD4B0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refill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FSM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9A478-24AB-462F-BDB7-BCEE93F0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mem_if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initiator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E90AE-2126-4BBD-AE8C-D561E930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图示原则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73657-A559-4E44-BC04-FC25B53B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716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F282C-6038-4F72-B689-7BD84560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050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绿色：时序状态或寄存器/存储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2826F-199F-407D-9B9D-2D9D4B8C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C14B6-B5FC-4E60-B20B-7A4D1AED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574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橙色：组合判断、mux、编码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52254-606E-4756-8147-9998F0C7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76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F7E22-103B-43AB-BE9B-D0352B92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蓝色：模块边界或外部接口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A226CB-F8D4-4176-A9C2-5EBBA569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290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C6A20-138B-4051-84A4-D8DECB10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5623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每个 SEQ 块在设计文档中必须标明 clock/reset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7DE582-A3B1-4B26-BBDB-25A674B1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icache design explanation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498B83-F208-4B74-83A9-7A1BF02B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05679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BA296F-0C5E-4756-A473-3FF2709B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FUNCTIONAL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74F85-F2DC-44D5-9980-D3B12E3B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功能原理：从输入事件到可观察结果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A5716-BCA4-4153-A5E8-BF7A8C0D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frontend 请求 lookup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AAE24-6148-4D50-939A-24B7A9C6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433BF-9BD2-4E0F-AA81-EF46217B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hit 返回 data word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7928A-852F-4B8E-AF97-876F1B88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53380-5408-4DF2-B845-AD251B34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miss 启动 refill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11C54-E04A-472D-A016-E21E0302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4E2F1-8E4C-4DEF-8B9B-1008910A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refill 完成后更新 tag/data 并响应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63762-D35B-4198-890F-D27D6CEF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根本逻辑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BDBA7-754C-4269-9910-261910E7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A1375-3E40-42FB-90A5-AC9348CB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frontend 请求 lookup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88F87-8761-4A13-8E8C-8D2C851A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E8238-0A13-47FD-BE93-B2773949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hit 返回 data word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AB1BE-1384-422F-9524-1B5651CD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442B9-C182-4D3D-AB20-FFF863BD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863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miss 启动 refill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20D40-C565-4AA9-9511-F5205D26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A04AC-98D8-4BE4-BE4A-23DB4B33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refill 完成后更新 tag/data 并响应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81978A-B2F2-4781-A99C-9F33A4BD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icache design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DECE9-8285-41A2-96E7-4CFCBFFE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32831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C2B60A-B94E-40EB-B003-B6F507B8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STATE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A42D9-173B-4B9D-B7BA-4DAE80C1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状态/时序图：所有状态都必须可定位、可验证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165fb756c4ad4"/>
          <a:stretch xmlns:a="http://schemas.openxmlformats.org/drawingml/2006/main"/>
        </p:blipFill>
        <p:spPr>
          <a:xfrm xmlns:a="http://schemas.openxmlformats.org/drawingml/2006/main">
            <a:off x="571500" y="1608364"/>
            <a:ext cx="3429000" cy="1926771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492afb0e144b5"/>
          <a:stretch xmlns:a="http://schemas.openxmlformats.org/drawingml/2006/main"/>
        </p:blipFill>
        <p:spPr>
          <a:xfrm xmlns:a="http://schemas.openxmlformats.org/drawingml/2006/main">
            <a:off x="4333875" y="1831398"/>
            <a:ext cx="3429000" cy="148070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1361c33ee4b81"/>
          <a:stretch xmlns:a="http://schemas.openxmlformats.org/drawingml/2006/main"/>
        </p:blipFill>
        <p:spPr>
          <a:xfrm xmlns:a="http://schemas.openxmlformats.org/drawingml/2006/main">
            <a:off x="681789" y="4000500"/>
            <a:ext cx="3208421" cy="19050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6579094bd4096"/>
          <a:stretch xmlns:a="http://schemas.openxmlformats.org/drawingml/2006/main"/>
        </p:blipFill>
        <p:spPr>
          <a:xfrm xmlns:a="http://schemas.openxmlformats.org/drawingml/2006/main">
            <a:off x="4333875" y="4138613"/>
            <a:ext cx="3429000" cy="1628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F085E-D512-4D83-A9FF-8EE6795F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85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9D2CC-7579-4108-878A-2257AA58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状态图来自模块 docs/images，并与 design spec 中状态描述对应。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4EFA1-857B-4186-BF1A-02E62BFD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4B265-3D73-44B3-907A-458FDBD1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复杂控制器默认按 L3：条件、动作、错误路径、优先级都要明确。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3D40A-E318-47E1-85A3-6A432709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680AA-3ACD-4BF0-BBFE-3805C8B1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无显式 FSM 的模块用寄存器/计数器/流水线状态图表达。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21DC5-0F67-425C-93F2-93124CFC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icache design explanation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7FF0B-84D3-4818-AC72-7F3ED447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34760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1B4C35-F7A6-4D70-AF5F-57A4E8D6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VERIFICATION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2AF73-839F-48CF-8B18-CE71DEE0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验证方法：不是冒烟测试，而是证明交互正确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014A1-6B69-47EF-A79F-A2D9BEE7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normal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CDD9E-13EA-4DC6-B531-4187EC5D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13CD6-6FD0-4DFA-A97B-B8330F93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478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error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6E51E-B9FA-47A0-826D-A0D9EBEC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240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stall/idle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106B2-0403-473A-A3FE-351BE954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冷 miss refill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2231A-55B6-4879-85DE-D322E3D6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4E33B-4C07-49EC-91C2-ABC4C1B0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refill 后 hit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23E80-5021-4AB8-82CC-7FD000CF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39C3B-B069-457A-9F56-5CFE52D7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invalidate 行为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4E02E-7402-4A9D-9EE5-D1DD2D7C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EF3ED-3246-4337-B20E-1031438F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67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下游 error/flush/backpressure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10DEF-767D-4ED1-842A-A4F6E71B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C7AA5-C672-4C78-8C6A-A7B1E7C9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05375"/>
            <a:ext cx="7334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3AED"/>
                </a:solidFill>
              </a:defRPr>
            </a:pPr>
            <a:r>
              <a:rPr sz="1725" b="1">
                <a:solidFill>
                  <a:srgbClr val="7C3AED"/>
                </a:solidFill>
              </a:rPr>
              <a:t>self-checking TB + scoreboard/reference model + coverage 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CE91A3-1DEF-41FA-A361-68140225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icache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74906-8876-4EE3-8F41-CD6C89E1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003774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DC0D84-6E60-4538-BFDE-072372DD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CASE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47765-5B16-4228-9EBE-2D5BAA6A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 case 时间表：动作、期望、观测结果必须逐段列出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005DB-EEB3-402B-9A12-FB15B0F9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时间段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F7BE5-8970-4E84-8913-5D0EC6F9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E0E35-32BE-4EF8-AAF9-726234E1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期望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7C753-27FB-433E-9354-71C4C2CB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879F9-9324-4973-A2F7-93A1E495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0ns-60ns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228C6-0017-454B-A72A-F005D7F6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Reset cache, frontend model, and downstream memory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B6BED-2A53-4F7E-9EDA-F325E4BF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Cache idle, no valid outputs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6A0CC-D262-4614-BDF4-C3493142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EB215-40D7-4ABF-B663-9075EAD1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60ns-210ns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990F6-E4E2-4F2E-A868-3DDABC7D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Basic miss at `0x1008`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D3EFD-3823-4D71-A95C-453E419C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Four word reads, response data from refill 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5C409-F6DE-499A-9D5C-1D19C1BD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9912F-1A22-474B-B28B-81ED9445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210ns-280ns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D674C-581E-4481-9D49-4FD50F09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Same address and same-line fetches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1BA47-5928-421E-8538-D32A640E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Cache hits with no downstream request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01FC3-F2AF-492F-AC70-BD98A38A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0CE92-9AE5-4E26-9CFB-F5D93CD3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280ns-530ns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2C0CD0-99BE-4301-A963-C5DB214B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Miss/hit with downstream and frontend backpressure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259899-6B29-4B2C-BBDC-A14D7580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Valid/address/data held stable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3CBD07-B906-4AE3-ABC4-FD3111CC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809A96-DEBE-40E6-8296-F6F9D1CF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530ns-930ns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00AEE0-2CDD-41D1-AE27-972A9E1F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814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Direct-mapped conflict replacement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3E5558-9C51-4FAD-A07D-D2D06425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814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New line replaces old index; old line misses again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7A5A73-F6D1-4FCA-9701-223084D4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814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0FA125-D272-4B18-A271-BFC5297B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说明：此页抽取/概括自现有 verification report。后续若 testbench 扩展，应同步更新报告和 PPT。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42A15E-ED77-4E5A-8B3F-1A1B3C84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icache design explanation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DB4636-A236-421B-A1C8-1A65EE75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987111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781FDC-6EFF-4910-8C3E-0A3A19B3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COVERAGE AND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77F7A-DD66-4DBB-B5C7-3B167B66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覆盖与风险：覆盖面决定这个模块能不能被信任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F320C-BA91-41D3-A5C5-40B82B4E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冷 miss refill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AF098-BC59-4554-9A7B-05CAC202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60562-0C65-49DB-93CC-C9B2389B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1031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7A2A6-3FFF-4BA0-8C0B-D7ACC5A9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144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70AE6-6F2F-449F-9A6B-36F9D43D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refill 后 hit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A946D-4ACC-477D-A89D-5B0B7AEF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70BC7-609B-4646-ACAE-1636CC9B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01168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EFA7C-043E-4C34-B46A-94BD3750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14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5D785-70E9-43A2-AAD5-64398B14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invalidate 行为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6720D-DC1A-4B90-A228-37D1E984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1E222-702C-447A-BBF7-211A04EC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196596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4FCAB-A508-45FD-BA22-379AC912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145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86%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4541D-A43F-4455-8CA6-F93057DB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下游 error/flush/backpressure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FA2B8-A158-4A29-9480-FEBBB37D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3A82C-1D40-4475-8CCC-01AB0DDB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192024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1B77C-43E0-432D-AEBC-966F6E98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84%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54BF5-6C55-4E29-A807-BA335CBC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直接映射 instruction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3ABD7-8CD2-457C-A968-B3CF0296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0EF978-3FC0-4A9D-A33A-B886732F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0574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5AFFE-53F9-473C-A8AB-82ED0071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146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89167-C4A0-4525-9AA0-72A4624A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hit 直接返回 instruction word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E52A9C-A48A-4F95-A3D4-589D49C0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C70E8E-7890-4110-87C9-66034E8F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18745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A3FB84-E7D5-4CB1-BD96-933CD5FC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14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334475-8591-4B54-B9F0-F166A96F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3714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已覆盖维度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110893-D690-4AF3-B48B-7D9C481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670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D1843E-7B50-42F4-A6A7-2CC7F639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003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冷 miss refill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E12674-E9BE-4D01-B44A-48AA31EA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861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ACE4E9-5A55-4154-9176-8F200454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4194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refill 后 hit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1E880F-DB68-4945-9262-C7F32D61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052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BDB185-0D2B-4345-96C6-7D021B5E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8385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invalidate 行为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4F249D-47C2-416E-BA51-BDA1D52A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243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246F34-E947-4CC2-ACE8-03EED239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57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下游 error/flush/backpressure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2F27A7-6DD6-4CD1-A9FF-BA1D32C0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8637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风险原则：新增 RTL 行为必须先补 spec 和验证，再进集成。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9EF652-41DD-4055-9DAF-02216F9A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icache design explanation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346E43-17FF-420B-A6A5-2D23DD80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154506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1D12BE-F830-4090-83E7-89BC1DED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FD9AA-43A9-4D06-8A56-A2D8B1E2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结论：这个模块已经形成可讲解、可追踪、可继续扩展的设计资产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7564B-D534-403C-9594-F1FE1BCF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设计结论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6446B-AB3C-4B9A-B622-0B76721C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AA12A-DDFA-4826-9DB8-9ABF2122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33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直接映射 instruction cache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8E549-0DBF-4426-B9B8-206FDB74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7A879-694C-417C-974C-CBFB2233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14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hit 直接返回 instruction word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D4ED0-E82C-426E-8273-65C700AB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A95C4-245B-4B28-A7F6-DEC1BB19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95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miss 触发 refill 并更新 tag/data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C311A-7CD5-43D2-8E78-CE3AAF40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A776F-33A2-4CDE-9863-CDA3CF7E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76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invalidate 清除有效位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EFC1D-0BFB-4C91-80CA-966854BF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验证结论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4D04E-5CD0-40C9-A99D-24E3C51D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6EBEC-504C-4DEC-969C-93D2EFA0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冷 miss refill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77AFD-DC80-4547-884E-67E5A759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2DA1C-94DA-489A-A6BD-13817E3C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refill 后 hit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F82FE-0645-48EF-95C5-A08D559B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EFD0EC-163A-45C3-B2A0-47EDDBAC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invalidate 行为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8C7EB2-EC89-4113-80CC-38682BC1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5E3F5-0A8C-4BC5-9DF6-8E336BD7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下游 error/flush/backpressure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54BF1-E6EE-4DD0-ADF2-443370B8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后续关注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21AA87-2F92-4DD2-A644-30189D53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01C951-904C-4E7A-A1C5-70C91D76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与上层集成后的端到端 case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B3472B-7212-4AA9-A6D0-06216DD0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EC1356-CE36-4AEF-9324-61CFFFE1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14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目标宏/FPGA 综合路径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C763D6-93BE-42A0-A65B-8570D5B2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3371B-AA07-46BF-AB02-C001F77E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95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新增功能保持 contract 稳定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C8ECCD-1027-403C-9DF6-A010CFCE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D01C48-4859-44E5-B821-69136C93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76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文档、RTL、TB 同步更新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67BC98-55ED-4676-BE70-EC0EAF2B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交付物：icache/docs/wasp1_icache_design.pptx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5F8559-2D14-443D-BD1B-121521AE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icache design explanation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E21721-8570-4E41-869B-061B8C8B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79108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2026-06-18T05:31:05.5660000Z</dcterms:created>
  <dcterms:modified xsi:type="dcterms:W3CDTF">2026-06-18T05:31:05.5660000Z</dcterms:modified>
</coreProperties>
</file>