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62ad5e827f4d85" /><Relationship Type="http://schemas.openxmlformats.org/officeDocument/2006/relationships/extended-properties" Target="/docProps/app.xml" Id="R8802405d6e854e8d" /><Relationship Type="http://schemas.openxmlformats.org/officeDocument/2006/relationships/officeDocument" Target="/ppt/presentation.xml" Id="R6e8217960a2b48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7e085524214126"/>
  </p:sldMasterIdLst>
  <p:notesMasterIdLst>
    <p:notesMasterId xmlns:r="http://schemas.openxmlformats.org/officeDocument/2006/relationships" r:id="R85e243dc80244a05"/>
  </p:notesMasterIdLst>
  <p:sldIdLst>
    <p:sldId xmlns:r="http://schemas.openxmlformats.org/officeDocument/2006/relationships" id="256" r:id="Rcf651e295e754a99"/>
    <p:sldId xmlns:r="http://schemas.openxmlformats.org/officeDocument/2006/relationships" id="257" r:id="Re16ce5aea0314599"/>
    <p:sldId xmlns:r="http://schemas.openxmlformats.org/officeDocument/2006/relationships" id="258" r:id="R26ed5e5469d74928"/>
    <p:sldId xmlns:r="http://schemas.openxmlformats.org/officeDocument/2006/relationships" id="259" r:id="R2bb75d2d47864b60"/>
    <p:sldId xmlns:r="http://schemas.openxmlformats.org/officeDocument/2006/relationships" id="260" r:id="R0a85cb102c26452d"/>
    <p:sldId xmlns:r="http://schemas.openxmlformats.org/officeDocument/2006/relationships" id="261" r:id="R1b2e765c036c463c"/>
    <p:sldId xmlns:r="http://schemas.openxmlformats.org/officeDocument/2006/relationships" id="262" r:id="R8ac19117a84946cd"/>
    <p:sldId xmlns:r="http://schemas.openxmlformats.org/officeDocument/2006/relationships" id="263" r:id="R0771166aaf5d4d40"/>
    <p:sldId xmlns:r="http://schemas.openxmlformats.org/officeDocument/2006/relationships" id="264" r:id="R8233e1b444e34092"/>
    <p:sldId xmlns:r="http://schemas.openxmlformats.org/officeDocument/2006/relationships" id="265" r:id="R3852a0f3c9694c1b"/>
    <p:sldId xmlns:r="http://schemas.openxmlformats.org/officeDocument/2006/relationships" id="266" r:id="R826cce88b92f4d47"/>
    <p:sldId xmlns:r="http://schemas.openxmlformats.org/officeDocument/2006/relationships" id="267" r:id="R1cd6559aab1b42f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5305165fae4222" /><Relationship Type="http://schemas.openxmlformats.org/officeDocument/2006/relationships/slideMaster" Target="/ppt/slideMasters/slideMaster1.xml" Id="R897e085524214126" /><Relationship Type="http://schemas.openxmlformats.org/officeDocument/2006/relationships/notesMaster" Target="/ppt/notesMasters/notesMaster1.xml" Id="R85e243dc80244a05" /><Relationship Type="http://schemas.openxmlformats.org/officeDocument/2006/relationships/presProps" Target="/ppt/presProps.xml" Id="Rdc4eb7abe7a8419b" /><Relationship Type="http://schemas.openxmlformats.org/officeDocument/2006/relationships/tableStyles" Target="/ppt/tableStyles.xml" Id="R65bf96b8b9d347e6" /><Relationship Type="http://schemas.openxmlformats.org/officeDocument/2006/relationships/slide" Target="/ppt/slides/slide1.xml" Id="Rcf651e295e754a99" /><Relationship Type="http://schemas.openxmlformats.org/officeDocument/2006/relationships/slide" Target="/ppt/slides/slide2.xml" Id="Re16ce5aea0314599" /><Relationship Type="http://schemas.openxmlformats.org/officeDocument/2006/relationships/slide" Target="/ppt/slides/slide3.xml" Id="R26ed5e5469d74928" /><Relationship Type="http://schemas.openxmlformats.org/officeDocument/2006/relationships/slide" Target="/ppt/slides/slide4.xml" Id="R2bb75d2d47864b60" /><Relationship Type="http://schemas.openxmlformats.org/officeDocument/2006/relationships/slide" Target="/ppt/slides/slide5.xml" Id="R0a85cb102c26452d" /><Relationship Type="http://schemas.openxmlformats.org/officeDocument/2006/relationships/slide" Target="/ppt/slides/slide6.xml" Id="R1b2e765c036c463c" /><Relationship Type="http://schemas.openxmlformats.org/officeDocument/2006/relationships/slide" Target="/ppt/slides/slide7.xml" Id="R8ac19117a84946cd" /><Relationship Type="http://schemas.openxmlformats.org/officeDocument/2006/relationships/slide" Target="/ppt/slides/slide8.xml" Id="R0771166aaf5d4d40" /><Relationship Type="http://schemas.openxmlformats.org/officeDocument/2006/relationships/slide" Target="/ppt/slides/slide9.xml" Id="R8233e1b444e34092" /><Relationship Type="http://schemas.openxmlformats.org/officeDocument/2006/relationships/slide" Target="/ppt/slides/slide10.xml" Id="R3852a0f3c9694c1b" /><Relationship Type="http://schemas.openxmlformats.org/officeDocument/2006/relationships/slide" Target="/ppt/slides/slide11.xml" Id="R826cce88b92f4d47" /><Relationship Type="http://schemas.openxmlformats.org/officeDocument/2006/relationships/slide" Target="/ppt/slides/slide12.xml" Id="R1cd6559aab1b42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dc6769069941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dc525f61eb4cf1" /><Relationship Type="http://schemas.openxmlformats.org/officeDocument/2006/relationships/notesMaster" Target="/ppt/notesMasters/notesMaster1.xml" Id="R7fd8787943804e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97df674f3b409c" /><Relationship Type="http://schemas.openxmlformats.org/officeDocument/2006/relationships/notesMaster" Target="/ppt/notesMasters/notesMaster1.xml" Id="Re9a102c53e8a49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3b47c1cb6b4baa" /><Relationship Type="http://schemas.openxmlformats.org/officeDocument/2006/relationships/notesMaster" Target="/ppt/notesMasters/notesMaster1.xml" Id="R4403b162e2304c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24121ee8a94da0" /><Relationship Type="http://schemas.openxmlformats.org/officeDocument/2006/relationships/notesMaster" Target="/ppt/notesMasters/notesMaster1.xml" Id="R6100495e021d4e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0ea683c5f04020" /><Relationship Type="http://schemas.openxmlformats.org/officeDocument/2006/relationships/notesMaster" Target="/ppt/notesMasters/notesMaster1.xml" Id="R6378501fea104e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f4b7fa342a427a" /><Relationship Type="http://schemas.openxmlformats.org/officeDocument/2006/relationships/notesMaster" Target="/ppt/notesMasters/notesMaster1.xml" Id="R4a7d3e46b4af41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14c159749e4b52" /><Relationship Type="http://schemas.openxmlformats.org/officeDocument/2006/relationships/notesMaster" Target="/ppt/notesMasters/notesMaster1.xml" Id="Ra19cd159fbb04e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e5024f46754bd0" /><Relationship Type="http://schemas.openxmlformats.org/officeDocument/2006/relationships/notesMaster" Target="/ppt/notesMasters/notesMaster1.xml" Id="R3a4376550f6543d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7c4b51f2a64476" /><Relationship Type="http://schemas.openxmlformats.org/officeDocument/2006/relationships/notesMaster" Target="/ppt/notesMasters/notesMaster1.xml" Id="R5b0697f496bc458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ddb76bcf26b4e4b" /><Relationship Type="http://schemas.openxmlformats.org/officeDocument/2006/relationships/notesMaster" Target="/ppt/notesMasters/notesMaster1.xml" Id="Rf2e598855857412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5a11fe8a2be4d59" /><Relationship Type="http://schemas.openxmlformats.org/officeDocument/2006/relationships/notesMaster" Target="/ppt/notesMasters/notesMaster1.xml" Id="R5d722aac60e14a2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262d8d6c71643a1" /><Relationship Type="http://schemas.openxmlformats.org/officeDocument/2006/relationships/notesMaster" Target="/ppt/notesMasters/notesMaster1.xml" Id="R3b0618ef978542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e0999edc2148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d84edbc75d4b06" /><Relationship Type="http://schemas.openxmlformats.org/officeDocument/2006/relationships/slideLayout" Target="/ppt/slideLayouts/slideLayout1.xml" Id="Rc63dfe73b7084a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3dfe73b7084a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97e47d0853406c" /><Relationship Type="http://schemas.openxmlformats.org/officeDocument/2006/relationships/notesSlide" Target="/ppt/notesSlides/notesSlide1.xml" Id="R31fb6dd4bcb445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e300f0a4e746ec" /><Relationship Type="http://schemas.openxmlformats.org/officeDocument/2006/relationships/notesSlide" Target="/ppt/notesSlides/notesSlide2.xml" Id="Re422b6fabfb541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da14e3d6d4717" /><Relationship Type="http://schemas.openxmlformats.org/officeDocument/2006/relationships/notesSlide" Target="/ppt/notesSlides/notesSlide3.xml" Id="R6e6b073770e943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b5f02556284e27" /><Relationship Type="http://schemas.openxmlformats.org/officeDocument/2006/relationships/notesSlide" Target="/ppt/notesSlides/notesSlide4.xml" Id="R4ea100bdc85842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df4cf8754a4658" /><Relationship Type="http://schemas.openxmlformats.org/officeDocument/2006/relationships/notesSlide" Target="/ppt/notesSlides/notesSlide5.xml" Id="R9d3c3db7532c41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94f93b1b04851" /><Relationship Type="http://schemas.openxmlformats.org/officeDocument/2006/relationships/notesSlide" Target="/ppt/notesSlides/notesSlide6.xml" Id="R4b81fbf767a9484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c8695b0c54707" /><Relationship Type="http://schemas.openxmlformats.org/officeDocument/2006/relationships/notesSlide" Target="/ppt/notesSlides/notesSlide7.xml" Id="R65543cc989794fc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413b50b59f47c4" /><Relationship Type="http://schemas.openxmlformats.org/officeDocument/2006/relationships/notesSlide" Target="/ppt/notesSlides/notesSlide8.xml" Id="Rc962b89ea5d84d8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6f1e677bf54e47" /><Relationship Type="http://schemas.openxmlformats.org/officeDocument/2006/relationships/notesSlide" Target="/ppt/notesSlides/notesSlide9.xml" Id="Rdde62a4238c74b3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0b13a564d041ef" /><Relationship Type="http://schemas.openxmlformats.org/officeDocument/2006/relationships/notesSlide" Target="/ppt/notesSlides/notesSlide10.xml" Id="R9e5c930ef352418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f6348ef5c0408d" /><Relationship Type="http://schemas.openxmlformats.org/officeDocument/2006/relationships/notesSlide" Target="/ppt/notesSlides/notesSlide11.xml" Id="R8125fb11741447d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05e730510458f" /><Relationship Type="http://schemas.openxmlformats.org/officeDocument/2006/relationships/notesSlide" Target="/ppt/notesSlides/notesSlide12.xml" Id="R7f91c418cd324d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65A513C6-9660-466F-BE16-4F4D098D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A5A5A"/>
                </a:solidFill>
              </a:defRPr>
            </a:pPr>
            <a:r>
              <a:rPr sz="1350" b="1">
                <a:solidFill>
                  <a:srgbClr val="5A5A5A"/>
                </a:solidFill>
              </a:rPr>
              <a:t>wasp1 / RV32I+Zicsr / AHB-Lite 2M x 10S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E222D78-82DA-4740-BE98-D619D29A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619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wasp1 SoC</a:t>
            </a:r>
          </a:p>
          <a:p xmlns:a="http://schemas.openxmlformats.org/drawingml/2006/main">
            <a:pPr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Top Design PPT</a:t>
            </a:r>
          </a:p>
        </p:txBody>
      </p:sp>
      <p:sp>
        <p:nvSpPr>
          <p:cNvPr id="3" name="cover-sub">
            <a:extLst xmlns:a="http://schemas.openxmlformats.org/drawingml/2006/main">
              <a:ext uri="{FF2B5EF4-FFF2-40B4-BE49-F238E27FC236}">
                <a16:creationId xmlns:a16="http://schemas.microsoft.com/office/drawing/2014/main" id="{5E849382-6CEF-4B42-819A-F84482E6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90875"/>
            <a:ext cx="619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A5A5A"/>
                </a:solidFill>
              </a:defRPr>
            </a:pPr>
            <a:r>
              <a:rPr sz="1650">
                <a:solidFill>
                  <a:srgbClr val="5A5A5A"/>
                </a:solidFill>
              </a:rPr>
              <a:t>单核 SoC 集成顶层：tile、cache、core AHB bridge、2-master fabric、OTP/SRAM/peripherals、IRQ pack、debug boundary 和 smoke verification。</a:t>
            </a:r>
          </a:p>
        </p:txBody>
      </p:sp>
      <p:sp>
        <p:nvSpPr>
          <p:cNvPr id="4" name="cover-tile">
            <a:extLst xmlns:a="http://schemas.openxmlformats.org/drawingml/2006/main">
              <a:ext uri="{FF2B5EF4-FFF2-40B4-BE49-F238E27FC236}">
                <a16:creationId xmlns:a16="http://schemas.microsoft.com/office/drawing/2014/main" id="{A55F6EEF-0446-4254-8AB6-A30C413D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38250"/>
            <a:ext cx="200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tile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RV32I+Zicsr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I/D cache</a:t>
            </a:r>
          </a:p>
        </p:txBody>
      </p:sp>
      <p:sp>
        <p:nvSpPr>
          <p:cNvPr id="5" name="cover-fabric">
            <a:extLst xmlns:a="http://schemas.openxmlformats.org/drawingml/2006/main">
              <a:ext uri="{FF2B5EF4-FFF2-40B4-BE49-F238E27FC236}">
                <a16:creationId xmlns:a16="http://schemas.microsoft.com/office/drawing/2014/main" id="{0F601EE1-C5FB-43F9-89F9-68EA8071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0"/>
            <a:ext cx="2000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AHB fabric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core + DMA masters</a:t>
            </a:r>
          </a:p>
        </p:txBody>
      </p:sp>
      <p:sp>
        <p:nvSpPr>
          <p:cNvPr id="6" name="cover-slaves">
            <a:extLst xmlns:a="http://schemas.openxmlformats.org/drawingml/2006/main">
              <a:ext uri="{FF2B5EF4-FFF2-40B4-BE49-F238E27FC236}">
                <a16:creationId xmlns:a16="http://schemas.microsoft.com/office/drawing/2014/main" id="{FCBB10BE-3DFD-4BAE-A629-B70B9525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14875"/>
            <a:ext cx="2000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OTP/SRAM/peripherals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10 slave windows</a:t>
            </a:r>
          </a:p>
        </p:txBody>
      </p:sp>
      <p:sp>
        <p:nvSpPr>
          <p:cNvPr id="7" name="cover-io">
            <a:extLst xmlns:a="http://schemas.openxmlformats.org/drawingml/2006/main">
              <a:ext uri="{FF2B5EF4-FFF2-40B4-BE49-F238E27FC236}">
                <a16:creationId xmlns:a16="http://schemas.microsoft.com/office/drawing/2014/main" id="{F2C3406F-100C-4732-B521-1B2AF353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48000"/>
            <a:ext cx="1714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4FF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IF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UART/I2C/GPIO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debug/trap/reset pins</a:t>
            </a:r>
          </a:p>
        </p:txBody>
      </p:sp>
      <p:cxnSp>
        <p:nvCxnSpPr>
          <p:cNvPr id="20" name="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8524875" y="2381250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21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8524875" y="404812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22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525000" y="3548063"/>
            <a:ext cx="381000" cy="71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11" name="tag-editable native PowerPoint shapes">
            <a:extLst xmlns:a="http://schemas.openxmlformats.org/drawingml/2006/main">
              <a:ext uri="{FF2B5EF4-FFF2-40B4-BE49-F238E27FC236}">
                <a16:creationId xmlns:a16="http://schemas.microsoft.com/office/drawing/2014/main" id="{B37D4C2D-C4E6-418C-8D02-1D1067E6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D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editable native PowerPoint shapes</a:t>
            </a:r>
          </a:p>
        </p:txBody>
      </p:sp>
      <p:sp>
        <p:nvSpPr>
          <p:cNvPr id="12" name="footer-1">
            <a:extLst xmlns:a="http://schemas.openxmlformats.org/drawingml/2006/main">
              <a:ext uri="{FF2B5EF4-FFF2-40B4-BE49-F238E27FC236}">
                <a16:creationId xmlns:a16="http://schemas.microsoft.com/office/drawing/2014/main" id="{74906E4F-90AA-4D7E-9BB9-F44EE334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A5A5A"/>
                </a:solidFill>
              </a:defRPr>
            </a:pPr>
            <a:r>
              <a:rPr sz="1200">
                <a:solidFill>
                  <a:srgbClr val="5A5A5A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144684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0636AC45-C825-4930-8B8E-CF40A254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5A5A"/>
                </a:solidFill>
              </a:defRPr>
            </a:pPr>
            <a:r>
              <a:rPr sz="1125" b="1">
                <a:solidFill>
                  <a:srgbClr val="5A5A5A"/>
                </a:solidFill>
              </a:rPr>
              <a:t>wasp1 / SoC Integration Top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4F42B5-3A69-4371-B178-1C470AF6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顶层设计目标与边界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636B86B9-F361-482B-BDE2-3F4F5D86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>顶层负责结构集成和边界暴露，不重新实现子模块内部功能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D6063894-7533-4395-B6C2-AA94353A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als">
            <a:extLst xmlns:a="http://schemas.openxmlformats.org/drawingml/2006/main">
              <a:ext uri="{FF2B5EF4-FFF2-40B4-BE49-F238E27FC236}">
                <a16:creationId xmlns:a16="http://schemas.microsoft.com/office/drawing/2014/main" id="{0786D346-9CE2-4D96-9B23-04F48D9E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53340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boot_pc 固定为 OTP_BASE，使 OTP 成为 reset 后可执行程序存储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把 tile I-cache/D-cache downstream 合并为 core-side AHB master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集成 DMA 第二 master 和 10 个 decoded external slave windows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打包 WDG/UART/I2C/GPIO/DMA 到 INTC，timer 直连 MTIP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临时暴露 core debug discrete ports；完整 JTAG DTM/DM 是后续集成项</a:t>
            </a:r>
          </a:p>
        </p:txBody>
      </p:sp>
      <p:sp>
        <p:nvSpPr>
          <p:cNvPr id="6" name="goal-tile">
            <a:extLst xmlns:a="http://schemas.openxmlformats.org/drawingml/2006/main">
              <a:ext uri="{FF2B5EF4-FFF2-40B4-BE49-F238E27FC236}">
                <a16:creationId xmlns:a16="http://schemas.microsoft.com/office/drawing/2014/main" id="{61BFE1F0-94C1-4898-9939-B77DD223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52625"/>
            <a:ext cx="219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tile owns CPU/cache state</a:t>
            </a:r>
          </a:p>
        </p:txBody>
      </p:sp>
      <p:sp>
        <p:nvSpPr>
          <p:cNvPr id="7" name="goal-top">
            <a:extLst xmlns:a="http://schemas.openxmlformats.org/drawingml/2006/main">
              <a:ext uri="{FF2B5EF4-FFF2-40B4-BE49-F238E27FC236}">
                <a16:creationId xmlns:a16="http://schemas.microsoft.com/office/drawing/2014/main" id="{032F3554-E725-4ED8-B6E8-ED0B5186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52625"/>
            <a:ext cx="1809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A8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COMB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top owns wiring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IRQ pack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bridge select</a:t>
            </a:r>
          </a:p>
        </p:txBody>
      </p:sp>
      <p:sp>
        <p:nvSpPr>
          <p:cNvPr id="8" name="goal-bridge">
            <a:extLst xmlns:a="http://schemas.openxmlformats.org/drawingml/2006/main">
              <a:ext uri="{FF2B5EF4-FFF2-40B4-BE49-F238E27FC236}">
                <a16:creationId xmlns:a16="http://schemas.microsoft.com/office/drawing/2014/main" id="{F522D019-2EC2-4B45-B2FD-7FE6A57A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00500"/>
            <a:ext cx="219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bridge owns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transaction state</a:t>
            </a:r>
          </a:p>
        </p:txBody>
      </p:sp>
      <p:sp>
        <p:nvSpPr>
          <p:cNvPr id="9" name="goal-pins">
            <a:extLst xmlns:a="http://schemas.openxmlformats.org/drawingml/2006/main">
              <a:ext uri="{FF2B5EF4-FFF2-40B4-BE49-F238E27FC236}">
                <a16:creationId xmlns:a16="http://schemas.microsoft.com/office/drawing/2014/main" id="{7ECB941E-E72F-44B1-8ACA-0E6A65E2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0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4FF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IF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external pins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IO/debug/observe</a:t>
            </a:r>
          </a:p>
        </p:txBody>
      </p:sp>
      <p:cxnSp>
        <p:nvCxnSpPr>
          <p:cNvPr id="2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048750" y="2381250"/>
            <a:ext cx="285750" cy="71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25" name=""/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0239375" y="2952750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26" name=""/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7953375" y="2809875"/>
            <a:ext cx="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2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048750" y="44291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14" name="footer-2">
            <a:extLst xmlns:a="http://schemas.openxmlformats.org/drawingml/2006/main">
              <a:ext uri="{FF2B5EF4-FFF2-40B4-BE49-F238E27FC236}">
                <a16:creationId xmlns:a16="http://schemas.microsoft.com/office/drawing/2014/main" id="{7A60F01A-52B4-4C57-945C-45035772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A5A5A"/>
                </a:solidFill>
              </a:defRPr>
            </a:pPr>
            <a:r>
              <a:rPr sz="1200">
                <a:solidFill>
                  <a:srgbClr val="5A5A5A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249900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D49F24A3-166E-4445-95FF-76A28D84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5A5A"/>
                </a:solidFill>
              </a:defRPr>
            </a:pPr>
            <a:r>
              <a:rPr sz="1125" b="1">
                <a:solidFill>
                  <a:srgbClr val="5A5A5A"/>
                </a:solidFill>
              </a:rPr>
              <a:t>wasp1 / SoC Integration Top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3E7C3B5-B2AE-4B07-9435-598EBE79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2M x 10S AHB-Lite 拓扑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66D9394B-06EE-456D-867E-8F379C79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>M0 来自 core-side bridge，M1 来自 DMA；fabric 负责仲裁、decode、mux 和 default response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0E853F1-8B6D-47F9-B987-5C578510F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m0">
            <a:extLst xmlns:a="http://schemas.openxmlformats.org/drawingml/2006/main">
              <a:ext uri="{FF2B5EF4-FFF2-40B4-BE49-F238E27FC236}">
                <a16:creationId xmlns:a16="http://schemas.microsoft.com/office/drawing/2014/main" id="{B2635A2E-4D76-4BB8-817B-C89424D5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4FF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IF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M0 core bridge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I/D cache traffic</a:t>
            </a:r>
          </a:p>
        </p:txBody>
      </p:sp>
      <p:sp>
        <p:nvSpPr>
          <p:cNvPr id="6" name="m1">
            <a:extLst xmlns:a="http://schemas.openxmlformats.org/drawingml/2006/main">
              <a:ext uri="{FF2B5EF4-FFF2-40B4-BE49-F238E27FC236}">
                <a16:creationId xmlns:a16="http://schemas.microsoft.com/office/drawing/2014/main" id="{ED17BE02-AABC-466A-9082-476C903D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M1 DMA master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copy engine traffic</a:t>
            </a:r>
          </a:p>
        </p:txBody>
      </p:sp>
      <p:sp>
        <p:nvSpPr>
          <p:cNvPr id="7" name="fabric">
            <a:extLst xmlns:a="http://schemas.openxmlformats.org/drawingml/2006/main">
              <a:ext uri="{FF2B5EF4-FFF2-40B4-BE49-F238E27FC236}">
                <a16:creationId xmlns:a16="http://schemas.microsoft.com/office/drawing/2014/main" id="{1E93B148-F076-4EDD-A085-32E8B351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857500"/>
            <a:ext cx="2286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ahb_fabric_2m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arbiter + default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registered response</a:t>
            </a:r>
          </a:p>
        </p:txBody>
      </p:sp>
      <p:sp>
        <p:nvSpPr>
          <p:cNvPr id="8" name="decode">
            <a:extLst xmlns:a="http://schemas.openxmlformats.org/drawingml/2006/main">
              <a:ext uri="{FF2B5EF4-FFF2-40B4-BE49-F238E27FC236}">
                <a16:creationId xmlns:a16="http://schemas.microsoft.com/office/drawing/2014/main" id="{D7C45A28-931A-4E2A-B812-7FBA6C03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00375"/>
            <a:ext cx="190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A8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COMB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decoder/mux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slave select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response mux</a:t>
            </a:r>
          </a:p>
        </p:txBody>
      </p:sp>
      <p:sp>
        <p:nvSpPr>
          <p:cNvPr id="9" name="slaves">
            <a:extLst xmlns:a="http://schemas.openxmlformats.org/drawingml/2006/main">
              <a:ext uri="{FF2B5EF4-FFF2-40B4-BE49-F238E27FC236}">
                <a16:creationId xmlns:a16="http://schemas.microsoft.com/office/drawing/2014/main" id="{14F41FB9-725A-4A6E-BA56-3B2CE4E7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81250"/>
            <a:ext cx="2381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10 slave windows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OTP ISRAM DSRAM DMA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WDG TIMER INTC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UART I2C GPIO</a:t>
            </a:r>
          </a:p>
        </p:txBody>
      </p:sp>
      <p:cxnSp>
        <p:nvCxnSpPr>
          <p:cNvPr id="25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76500" y="2809875"/>
            <a:ext cx="904875" cy="714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2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476500" y="3524250"/>
            <a:ext cx="904875" cy="809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2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667375" y="35242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2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8239125" y="3381375"/>
            <a:ext cx="762000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14" name="tag-grant observation: bus_grant_idx_o">
            <a:extLst xmlns:a="http://schemas.openxmlformats.org/drawingml/2006/main">
              <a:ext uri="{FF2B5EF4-FFF2-40B4-BE49-F238E27FC236}">
                <a16:creationId xmlns:a16="http://schemas.microsoft.com/office/drawing/2014/main" id="{61D823C6-B7DF-49E8-B9FD-0691FB28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476750"/>
            <a:ext cx="3190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D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grant observation: bus_grant_idx_o</a:t>
            </a:r>
          </a:p>
        </p:txBody>
      </p:sp>
      <p:sp>
        <p:nvSpPr>
          <p:cNvPr id="15" name="footer-3">
            <a:extLst xmlns:a="http://schemas.openxmlformats.org/drawingml/2006/main">
              <a:ext uri="{FF2B5EF4-FFF2-40B4-BE49-F238E27FC236}">
                <a16:creationId xmlns:a16="http://schemas.microsoft.com/office/drawing/2014/main" id="{C67C7544-CE6F-487B-8755-8CBC9FDD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A5A5A"/>
                </a:solidFill>
              </a:defRPr>
            </a:pPr>
            <a:r>
              <a:rPr sz="1200">
                <a:solidFill>
                  <a:srgbClr val="5A5A5A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45772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26DF0A23-768A-446A-A6EE-F64E4A15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5A5A"/>
                </a:solidFill>
              </a:defRPr>
            </a:pPr>
            <a:r>
              <a:rPr sz="1125" b="1">
                <a:solidFill>
                  <a:srgbClr val="5A5A5A"/>
                </a:solidFill>
              </a:rPr>
              <a:t>wasp1 / SoC Integration Top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79EBF93-02A0-4D10-ADC4-3A9990B1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外部 slave windows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D062B5FF-5549-4240-BC51-9897E2EB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>wasp1 顶层使用 common package 的 base address 和 slave index，保持全 SoC 一致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CD07C8AB-C085-4D78-9CFE-8DB5EBEF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laves-h-0">
            <a:extLst xmlns:a="http://schemas.openxmlformats.org/drawingml/2006/main">
              <a:ext uri="{FF2B5EF4-FFF2-40B4-BE49-F238E27FC236}">
                <a16:creationId xmlns:a16="http://schemas.microsoft.com/office/drawing/2014/main" id="{36FD0518-B49A-4A68-B408-CB77F63C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2063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Group</a:t>
            </a:r>
          </a:p>
        </p:txBody>
      </p:sp>
      <p:sp>
        <p:nvSpPr>
          <p:cNvPr id="6" name="slaves-h-1">
            <a:extLst xmlns:a="http://schemas.openxmlformats.org/drawingml/2006/main">
              <a:ext uri="{FF2B5EF4-FFF2-40B4-BE49-F238E27FC236}">
                <a16:creationId xmlns:a16="http://schemas.microsoft.com/office/drawing/2014/main" id="{92F31748-5B8F-439F-BD02-8F134966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5250" y="1952625"/>
            <a:ext cx="2063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Windows</a:t>
            </a:r>
          </a:p>
        </p:txBody>
      </p:sp>
      <p:sp>
        <p:nvSpPr>
          <p:cNvPr id="7" name="slaves-h-2">
            <a:extLst xmlns:a="http://schemas.openxmlformats.org/drawingml/2006/main">
              <a:ext uri="{FF2B5EF4-FFF2-40B4-BE49-F238E27FC236}">
                <a16:creationId xmlns:a16="http://schemas.microsoft.com/office/drawing/2014/main" id="{C07B9E74-2B0D-4397-848C-40286F7F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1952625"/>
            <a:ext cx="2063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8" name="slaves-0-0">
            <a:extLst xmlns:a="http://schemas.openxmlformats.org/drawingml/2006/main">
              <a:ext uri="{FF2B5EF4-FFF2-40B4-BE49-F238E27FC236}">
                <a16:creationId xmlns:a16="http://schemas.microsoft.com/office/drawing/2014/main" id="{2150BCB7-650D-48D4-B827-48B339A6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76525"/>
            <a:ext cx="2063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Program/storage</a:t>
            </a:r>
          </a:p>
        </p:txBody>
      </p:sp>
      <p:sp>
        <p:nvSpPr>
          <p:cNvPr id="9" name="slaves-0-1">
            <a:extLst xmlns:a="http://schemas.openxmlformats.org/drawingml/2006/main">
              <a:ext uri="{FF2B5EF4-FFF2-40B4-BE49-F238E27FC236}">
                <a16:creationId xmlns:a16="http://schemas.microsoft.com/office/drawing/2014/main" id="{C60C2A64-889E-4891-A394-8F932686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5250" y="2676525"/>
            <a:ext cx="2063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OTP, I-SRAM, D-SRAM</a:t>
            </a:r>
          </a:p>
        </p:txBody>
      </p:sp>
      <p:sp>
        <p:nvSpPr>
          <p:cNvPr id="10" name="slaves-0-2">
            <a:extLst xmlns:a="http://schemas.openxmlformats.org/drawingml/2006/main">
              <a:ext uri="{FF2B5EF4-FFF2-40B4-BE49-F238E27FC236}">
                <a16:creationId xmlns:a16="http://schemas.microsoft.com/office/drawing/2014/main" id="{01B09BAC-B80F-4B95-983D-A21859C6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2676525"/>
            <a:ext cx="2063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boot code and scratch memories</a:t>
            </a:r>
          </a:p>
        </p:txBody>
      </p:sp>
      <p:sp>
        <p:nvSpPr>
          <p:cNvPr id="11" name="slaves-1-0">
            <a:extLst xmlns:a="http://schemas.openxmlformats.org/drawingml/2006/main">
              <a:ext uri="{FF2B5EF4-FFF2-40B4-BE49-F238E27FC236}">
                <a16:creationId xmlns:a16="http://schemas.microsoft.com/office/drawing/2014/main" id="{F3254F22-E6C7-45BF-8EC8-7F142A30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00425"/>
            <a:ext cx="2063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DMA</a:t>
            </a:r>
          </a:p>
        </p:txBody>
      </p:sp>
      <p:sp>
        <p:nvSpPr>
          <p:cNvPr id="12" name="slaves-1-1">
            <a:extLst xmlns:a="http://schemas.openxmlformats.org/drawingml/2006/main">
              <a:ext uri="{FF2B5EF4-FFF2-40B4-BE49-F238E27FC236}">
                <a16:creationId xmlns:a16="http://schemas.microsoft.com/office/drawing/2014/main" id="{45AEC83A-C916-4D53-8358-C1C3562C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5250" y="3400425"/>
            <a:ext cx="2063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DMA control window</a:t>
            </a:r>
          </a:p>
        </p:txBody>
      </p:sp>
      <p:sp>
        <p:nvSpPr>
          <p:cNvPr id="13" name="slaves-1-2">
            <a:extLst xmlns:a="http://schemas.openxmlformats.org/drawingml/2006/main">
              <a:ext uri="{FF2B5EF4-FFF2-40B4-BE49-F238E27FC236}">
                <a16:creationId xmlns:a16="http://schemas.microsoft.com/office/drawing/2014/main" id="{929FB811-6CAB-4039-9F41-80C7B42E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3400425"/>
            <a:ext cx="2063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software controls second AHB master</a:t>
            </a:r>
          </a:p>
        </p:txBody>
      </p:sp>
      <p:sp>
        <p:nvSpPr>
          <p:cNvPr id="14" name="slaves-2-0">
            <a:extLst xmlns:a="http://schemas.openxmlformats.org/drawingml/2006/main">
              <a:ext uri="{FF2B5EF4-FFF2-40B4-BE49-F238E27FC236}">
                <a16:creationId xmlns:a16="http://schemas.microsoft.com/office/drawing/2014/main" id="{ABAB3DA7-2A2C-4A4C-ABBB-12113986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24325"/>
            <a:ext cx="2063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System</a:t>
            </a:r>
          </a:p>
        </p:txBody>
      </p:sp>
      <p:sp>
        <p:nvSpPr>
          <p:cNvPr id="15" name="slaves-2-1">
            <a:extLst xmlns:a="http://schemas.openxmlformats.org/drawingml/2006/main">
              <a:ext uri="{FF2B5EF4-FFF2-40B4-BE49-F238E27FC236}">
                <a16:creationId xmlns:a16="http://schemas.microsoft.com/office/drawing/2014/main" id="{22DE1685-DA78-469F-AB1A-A271654C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5250" y="4124325"/>
            <a:ext cx="2063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WDG, TIMER, INTC</a:t>
            </a:r>
          </a:p>
        </p:txBody>
      </p:sp>
      <p:sp>
        <p:nvSpPr>
          <p:cNvPr id="16" name="slaves-2-2">
            <a:extLst xmlns:a="http://schemas.openxmlformats.org/drawingml/2006/main">
              <a:ext uri="{FF2B5EF4-FFF2-40B4-BE49-F238E27FC236}">
                <a16:creationId xmlns:a16="http://schemas.microsoft.com/office/drawing/2014/main" id="{9E6AC875-25F0-4E9B-8C17-9B0AA2D2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4124325"/>
            <a:ext cx="2063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reset request, MTIP, MEIP aggregation</a:t>
            </a:r>
          </a:p>
        </p:txBody>
      </p:sp>
      <p:sp>
        <p:nvSpPr>
          <p:cNvPr id="17" name="slaves-3-0">
            <a:extLst xmlns:a="http://schemas.openxmlformats.org/drawingml/2006/main">
              <a:ext uri="{FF2B5EF4-FFF2-40B4-BE49-F238E27FC236}">
                <a16:creationId xmlns:a16="http://schemas.microsoft.com/office/drawing/2014/main" id="{ED077514-CCC4-4CA2-866D-F719CDE7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48225"/>
            <a:ext cx="2063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Serial/IO</a:t>
            </a:r>
          </a:p>
        </p:txBody>
      </p:sp>
      <p:sp>
        <p:nvSpPr>
          <p:cNvPr id="18" name="slaves-3-1">
            <a:extLst xmlns:a="http://schemas.openxmlformats.org/drawingml/2006/main">
              <a:ext uri="{FF2B5EF4-FFF2-40B4-BE49-F238E27FC236}">
                <a16:creationId xmlns:a16="http://schemas.microsoft.com/office/drawing/2014/main" id="{64EBB1F8-6709-405E-950E-339594DF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5250" y="4848225"/>
            <a:ext cx="2063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UART, I2C, GPIO</a:t>
            </a:r>
          </a:p>
        </p:txBody>
      </p:sp>
      <p:sp>
        <p:nvSpPr>
          <p:cNvPr id="19" name="slaves-3-2">
            <a:extLst xmlns:a="http://schemas.openxmlformats.org/drawingml/2006/main">
              <a:ext uri="{FF2B5EF4-FFF2-40B4-BE49-F238E27FC236}">
                <a16:creationId xmlns:a16="http://schemas.microsoft.com/office/drawing/2014/main" id="{BCC89996-827F-47B9-A18D-64044A16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4848225"/>
            <a:ext cx="2063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external communication and pins</a:t>
            </a:r>
          </a:p>
        </p:txBody>
      </p:sp>
      <p:sp>
        <p:nvSpPr>
          <p:cNvPr id="20" name="boot">
            <a:extLst xmlns:a="http://schemas.openxmlformats.org/drawingml/2006/main">
              <a:ext uri="{FF2B5EF4-FFF2-40B4-BE49-F238E27FC236}">
                <a16:creationId xmlns:a16="http://schemas.microsoft.com/office/drawing/2014/main" id="{2C9A4B1B-4F8E-47C4-AB06-AA0264F3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9075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boot path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boot_pc=OTP_BASE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tile fetch -&gt; bridge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-&gt; fabric -&gt; OTP</a:t>
            </a:r>
          </a:p>
        </p:txBody>
      </p:sp>
      <p:sp>
        <p:nvSpPr>
          <p:cNvPr id="21" name="data">
            <a:extLst xmlns:a="http://schemas.openxmlformats.org/drawingml/2006/main">
              <a:ext uri="{FF2B5EF4-FFF2-40B4-BE49-F238E27FC236}">
                <a16:creationId xmlns:a16="http://schemas.microsoft.com/office/drawing/2014/main" id="{8EA342DF-C43E-451E-8BE7-7EF55A4F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81500"/>
            <a:ext cx="24765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A8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COMB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data path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loads/stores/DMA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decode to SRAM or peripherals</a:t>
            </a:r>
          </a:p>
        </p:txBody>
      </p:sp>
      <p:cxnSp>
        <p:nvCxnSpPr>
          <p:cNvPr id="45" name=""/>
          <p:cNvCxnSpPr>
            <a:stCxn xmlns:a="http://schemas.openxmlformats.org/drawingml/2006/main" id="20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9048750" y="3619500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23" name="footer-4">
            <a:extLst xmlns:a="http://schemas.openxmlformats.org/drawingml/2006/main">
              <a:ext uri="{FF2B5EF4-FFF2-40B4-BE49-F238E27FC236}">
                <a16:creationId xmlns:a16="http://schemas.microsoft.com/office/drawing/2014/main" id="{1D0C321D-5EB6-4014-B7AE-8A8C235C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A5A5A"/>
                </a:solidFill>
              </a:defRPr>
            </a:pPr>
            <a:r>
              <a:rPr sz="1200">
                <a:solidFill>
                  <a:srgbClr val="5A5A5A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66587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57DA70E5-C76A-4858-8A95-86A74A6F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5A5A"/>
                </a:solidFill>
              </a:defRPr>
            </a:pPr>
            <a:r>
              <a:rPr sz="1125" b="1">
                <a:solidFill>
                  <a:srgbClr val="5A5A5A"/>
                </a:solidFill>
              </a:rPr>
              <a:t>wasp1 / SoC Integration Top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6A848A-0B5D-4FB1-BE47-2C025611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Core I/D to AHB bridge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CCB28D7-C383-442A-8FA1-35228C9C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>bridge 把 tile 的 imem_if/dmem_if 合并为一个 core-side AHB master，D-cache idle 仲裁优先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2C2A76E4-7920-4002-B721-5CEE9AE4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bridge-text">
            <a:extLst xmlns:a="http://schemas.openxmlformats.org/drawingml/2006/main">
              <a:ext uri="{FF2B5EF4-FFF2-40B4-BE49-F238E27FC236}">
                <a16:creationId xmlns:a16="http://schemas.microsoft.com/office/drawing/2014/main" id="{E701E656-371A-4D71-AD57-15EDAA33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BR_IDLE 中 dmem valid 优先于 imem valid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BR_ADDR 驱动 AHB address phase，等待 hready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BR_RESP 采样 hrdata/hresp，进入 response hold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BR_RSP_HOLD 保持 cache response 直到 selected port ready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当前设计只允许 one outstanding single-beat transfer</a:t>
            </a:r>
          </a:p>
        </p:txBody>
      </p:sp>
      <p:sp>
        <p:nvSpPr>
          <p:cNvPr id="6" name="br-idle">
            <a:extLst xmlns:a="http://schemas.openxmlformats.org/drawingml/2006/main">
              <a:ext uri="{FF2B5EF4-FFF2-40B4-BE49-F238E27FC236}">
                <a16:creationId xmlns:a16="http://schemas.microsoft.com/office/drawing/2014/main" id="{43760D47-A285-408B-9A4C-79C00495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1571625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BR_IDLE</a:t>
            </a:r>
          </a:p>
        </p:txBody>
      </p:sp>
      <p:sp>
        <p:nvSpPr>
          <p:cNvPr id="7" name="br-addr">
            <a:extLst xmlns:a="http://schemas.openxmlformats.org/drawingml/2006/main">
              <a:ext uri="{FF2B5EF4-FFF2-40B4-BE49-F238E27FC236}">
                <a16:creationId xmlns:a16="http://schemas.microsoft.com/office/drawing/2014/main" id="{42558A8C-091D-4CA3-90F0-CF773285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00250"/>
            <a:ext cx="1571625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BR_ADDR</a:t>
            </a:r>
          </a:p>
        </p:txBody>
      </p:sp>
      <p:sp>
        <p:nvSpPr>
          <p:cNvPr id="8" name="br-resp">
            <a:extLst xmlns:a="http://schemas.openxmlformats.org/drawingml/2006/main">
              <a:ext uri="{FF2B5EF4-FFF2-40B4-BE49-F238E27FC236}">
                <a16:creationId xmlns:a16="http://schemas.microsoft.com/office/drawing/2014/main" id="{2F282A71-9567-4C6F-9B09-7F7AB6FD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0"/>
            <a:ext cx="1571625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BR_RESP</a:t>
            </a:r>
          </a:p>
        </p:txBody>
      </p:sp>
      <p:sp>
        <p:nvSpPr>
          <p:cNvPr id="9" name="br-hold">
            <a:extLst xmlns:a="http://schemas.openxmlformats.org/drawingml/2006/main">
              <a:ext uri="{FF2B5EF4-FFF2-40B4-BE49-F238E27FC236}">
                <a16:creationId xmlns:a16="http://schemas.microsoft.com/office/drawing/2014/main" id="{6946CD3E-B0A1-4665-BF25-BA64C873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10000"/>
            <a:ext cx="180975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BR_RSP_HOLD</a:t>
            </a:r>
          </a:p>
        </p:txBody>
      </p:sp>
      <p:cxnSp>
        <p:nvCxnSpPr>
          <p:cNvPr id="25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8143875" y="22860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26" name=""/>
          <p:cNvCxnSpPr>
            <a:stCxn xmlns:a="http://schemas.openxmlformats.org/drawingml/2006/main" id="7" idx="4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9596438" y="2571750"/>
            <a:ext cx="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27" name=""/>
          <p:cNvCxnSpPr>
            <a:stCxn xmlns:a="http://schemas.openxmlformats.org/drawingml/2006/main" id="8" idx="2"/>
            <a:endCxn xmlns:a="http://schemas.openxmlformats.org/drawingml/2006/main" id="9" idx="6"/>
          </p:cNvCxnSpPr>
          <p:nvPr/>
        </p:nvCxnSpPr>
        <p:spPr>
          <a:xfrm xmlns:a="http://schemas.openxmlformats.org/drawingml/2006/main" flipH="1">
            <a:off x="8382000" y="40957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28" name=""/>
          <p:cNvCxnSpPr>
            <a:stCxn xmlns:a="http://schemas.openxmlformats.org/drawingml/2006/main" id="9" idx="0"/>
            <a:endCxn xmlns:a="http://schemas.openxmlformats.org/drawingml/2006/main" id="6" idx="4"/>
          </p:cNvCxnSpPr>
          <p:nvPr/>
        </p:nvCxnSpPr>
        <p:spPr>
          <a:xfrm xmlns:a="http://schemas.openxmlformats.org/drawingml/2006/main" flipH="1" flipV="1">
            <a:off x="7358063" y="2571750"/>
            <a:ext cx="119063" cy="1238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14" name="tag-D-cache wins when both request">
            <a:extLst xmlns:a="http://schemas.openxmlformats.org/drawingml/2006/main">
              <a:ext uri="{FF2B5EF4-FFF2-40B4-BE49-F238E27FC236}">
                <a16:creationId xmlns:a16="http://schemas.microsoft.com/office/drawing/2014/main" id="{12990A0D-303C-49A8-96CC-7C24661A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95875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D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D-cache wins when both request</a:t>
            </a:r>
          </a:p>
        </p:txBody>
      </p:sp>
      <p:sp>
        <p:nvSpPr>
          <p:cNvPr id="15" name="footer-5">
            <a:extLst xmlns:a="http://schemas.openxmlformats.org/drawingml/2006/main">
              <a:ext uri="{FF2B5EF4-FFF2-40B4-BE49-F238E27FC236}">
                <a16:creationId xmlns:a16="http://schemas.microsoft.com/office/drawing/2014/main" id="{0E6BB4B7-D6DC-4C45-B4BB-CFA51FCD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A5A5A"/>
                </a:solidFill>
              </a:defRPr>
            </a:pPr>
            <a:r>
              <a:rPr sz="1200">
                <a:solidFill>
                  <a:srgbClr val="5A5A5A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640999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607B0D24-0F11-4EB1-AD08-8B46D974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5A5A"/>
                </a:solidFill>
              </a:defRPr>
            </a:pPr>
            <a:r>
              <a:rPr sz="1125" b="1">
                <a:solidFill>
                  <a:srgbClr val="5A5A5A"/>
                </a:solidFill>
              </a:rPr>
              <a:t>wasp1 / SoC Integration Top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5DBCF8-5E51-4171-86E5-235FE591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Reset 与 boot fetch flow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6D793212-8078-4348-A4FB-3B2E78E5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>reset 后 tile boot PC 指向 OTP_BASE；第一条取指路径验证 SoC memory path 是否贯通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3A2EF4FB-5970-41B2-A830-29E2AE17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rst">
            <a:extLst xmlns:a="http://schemas.openxmlformats.org/drawingml/2006/main">
              <a:ext uri="{FF2B5EF4-FFF2-40B4-BE49-F238E27FC236}">
                <a16:creationId xmlns:a16="http://schemas.microsoft.com/office/drawing/2014/main" id="{42E6C0FC-1105-4DE2-B8E2-8082E0F6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4FF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IF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hclk_i/hresetn_i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SoC reset domain</a:t>
            </a:r>
          </a:p>
        </p:txBody>
      </p:sp>
      <p:sp>
        <p:nvSpPr>
          <p:cNvPr id="6" name="boot-tile">
            <a:extLst xmlns:a="http://schemas.openxmlformats.org/drawingml/2006/main">
              <a:ext uri="{FF2B5EF4-FFF2-40B4-BE49-F238E27FC236}">
                <a16:creationId xmlns:a16="http://schemas.microsoft.com/office/drawing/2014/main" id="{2D559CCF-00F0-4446-9BD8-80FC8E52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333625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tile/frontend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boot_pc=OTP_BASE</a:t>
            </a:r>
          </a:p>
        </p:txBody>
      </p:sp>
      <p:sp>
        <p:nvSpPr>
          <p:cNvPr id="7" name="boot-bridge">
            <a:extLst xmlns:a="http://schemas.openxmlformats.org/drawingml/2006/main">
              <a:ext uri="{FF2B5EF4-FFF2-40B4-BE49-F238E27FC236}">
                <a16:creationId xmlns:a16="http://schemas.microsoft.com/office/drawing/2014/main" id="{78B94F5A-CBD8-4FFA-BB30-9136A08F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33625"/>
            <a:ext cx="1905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core AHB bridge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imem request</a:t>
            </a:r>
          </a:p>
        </p:txBody>
      </p:sp>
      <p:sp>
        <p:nvSpPr>
          <p:cNvPr id="8" name="boot-fab">
            <a:extLst xmlns:a="http://schemas.openxmlformats.org/drawingml/2006/main">
              <a:ext uri="{FF2B5EF4-FFF2-40B4-BE49-F238E27FC236}">
                <a16:creationId xmlns:a16="http://schemas.microsoft.com/office/drawing/2014/main" id="{D565A217-5D95-4F84-B848-5D919267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33625"/>
            <a:ext cx="1905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AHB fabric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M0 grant/decode</a:t>
            </a:r>
          </a:p>
        </p:txBody>
      </p:sp>
      <p:sp>
        <p:nvSpPr>
          <p:cNvPr id="9" name="boot-otp">
            <a:extLst xmlns:a="http://schemas.openxmlformats.org/drawingml/2006/main">
              <a:ext uri="{FF2B5EF4-FFF2-40B4-BE49-F238E27FC236}">
                <a16:creationId xmlns:a16="http://schemas.microsoft.com/office/drawing/2014/main" id="{AAD625A0-1B74-4B2F-9ACB-4BAC059A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33625"/>
            <a:ext cx="1428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executable OTP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AHB_SLAVE_OTP</a:t>
            </a:r>
          </a:p>
        </p:txBody>
      </p:sp>
      <p:cxnSp>
        <p:nvCxnSpPr>
          <p:cNvPr id="25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476500" y="2809875"/>
            <a:ext cx="619125" cy="47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2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095875" y="280987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2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620000" y="28098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2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048875" y="28098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14" name="boot-note">
            <a:extLst xmlns:a="http://schemas.openxmlformats.org/drawingml/2006/main">
              <a:ext uri="{FF2B5EF4-FFF2-40B4-BE49-F238E27FC236}">
                <a16:creationId xmlns:a16="http://schemas.microsoft.com/office/drawing/2014/main" id="{4AE3CDC7-96EE-4118-A439-D64FEAA6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33875"/>
            <a:ext cx="9810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A5A5A"/>
                </a:solidFill>
              </a:defRPr>
            </a:pPr>
            <a:r>
              <a:rPr sz="1500">
                <a:solidFill>
                  <a:srgbClr val="5A5A5A"/>
                </a:solidFill>
              </a:rPr>
              <a:t>当前顶层 smoke test 观察 core-side bridge/fabric path 是否出现 valid transfer；完整软件 boot、OTP 编程和 LLVM 输出执行仍是后续系统验证。</a:t>
            </a:r>
          </a:p>
        </p:txBody>
      </p:sp>
      <p:sp>
        <p:nvSpPr>
          <p:cNvPr id="15" name="footer-6">
            <a:extLst xmlns:a="http://schemas.openxmlformats.org/drawingml/2006/main">
              <a:ext uri="{FF2B5EF4-FFF2-40B4-BE49-F238E27FC236}">
                <a16:creationId xmlns:a16="http://schemas.microsoft.com/office/drawing/2014/main" id="{13A54649-4A59-492A-A314-F839EC9A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A5A5A"/>
                </a:solidFill>
              </a:defRPr>
            </a:pPr>
            <a:r>
              <a:rPr sz="1200">
                <a:solidFill>
                  <a:srgbClr val="5A5A5A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729838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8F35472F-6DD4-454C-8702-3F4390A4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5A5A"/>
                </a:solidFill>
              </a:defRPr>
            </a:pPr>
            <a:r>
              <a:rPr sz="1125" b="1">
                <a:solidFill>
                  <a:srgbClr val="5A5A5A"/>
                </a:solidFill>
              </a:rPr>
              <a:t>wasp1 / SoC Integration Top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16EED6-8A91-45EA-AFFB-78163D7B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Interrupt integration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CBA152C5-913D-4652-A5E1-3A43D226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>timer 直接作为 MTIP；外设 IRQ 通过 INTC 聚合为 MEIP，source 0 保留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35820BD4-24F4-4C66-ABF4-2584E259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irq-table-h-0">
            <a:extLst xmlns:a="http://schemas.openxmlformats.org/drawingml/2006/main">
              <a:ext uri="{FF2B5EF4-FFF2-40B4-BE49-F238E27FC236}">
                <a16:creationId xmlns:a16="http://schemas.microsoft.com/office/drawing/2014/main" id="{C57797FA-2515-491E-BD6F-6F1974D7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177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INTC source</a:t>
            </a:r>
          </a:p>
        </p:txBody>
      </p:sp>
      <p:sp>
        <p:nvSpPr>
          <p:cNvPr id="6" name="irq-table-h-1">
            <a:extLst xmlns:a="http://schemas.openxmlformats.org/drawingml/2006/main">
              <a:ext uri="{FF2B5EF4-FFF2-40B4-BE49-F238E27FC236}">
                <a16:creationId xmlns:a16="http://schemas.microsoft.com/office/drawing/2014/main" id="{7B5B53BA-6E80-42E0-9149-53A26082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500" y="1952625"/>
            <a:ext cx="177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Signal</a:t>
            </a:r>
          </a:p>
        </p:txBody>
      </p:sp>
      <p:sp>
        <p:nvSpPr>
          <p:cNvPr id="7" name="irq-table-h-2">
            <a:extLst xmlns:a="http://schemas.openxmlformats.org/drawingml/2006/main">
              <a:ext uri="{FF2B5EF4-FFF2-40B4-BE49-F238E27FC236}">
                <a16:creationId xmlns:a16="http://schemas.microsoft.com/office/drawing/2014/main" id="{3D724EF0-DC2B-4F36-8EE5-3E435D02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500" y="1952625"/>
            <a:ext cx="177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Origin</a:t>
            </a:r>
          </a:p>
        </p:txBody>
      </p:sp>
      <p:sp>
        <p:nvSpPr>
          <p:cNvPr id="8" name="irq-table-0-0">
            <a:extLst xmlns:a="http://schemas.openxmlformats.org/drawingml/2006/main">
              <a:ext uri="{FF2B5EF4-FFF2-40B4-BE49-F238E27FC236}">
                <a16:creationId xmlns:a16="http://schemas.microsoft.com/office/drawing/2014/main" id="{D3FB9365-1F06-4FAE-8506-AC019CEB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05075"/>
            <a:ext cx="177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9" name="irq-table-0-1">
            <a:extLst xmlns:a="http://schemas.openxmlformats.org/drawingml/2006/main">
              <a:ext uri="{FF2B5EF4-FFF2-40B4-BE49-F238E27FC236}">
                <a16:creationId xmlns:a16="http://schemas.microsoft.com/office/drawing/2014/main" id="{E053A3AC-1D5C-49B7-B4D2-08B446B1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500" y="2505075"/>
            <a:ext cx="177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wdg_irq</a:t>
            </a:r>
          </a:p>
        </p:txBody>
      </p:sp>
      <p:sp>
        <p:nvSpPr>
          <p:cNvPr id="10" name="irq-table-0-2">
            <a:extLst xmlns:a="http://schemas.openxmlformats.org/drawingml/2006/main">
              <a:ext uri="{FF2B5EF4-FFF2-40B4-BE49-F238E27FC236}">
                <a16:creationId xmlns:a16="http://schemas.microsoft.com/office/drawing/2014/main" id="{374B43D1-EECF-4114-9D83-BC915CF7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500" y="2505075"/>
            <a:ext cx="177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Watchdog timeout</a:t>
            </a:r>
          </a:p>
        </p:txBody>
      </p:sp>
      <p:sp>
        <p:nvSpPr>
          <p:cNvPr id="11" name="irq-table-1-0">
            <a:extLst xmlns:a="http://schemas.openxmlformats.org/drawingml/2006/main">
              <a:ext uri="{FF2B5EF4-FFF2-40B4-BE49-F238E27FC236}">
                <a16:creationId xmlns:a16="http://schemas.microsoft.com/office/drawing/2014/main" id="{89CEBD6F-20EA-4468-99A0-8E59DDA9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57525"/>
            <a:ext cx="177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12" name="irq-table-1-1">
            <a:extLst xmlns:a="http://schemas.openxmlformats.org/drawingml/2006/main">
              <a:ext uri="{FF2B5EF4-FFF2-40B4-BE49-F238E27FC236}">
                <a16:creationId xmlns:a16="http://schemas.microsoft.com/office/drawing/2014/main" id="{835D3700-AE97-4447-90F1-253EF27A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500" y="3057525"/>
            <a:ext cx="177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uart_irq</a:t>
            </a:r>
          </a:p>
        </p:txBody>
      </p:sp>
      <p:sp>
        <p:nvSpPr>
          <p:cNvPr id="13" name="irq-table-1-2">
            <a:extLst xmlns:a="http://schemas.openxmlformats.org/drawingml/2006/main">
              <a:ext uri="{FF2B5EF4-FFF2-40B4-BE49-F238E27FC236}">
                <a16:creationId xmlns:a16="http://schemas.microsoft.com/office/drawing/2014/main" id="{886D46FF-F7C0-435B-A0F9-6B16A5A8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500" y="3057525"/>
            <a:ext cx="177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UART RX/TX/events</a:t>
            </a:r>
          </a:p>
        </p:txBody>
      </p:sp>
      <p:sp>
        <p:nvSpPr>
          <p:cNvPr id="14" name="irq-table-2-0">
            <a:extLst xmlns:a="http://schemas.openxmlformats.org/drawingml/2006/main">
              <a:ext uri="{FF2B5EF4-FFF2-40B4-BE49-F238E27FC236}">
                <a16:creationId xmlns:a16="http://schemas.microsoft.com/office/drawing/2014/main" id="{CF00C8D2-7DF2-4904-8E3A-103488DA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9975"/>
            <a:ext cx="177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15" name="irq-table-2-1">
            <a:extLst xmlns:a="http://schemas.openxmlformats.org/drawingml/2006/main">
              <a:ext uri="{FF2B5EF4-FFF2-40B4-BE49-F238E27FC236}">
                <a16:creationId xmlns:a16="http://schemas.microsoft.com/office/drawing/2014/main" id="{AADC463A-D741-49AE-A6EC-A876C9EA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500" y="3609975"/>
            <a:ext cx="177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i2c_irq</a:t>
            </a:r>
          </a:p>
        </p:txBody>
      </p:sp>
      <p:sp>
        <p:nvSpPr>
          <p:cNvPr id="16" name="irq-table-2-2">
            <a:extLst xmlns:a="http://schemas.openxmlformats.org/drawingml/2006/main">
              <a:ext uri="{FF2B5EF4-FFF2-40B4-BE49-F238E27FC236}">
                <a16:creationId xmlns:a16="http://schemas.microsoft.com/office/drawing/2014/main" id="{DD4D95E8-6526-4B36-8839-8B379B98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500" y="3609975"/>
            <a:ext cx="177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I2C transaction done</a:t>
            </a:r>
          </a:p>
        </p:txBody>
      </p:sp>
      <p:sp>
        <p:nvSpPr>
          <p:cNvPr id="17" name="irq-table-3-0">
            <a:extLst xmlns:a="http://schemas.openxmlformats.org/drawingml/2006/main">
              <a:ext uri="{FF2B5EF4-FFF2-40B4-BE49-F238E27FC236}">
                <a16:creationId xmlns:a16="http://schemas.microsoft.com/office/drawing/2014/main" id="{E2784E59-1055-4FF2-9D5C-DE06C183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62425"/>
            <a:ext cx="177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4</a:t>
            </a:r>
          </a:p>
        </p:txBody>
      </p:sp>
      <p:sp>
        <p:nvSpPr>
          <p:cNvPr id="18" name="irq-table-3-1">
            <a:extLst xmlns:a="http://schemas.openxmlformats.org/drawingml/2006/main">
              <a:ext uri="{FF2B5EF4-FFF2-40B4-BE49-F238E27FC236}">
                <a16:creationId xmlns:a16="http://schemas.microsoft.com/office/drawing/2014/main" id="{91E7C75F-5533-427D-ADDF-BBF5AA43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500" y="4162425"/>
            <a:ext cx="177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gpio_irq</a:t>
            </a:r>
          </a:p>
        </p:txBody>
      </p:sp>
      <p:sp>
        <p:nvSpPr>
          <p:cNvPr id="19" name="irq-table-3-2">
            <a:extLst xmlns:a="http://schemas.openxmlformats.org/drawingml/2006/main">
              <a:ext uri="{FF2B5EF4-FFF2-40B4-BE49-F238E27FC236}">
                <a16:creationId xmlns:a16="http://schemas.microsoft.com/office/drawing/2014/main" id="{DDF994D7-F7E8-402E-AF8D-BCCDD50E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500" y="4162425"/>
            <a:ext cx="177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GPIO edge/level</a:t>
            </a:r>
          </a:p>
        </p:txBody>
      </p:sp>
      <p:sp>
        <p:nvSpPr>
          <p:cNvPr id="20" name="irq-table-4-0">
            <a:extLst xmlns:a="http://schemas.openxmlformats.org/drawingml/2006/main">
              <a:ext uri="{FF2B5EF4-FFF2-40B4-BE49-F238E27FC236}">
                <a16:creationId xmlns:a16="http://schemas.microsoft.com/office/drawing/2014/main" id="{CC535F5A-9B4C-4AAC-856C-CAEAA5A9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14875"/>
            <a:ext cx="177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5</a:t>
            </a:r>
          </a:p>
        </p:txBody>
      </p:sp>
      <p:sp>
        <p:nvSpPr>
          <p:cNvPr id="21" name="irq-table-4-1">
            <a:extLst xmlns:a="http://schemas.openxmlformats.org/drawingml/2006/main">
              <a:ext uri="{FF2B5EF4-FFF2-40B4-BE49-F238E27FC236}">
                <a16:creationId xmlns:a16="http://schemas.microsoft.com/office/drawing/2014/main" id="{12E38C8E-4391-4578-9E28-DFA8D90E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500" y="4714875"/>
            <a:ext cx="177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dma_irq</a:t>
            </a:r>
          </a:p>
        </p:txBody>
      </p:sp>
      <p:sp>
        <p:nvSpPr>
          <p:cNvPr id="22" name="irq-table-4-2">
            <a:extLst xmlns:a="http://schemas.openxmlformats.org/drawingml/2006/main">
              <a:ext uri="{FF2B5EF4-FFF2-40B4-BE49-F238E27FC236}">
                <a16:creationId xmlns:a16="http://schemas.microsoft.com/office/drawing/2014/main" id="{AC4782F3-F17D-47FB-AE9B-487ACC24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500" y="4714875"/>
            <a:ext cx="177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DMA done/error</a:t>
            </a:r>
          </a:p>
        </p:txBody>
      </p:sp>
      <p:sp>
        <p:nvSpPr>
          <p:cNvPr id="23" name="src">
            <a:extLst xmlns:a="http://schemas.openxmlformats.org/drawingml/2006/main">
              <a:ext uri="{FF2B5EF4-FFF2-40B4-BE49-F238E27FC236}">
                <a16:creationId xmlns:a16="http://schemas.microsoft.com/office/drawing/2014/main" id="{C4BB7529-2B32-4A14-A326-C3241BC1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38375"/>
            <a:ext cx="2286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A8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COMB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irq_src pack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{dma,gpio,i2c,uart,wdg,0}</a:t>
            </a:r>
          </a:p>
        </p:txBody>
      </p:sp>
      <p:sp>
        <p:nvSpPr>
          <p:cNvPr id="24" name="intc">
            <a:extLst xmlns:a="http://schemas.openxmlformats.org/drawingml/2006/main">
              <a:ext uri="{FF2B5EF4-FFF2-40B4-BE49-F238E27FC236}">
                <a16:creationId xmlns:a16="http://schemas.microsoft.com/office/drawing/2014/main" id="{093858FB-C344-4807-912E-316EAD19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38375"/>
            <a:ext cx="1905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ahb_intc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mask/pending/claim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meip_o</a:t>
            </a:r>
          </a:p>
        </p:txBody>
      </p:sp>
      <p:sp>
        <p:nvSpPr>
          <p:cNvPr id="25" name="irq-tile">
            <a:extLst xmlns:a="http://schemas.openxmlformats.org/drawingml/2006/main">
              <a:ext uri="{FF2B5EF4-FFF2-40B4-BE49-F238E27FC236}">
                <a16:creationId xmlns:a16="http://schemas.microsoft.com/office/drawing/2014/main" id="{57A4CEF3-4D03-49A3-90DC-5C006EE4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333875"/>
            <a:ext cx="190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tile/core CSR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external_irq_i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timer_irq_i</a:t>
            </a:r>
          </a:p>
        </p:txBody>
      </p:sp>
      <p:sp>
        <p:nvSpPr>
          <p:cNvPr id="26" name="timer">
            <a:extLst xmlns:a="http://schemas.openxmlformats.org/drawingml/2006/main">
              <a:ext uri="{FF2B5EF4-FFF2-40B4-BE49-F238E27FC236}">
                <a16:creationId xmlns:a16="http://schemas.microsoft.com/office/drawing/2014/main" id="{5DD6D5F7-F001-429B-90F7-61AA64C4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33875"/>
            <a:ext cx="1905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timer_irq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direct MTIP</a:t>
            </a:r>
          </a:p>
        </p:txBody>
      </p:sp>
      <p:cxnSp>
        <p:nvCxnSpPr>
          <p:cNvPr id="57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144000" y="2738438"/>
            <a:ext cx="476250" cy="95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58" name=""/>
          <p:cNvCxnSpPr>
            <a:stCxn xmlns:a="http://schemas.openxmlformats.org/drawingml/2006/main" id="2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10572750" y="3429000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59" name=""/>
          <p:cNvCxnSpPr>
            <a:stCxn xmlns:a="http://schemas.openxmlformats.org/drawingml/2006/main" id="26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8763000" y="4762500"/>
            <a:ext cx="857250" cy="95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30" name="footer-7">
            <a:extLst xmlns:a="http://schemas.openxmlformats.org/drawingml/2006/main">
              <a:ext uri="{FF2B5EF4-FFF2-40B4-BE49-F238E27FC236}">
                <a16:creationId xmlns:a16="http://schemas.microsoft.com/office/drawing/2014/main" id="{8454B1D8-B0C1-462B-99AB-768E74E1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A5A5A"/>
                </a:solidFill>
              </a:defRPr>
            </a:pPr>
            <a:r>
              <a:rPr sz="1200">
                <a:solidFill>
                  <a:srgbClr val="5A5A5A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669602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CE4E93CC-5C3F-4932-8293-C9B848D1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5A5A"/>
                </a:solidFill>
              </a:defRPr>
            </a:pPr>
            <a:r>
              <a:rPr sz="1125" b="1">
                <a:solidFill>
                  <a:srgbClr val="5A5A5A"/>
                </a:solidFill>
              </a:rPr>
              <a:t>wasp1 / SoC Integration Top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D6A7EE5-7265-42C6-A94E-32EB29A9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IO 与 debug boundary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440A879-649C-4354-9481-B6434465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>顶层暴露真实 IO pins，同时保留临时 discrete core debug channel 便于后续 DM/JTAG 接入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ED1ADE21-1C6F-4AAF-A114-E59E1A8C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io-text">
            <a:extLst xmlns:a="http://schemas.openxmlformats.org/drawingml/2006/main">
              <a:ext uri="{FF2B5EF4-FFF2-40B4-BE49-F238E27FC236}">
                <a16:creationId xmlns:a16="http://schemas.microsoft.com/office/drawing/2014/main" id="{6924451A-98A1-439C-8398-ED616C9E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53340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UART RX/TX、I2C open-drain SCL/SDA value/OE、GPIO in/out/OE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wdg_reset_req_o 暴露给后续 SoC reset tree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trap_valid/cause 和 bus_grant_idx 用于 bring-up observation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内部实例化 debug_if，映射到 discrete top ports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完整 DMI/DTM/OpenOCD/GDB 兼容路径仍是 debug/wasp1 后续集成项</a:t>
            </a:r>
          </a:p>
        </p:txBody>
      </p:sp>
      <p:sp>
        <p:nvSpPr>
          <p:cNvPr id="6" name="pins">
            <a:extLst xmlns:a="http://schemas.openxmlformats.org/drawingml/2006/main">
              <a:ext uri="{FF2B5EF4-FFF2-40B4-BE49-F238E27FC236}">
                <a16:creationId xmlns:a16="http://schemas.microsoft.com/office/drawing/2014/main" id="{672E25F5-FCFA-4BC1-B893-9D9C8DE1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95500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4FF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IF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external pins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UART/I2C/GPIO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WDG reset/trap/bus</a:t>
            </a:r>
          </a:p>
        </p:txBody>
      </p:sp>
      <p:sp>
        <p:nvSpPr>
          <p:cNvPr id="7" name="dbg">
            <a:extLst xmlns:a="http://schemas.openxmlformats.org/drawingml/2006/main">
              <a:ext uri="{FF2B5EF4-FFF2-40B4-BE49-F238E27FC236}">
                <a16:creationId xmlns:a16="http://schemas.microsoft.com/office/drawing/2014/main" id="{4E105C79-1967-4D97-A816-5270B27E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95500"/>
            <a:ext cx="1905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4FF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IF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temporary debug ports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halt/resume/step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GPR req/rsp</a:t>
            </a:r>
          </a:p>
        </p:txBody>
      </p:sp>
      <p:sp>
        <p:nvSpPr>
          <p:cNvPr id="8" name="core">
            <a:extLst xmlns:a="http://schemas.openxmlformats.org/drawingml/2006/main">
              <a:ext uri="{FF2B5EF4-FFF2-40B4-BE49-F238E27FC236}">
                <a16:creationId xmlns:a16="http://schemas.microsoft.com/office/drawing/2014/main" id="{4C747B79-CDA2-4D2C-B3D1-4A55E828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33875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core_debug interface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inside tile/core</a:t>
            </a:r>
          </a:p>
        </p:txBody>
      </p:sp>
      <p:cxnSp>
        <p:nvCxnSpPr>
          <p:cNvPr id="20" name=""/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7953375" y="3333750"/>
            <a:ext cx="1333500" cy="1000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21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9286875" y="3333750"/>
            <a:ext cx="1190625" cy="1000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11" name="footer-8">
            <a:extLst xmlns:a="http://schemas.openxmlformats.org/drawingml/2006/main">
              <a:ext uri="{FF2B5EF4-FFF2-40B4-BE49-F238E27FC236}">
                <a16:creationId xmlns:a16="http://schemas.microsoft.com/office/drawing/2014/main" id="{FDE009DC-EE76-414E-AFB5-A79F9035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A5A5A"/>
                </a:solidFill>
              </a:defRPr>
            </a:pPr>
            <a:r>
              <a:rPr sz="1200">
                <a:solidFill>
                  <a:srgbClr val="5A5A5A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404581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C4968DCC-5250-4CBD-8227-8C6BF3B8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5A5A"/>
                </a:solidFill>
              </a:defRPr>
            </a:pPr>
            <a:r>
              <a:rPr sz="1125" b="1">
                <a:solidFill>
                  <a:srgbClr val="5A5A5A"/>
                </a:solidFill>
              </a:rPr>
              <a:t>wasp1 / SoC Integration Top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5E5D13-A978-4DB6-A760-6E41981C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Target support 与模块责任边界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81BB9C0-C0A3-4268-A7DB-7FFF944A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>顶层不引入 target-specific 行为；target 宏由 child memory/wrapper/attribute 层消化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FEBC001D-9BC5-4643-AFA4-5C05A755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target-text">
            <a:extLst xmlns:a="http://schemas.openxmlformats.org/drawingml/2006/main">
              <a:ext uri="{FF2B5EF4-FFF2-40B4-BE49-F238E27FC236}">
                <a16:creationId xmlns:a16="http://schemas.microsoft.com/office/drawing/2014/main" id="{2D9C49A0-A86A-429B-9555-FD2E8119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5334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WASP1_TARGET_SIM_GENERIC：通用仿真路径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WASP1_TARGET_IC：IC synthesis macro path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WASP1_TARGET_FPGA_XILINX_VIRTEX7：Xilinx Virtex-7 macro path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顶层保持 programmer-visible behavior、AHB、IRQ、debug boundary 一致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memory wrappers 和目标属性由子模块负责</a:t>
            </a:r>
          </a:p>
        </p:txBody>
      </p:sp>
      <p:sp>
        <p:nvSpPr>
          <p:cNvPr id="6" name="tag-SIM_GENERIC lint PASS">
            <a:extLst xmlns:a="http://schemas.openxmlformats.org/drawingml/2006/main">
              <a:ext uri="{FF2B5EF4-FFF2-40B4-BE49-F238E27FC236}">
                <a16:creationId xmlns:a16="http://schemas.microsoft.com/office/drawing/2014/main" id="{C0F0AA3E-5BB7-481A-AA9C-BFA3E027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907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SIM_GENERIC lint PASS</a:t>
            </a:r>
          </a:p>
        </p:txBody>
      </p:sp>
      <p:sp>
        <p:nvSpPr>
          <p:cNvPr id="7" name="tag-IC lint PASS">
            <a:extLst xmlns:a="http://schemas.openxmlformats.org/drawingml/2006/main">
              <a:ext uri="{FF2B5EF4-FFF2-40B4-BE49-F238E27FC236}">
                <a16:creationId xmlns:a16="http://schemas.microsoft.com/office/drawing/2014/main" id="{B05D32A7-0C88-4993-9AE7-CBE9A7CC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527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IC lint PASS</a:t>
            </a:r>
          </a:p>
        </p:txBody>
      </p:sp>
      <p:sp>
        <p:nvSpPr>
          <p:cNvPr id="8" name="tag-Virtex-7 lint PASS">
            <a:extLst xmlns:a="http://schemas.openxmlformats.org/drawingml/2006/main">
              <a:ext uri="{FF2B5EF4-FFF2-40B4-BE49-F238E27FC236}">
                <a16:creationId xmlns:a16="http://schemas.microsoft.com/office/drawing/2014/main" id="{1EEF170E-A93E-4890-92BA-7B5E2FA4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147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Virtex-7 lint PASS</a:t>
            </a:r>
          </a:p>
        </p:txBody>
      </p:sp>
      <p:sp>
        <p:nvSpPr>
          <p:cNvPr id="9" name="contract">
            <a:extLst xmlns:a="http://schemas.openxmlformats.org/drawingml/2006/main">
              <a:ext uri="{FF2B5EF4-FFF2-40B4-BE49-F238E27FC236}">
                <a16:creationId xmlns:a16="http://schemas.microsoft.com/office/drawing/2014/main" id="{379E12B8-615E-418E-A45B-7BB5F40C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14625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A8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COMB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same software-visible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SoC contract</a:t>
            </a:r>
          </a:p>
        </p:txBody>
      </p:sp>
      <p:sp>
        <p:nvSpPr>
          <p:cNvPr id="10" name="footer-9">
            <a:extLst xmlns:a="http://schemas.openxmlformats.org/drawingml/2006/main">
              <a:ext uri="{FF2B5EF4-FFF2-40B4-BE49-F238E27FC236}">
                <a16:creationId xmlns:a16="http://schemas.microsoft.com/office/drawing/2014/main" id="{747453CD-F158-4862-8003-135D0EC5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A5A5A"/>
                </a:solidFill>
              </a:defRPr>
            </a:pPr>
            <a:r>
              <a:rPr sz="1200">
                <a:solidFill>
                  <a:srgbClr val="5A5A5A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0420582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56193796-4C96-4798-97D4-9AB55105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5A5A"/>
                </a:solidFill>
              </a:defRPr>
            </a:pPr>
            <a:r>
              <a:rPr sz="1125" b="1">
                <a:solidFill>
                  <a:srgbClr val="5A5A5A"/>
                </a:solidFill>
              </a:rPr>
              <a:t>wasp1 / SoC Integration Top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81DC3B-9EA6-4170-9925-B649AC07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顶层验证方法：为什么这样测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F6A4D8D-E362-47AA-998E-26E2A696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>顶层 smoke test 不重复 leaf coverage，而是证明集成 elaboration、reset 和第一条 fetch path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4ED18BA9-9F41-4B20-9FB7-3B02212F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why-h-0">
            <a:extLst xmlns:a="http://schemas.openxmlformats.org/drawingml/2006/main">
              <a:ext uri="{FF2B5EF4-FFF2-40B4-BE49-F238E27FC236}">
                <a16:creationId xmlns:a16="http://schemas.microsoft.com/office/drawing/2014/main" id="{EDC1E855-C01A-46A9-80CF-096ABA93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241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风险</a:t>
            </a:r>
          </a:p>
        </p:txBody>
      </p:sp>
      <p:sp>
        <p:nvSpPr>
          <p:cNvPr id="6" name="why-h-1">
            <a:extLst xmlns:a="http://schemas.openxmlformats.org/drawingml/2006/main">
              <a:ext uri="{FF2B5EF4-FFF2-40B4-BE49-F238E27FC236}">
                <a16:creationId xmlns:a16="http://schemas.microsoft.com/office/drawing/2014/main" id="{FAAAAD79-3EE2-4F1D-ACD5-9A81F2B0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250" y="1857375"/>
            <a:ext cx="241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验证方法</a:t>
            </a:r>
          </a:p>
        </p:txBody>
      </p:sp>
      <p:sp>
        <p:nvSpPr>
          <p:cNvPr id="7" name="why-h-2">
            <a:extLst xmlns:a="http://schemas.openxmlformats.org/drawingml/2006/main">
              <a:ext uri="{FF2B5EF4-FFF2-40B4-BE49-F238E27FC236}">
                <a16:creationId xmlns:a16="http://schemas.microsoft.com/office/drawing/2014/main" id="{015D8898-E5A6-4317-B20B-7C4BC1D4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250" y="1857375"/>
            <a:ext cx="241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根本逻辑</a:t>
            </a:r>
          </a:p>
        </p:txBody>
      </p:sp>
      <p:sp>
        <p:nvSpPr>
          <p:cNvPr id="8" name="why-0-0">
            <a:extLst xmlns:a="http://schemas.openxmlformats.org/drawingml/2006/main">
              <a:ext uri="{FF2B5EF4-FFF2-40B4-BE49-F238E27FC236}">
                <a16:creationId xmlns:a16="http://schemas.microsoft.com/office/drawing/2014/main" id="{B54FEE8B-6A24-4CB5-A238-510EE033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47925"/>
            <a:ext cx="241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full hierarchy integration</a:t>
            </a:r>
          </a:p>
        </p:txBody>
      </p:sp>
      <p:sp>
        <p:nvSpPr>
          <p:cNvPr id="9" name="why-0-1">
            <a:extLst xmlns:a="http://schemas.openxmlformats.org/drawingml/2006/main">
              <a:ext uri="{FF2B5EF4-FFF2-40B4-BE49-F238E27FC236}">
                <a16:creationId xmlns:a16="http://schemas.microsoft.com/office/drawing/2014/main" id="{BFB55693-96F5-472D-BA87-6552E3D3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250" y="2447925"/>
            <a:ext cx="241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generic/IC/Virtex-7 lint</a:t>
            </a:r>
          </a:p>
        </p:txBody>
      </p:sp>
      <p:sp>
        <p:nvSpPr>
          <p:cNvPr id="10" name="why-0-2">
            <a:extLst xmlns:a="http://schemas.openxmlformats.org/drawingml/2006/main">
              <a:ext uri="{FF2B5EF4-FFF2-40B4-BE49-F238E27FC236}">
                <a16:creationId xmlns:a16="http://schemas.microsoft.com/office/drawing/2014/main" id="{99DEF6ED-5242-46CA-804F-077AE8A8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250" y="2447925"/>
            <a:ext cx="241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证明 54 integrated modules 可展开且 target 宏一致</a:t>
            </a:r>
          </a:p>
        </p:txBody>
      </p:sp>
      <p:sp>
        <p:nvSpPr>
          <p:cNvPr id="11" name="why-1-0">
            <a:extLst xmlns:a="http://schemas.openxmlformats.org/drawingml/2006/main">
              <a:ext uri="{FF2B5EF4-FFF2-40B4-BE49-F238E27FC236}">
                <a16:creationId xmlns:a16="http://schemas.microsoft.com/office/drawing/2014/main" id="{3F083B9B-D403-4C74-8079-CFA66EBE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38475"/>
            <a:ext cx="241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reset IO safety</a:t>
            </a:r>
          </a:p>
        </p:txBody>
      </p:sp>
      <p:sp>
        <p:nvSpPr>
          <p:cNvPr id="12" name="why-1-1">
            <a:extLst xmlns:a="http://schemas.openxmlformats.org/drawingml/2006/main">
              <a:ext uri="{FF2B5EF4-FFF2-40B4-BE49-F238E27FC236}">
                <a16:creationId xmlns:a16="http://schemas.microsoft.com/office/drawing/2014/main" id="{2AE62423-C33B-4F6D-9610-0AB8D44F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250" y="3038475"/>
            <a:ext cx="241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4 cycles reset + output checks</a:t>
            </a:r>
          </a:p>
        </p:txBody>
      </p:sp>
      <p:sp>
        <p:nvSpPr>
          <p:cNvPr id="13" name="why-1-2">
            <a:extLst xmlns:a="http://schemas.openxmlformats.org/drawingml/2006/main">
              <a:ext uri="{FF2B5EF4-FFF2-40B4-BE49-F238E27FC236}">
                <a16:creationId xmlns:a16="http://schemas.microsoft.com/office/drawing/2014/main" id="{82BB8E44-56B6-45E0-A4DA-898038F9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250" y="3038475"/>
            <a:ext cx="241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顶层 IO 不能在 reset 后产生危险驱动</a:t>
            </a:r>
          </a:p>
        </p:txBody>
      </p:sp>
      <p:sp>
        <p:nvSpPr>
          <p:cNvPr id="14" name="why-2-0">
            <a:extLst xmlns:a="http://schemas.openxmlformats.org/drawingml/2006/main">
              <a:ext uri="{FF2B5EF4-FFF2-40B4-BE49-F238E27FC236}">
                <a16:creationId xmlns:a16="http://schemas.microsoft.com/office/drawing/2014/main" id="{499B7E32-F28F-4FD2-8412-DA23CD41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29025"/>
            <a:ext cx="241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first fetch path</a:t>
            </a:r>
          </a:p>
        </p:txBody>
      </p:sp>
      <p:sp>
        <p:nvSpPr>
          <p:cNvPr id="15" name="why-2-1">
            <a:extLst xmlns:a="http://schemas.openxmlformats.org/drawingml/2006/main">
              <a:ext uri="{FF2B5EF4-FFF2-40B4-BE49-F238E27FC236}">
                <a16:creationId xmlns:a16="http://schemas.microsoft.com/office/drawing/2014/main" id="{5A2ABC0D-ACBD-46E3-A05B-B13B1B06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250" y="3629025"/>
            <a:ext cx="241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wait core AHB valid transfer</a:t>
            </a:r>
          </a:p>
        </p:txBody>
      </p:sp>
      <p:sp>
        <p:nvSpPr>
          <p:cNvPr id="16" name="why-2-2">
            <a:extLst xmlns:a="http://schemas.openxmlformats.org/drawingml/2006/main">
              <a:ext uri="{FF2B5EF4-FFF2-40B4-BE49-F238E27FC236}">
                <a16:creationId xmlns:a16="http://schemas.microsoft.com/office/drawing/2014/main" id="{8FE6AB18-FBE2-4702-80C0-9BDA4E09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250" y="3629025"/>
            <a:ext cx="241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OTP boot path 必须穿过 tile/bridge/fabric</a:t>
            </a:r>
          </a:p>
        </p:txBody>
      </p:sp>
      <p:sp>
        <p:nvSpPr>
          <p:cNvPr id="17" name="why-3-0">
            <a:extLst xmlns:a="http://schemas.openxmlformats.org/drawingml/2006/main">
              <a:ext uri="{FF2B5EF4-FFF2-40B4-BE49-F238E27FC236}">
                <a16:creationId xmlns:a16="http://schemas.microsoft.com/office/drawing/2014/main" id="{BB9FCC3B-1429-4C11-A911-4746AB86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19575"/>
            <a:ext cx="241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debug status wiring</a:t>
            </a:r>
          </a:p>
        </p:txBody>
      </p:sp>
      <p:sp>
        <p:nvSpPr>
          <p:cNvPr id="18" name="why-3-1">
            <a:extLst xmlns:a="http://schemas.openxmlformats.org/drawingml/2006/main">
              <a:ext uri="{FF2B5EF4-FFF2-40B4-BE49-F238E27FC236}">
                <a16:creationId xmlns:a16="http://schemas.microsoft.com/office/drawing/2014/main" id="{C5467E2C-EC32-46A8-BB7B-211537FB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250" y="4219575"/>
            <a:ext cx="241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wait running or halted</a:t>
            </a:r>
          </a:p>
        </p:txBody>
      </p:sp>
      <p:sp>
        <p:nvSpPr>
          <p:cNvPr id="19" name="why-3-2">
            <a:extLst xmlns:a="http://schemas.openxmlformats.org/drawingml/2006/main">
              <a:ext uri="{FF2B5EF4-FFF2-40B4-BE49-F238E27FC236}">
                <a16:creationId xmlns:a16="http://schemas.microsoft.com/office/drawing/2014/main" id="{175A8BB1-FC3D-4DBD-BEA2-CB59888C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250" y="4219575"/>
            <a:ext cx="241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debug_if discrete ports 已被驱动而非悬空</a:t>
            </a:r>
          </a:p>
        </p:txBody>
      </p:sp>
      <p:sp>
        <p:nvSpPr>
          <p:cNvPr id="20" name="why-4-0">
            <a:extLst xmlns:a="http://schemas.openxmlformats.org/drawingml/2006/main">
              <a:ext uri="{FF2B5EF4-FFF2-40B4-BE49-F238E27FC236}">
                <a16:creationId xmlns:a16="http://schemas.microsoft.com/office/drawing/2014/main" id="{509C3D49-AF22-493D-BC42-6AAF5ECB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10125"/>
            <a:ext cx="241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idle peripheral stability</a:t>
            </a:r>
          </a:p>
        </p:txBody>
      </p:sp>
      <p:sp>
        <p:nvSpPr>
          <p:cNvPr id="21" name="why-4-1">
            <a:extLst xmlns:a="http://schemas.openxmlformats.org/drawingml/2006/main">
              <a:ext uri="{FF2B5EF4-FFF2-40B4-BE49-F238E27FC236}">
                <a16:creationId xmlns:a16="http://schemas.microsoft.com/office/drawing/2014/main" id="{104734C6-688E-4EF9-A8EF-D08EE663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250" y="4810125"/>
            <a:ext cx="241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extra cycles check WDG/I2C benign</a:t>
            </a:r>
          </a:p>
        </p:txBody>
      </p:sp>
      <p:sp>
        <p:nvSpPr>
          <p:cNvPr id="22" name="why-4-2">
            <a:extLst xmlns:a="http://schemas.openxmlformats.org/drawingml/2006/main">
              <a:ext uri="{FF2B5EF4-FFF2-40B4-BE49-F238E27FC236}">
                <a16:creationId xmlns:a16="http://schemas.microsoft.com/office/drawing/2014/main" id="{1DB5459A-12C1-437A-8FD5-88C4C49B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250" y="4810125"/>
            <a:ext cx="241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未编程外设不能产生 reset 或 open-drain drive</a:t>
            </a:r>
          </a:p>
        </p:txBody>
      </p:sp>
      <p:sp>
        <p:nvSpPr>
          <p:cNvPr id="23" name="tb">
            <a:extLst xmlns:a="http://schemas.openxmlformats.org/drawingml/2006/main">
              <a:ext uri="{FF2B5EF4-FFF2-40B4-BE49-F238E27FC236}">
                <a16:creationId xmlns:a16="http://schemas.microsoft.com/office/drawing/2014/main" id="{7D9CA8B4-70BD-44AA-8A23-79503E1F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38375"/>
            <a:ext cx="2095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4FF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IF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tb_wasp1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reset/observe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no firmware yet</a:t>
            </a:r>
          </a:p>
        </p:txBody>
      </p:sp>
      <p:sp>
        <p:nvSpPr>
          <p:cNvPr id="24" name="cov">
            <a:extLst xmlns:a="http://schemas.openxmlformats.org/drawingml/2006/main">
              <a:ext uri="{FF2B5EF4-FFF2-40B4-BE49-F238E27FC236}">
                <a16:creationId xmlns:a16="http://schemas.microsoft.com/office/drawing/2014/main" id="{4D02B830-81EF-42FA-9146-0C3D0EC9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48125"/>
            <a:ext cx="2095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A8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COMB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integration smoke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pass counter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status snapshot</a:t>
            </a:r>
          </a:p>
        </p:txBody>
      </p:sp>
      <p:cxnSp>
        <p:nvCxnSpPr>
          <p:cNvPr id="51" name=""/>
          <p:cNvCxnSpPr>
            <a:stCxn xmlns:a="http://schemas.openxmlformats.org/drawingml/2006/main" id="23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9429750" y="3238500"/>
            <a:ext cx="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26" name="footer-10">
            <a:extLst xmlns:a="http://schemas.openxmlformats.org/drawingml/2006/main">
              <a:ext uri="{FF2B5EF4-FFF2-40B4-BE49-F238E27FC236}">
                <a16:creationId xmlns:a16="http://schemas.microsoft.com/office/drawing/2014/main" id="{C26D73EA-41FB-4CF8-990A-1BEB2696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A5A5A"/>
                </a:solidFill>
              </a:defRPr>
            </a:pPr>
            <a:r>
              <a:rPr sz="1200">
                <a:solidFill>
                  <a:srgbClr val="5A5A5A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688311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7BD7D8DA-C93A-4457-91E8-810A4C00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5A5A"/>
                </a:solidFill>
              </a:defRPr>
            </a:pPr>
            <a:r>
              <a:rPr sz="1125" b="1">
                <a:solidFill>
                  <a:srgbClr val="5A5A5A"/>
                </a:solidFill>
              </a:rPr>
              <a:t>wasp1 / SoC Integration Top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38A68B0-F435-4C3A-91B9-1DE30411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验证结果快照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681930DC-1F71-4327-A4DC-0955387D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>当前报告是 integration smoke test；完整系统软件验证仍在后续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B9C13825-7E1A-49AE-8576-59BA388A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res-h-0">
            <a:extLst xmlns:a="http://schemas.openxmlformats.org/drawingml/2006/main">
              <a:ext uri="{FF2B5EF4-FFF2-40B4-BE49-F238E27FC236}">
                <a16:creationId xmlns:a16="http://schemas.microsoft.com/office/drawing/2014/main" id="{0287F71F-4279-477B-92EC-A8F6CC83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222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Check</a:t>
            </a:r>
          </a:p>
        </p:txBody>
      </p:sp>
      <p:sp>
        <p:nvSpPr>
          <p:cNvPr id="6" name="res-h-1">
            <a:extLst xmlns:a="http://schemas.openxmlformats.org/drawingml/2006/main">
              <a:ext uri="{FF2B5EF4-FFF2-40B4-BE49-F238E27FC236}">
                <a16:creationId xmlns:a16="http://schemas.microsoft.com/office/drawing/2014/main" id="{D6598B8B-5A71-4CD8-8876-75C7C9C2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000" y="1952625"/>
            <a:ext cx="222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Result</a:t>
            </a:r>
          </a:p>
        </p:txBody>
      </p:sp>
      <p:sp>
        <p:nvSpPr>
          <p:cNvPr id="7" name="res-h-2">
            <a:extLst xmlns:a="http://schemas.openxmlformats.org/drawingml/2006/main">
              <a:ext uri="{FF2B5EF4-FFF2-40B4-BE49-F238E27FC236}">
                <a16:creationId xmlns:a16="http://schemas.microsoft.com/office/drawing/2014/main" id="{B6AF9F46-E6E9-4685-84B2-C251A093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1952625"/>
            <a:ext cx="222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8" name="res-0-0">
            <a:extLst xmlns:a="http://schemas.openxmlformats.org/drawingml/2006/main">
              <a:ext uri="{FF2B5EF4-FFF2-40B4-BE49-F238E27FC236}">
                <a16:creationId xmlns:a16="http://schemas.microsoft.com/office/drawing/2014/main" id="{95BD9775-95D7-4842-A3FC-0B35CF5F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43175"/>
            <a:ext cx="222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Generic lint</a:t>
            </a:r>
          </a:p>
        </p:txBody>
      </p:sp>
      <p:sp>
        <p:nvSpPr>
          <p:cNvPr id="9" name="res-0-1">
            <a:extLst xmlns:a="http://schemas.openxmlformats.org/drawingml/2006/main">
              <a:ext uri="{FF2B5EF4-FFF2-40B4-BE49-F238E27FC236}">
                <a16:creationId xmlns:a16="http://schemas.microsoft.com/office/drawing/2014/main" id="{A3A4D70A-1FB0-4FE9-9237-9D3BC2E1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000" y="2543175"/>
            <a:ext cx="222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PASS</a:t>
            </a:r>
          </a:p>
        </p:txBody>
      </p:sp>
      <p:sp>
        <p:nvSpPr>
          <p:cNvPr id="10" name="res-0-2">
            <a:extLst xmlns:a="http://schemas.openxmlformats.org/drawingml/2006/main">
              <a:ext uri="{FF2B5EF4-FFF2-40B4-BE49-F238E27FC236}">
                <a16:creationId xmlns:a16="http://schemas.microsoft.com/office/drawing/2014/main" id="{F58AD289-B103-4E83-8AC5-AC0E760A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2543175"/>
            <a:ext cx="222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make -C wasp1 lint</a:t>
            </a:r>
          </a:p>
        </p:txBody>
      </p:sp>
      <p:sp>
        <p:nvSpPr>
          <p:cNvPr id="11" name="res-1-0">
            <a:extLst xmlns:a="http://schemas.openxmlformats.org/drawingml/2006/main">
              <a:ext uri="{FF2B5EF4-FFF2-40B4-BE49-F238E27FC236}">
                <a16:creationId xmlns:a16="http://schemas.microsoft.com/office/drawing/2014/main" id="{B26773CE-BA4D-4759-8059-7F5DF289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33725"/>
            <a:ext cx="222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IC-target lint</a:t>
            </a:r>
          </a:p>
        </p:txBody>
      </p:sp>
      <p:sp>
        <p:nvSpPr>
          <p:cNvPr id="12" name="res-1-1">
            <a:extLst xmlns:a="http://schemas.openxmlformats.org/drawingml/2006/main">
              <a:ext uri="{FF2B5EF4-FFF2-40B4-BE49-F238E27FC236}">
                <a16:creationId xmlns:a16="http://schemas.microsoft.com/office/drawing/2014/main" id="{F076F55A-5517-4B91-82C2-135E6B47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000" y="3133725"/>
            <a:ext cx="222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PASS</a:t>
            </a:r>
          </a:p>
        </p:txBody>
      </p:sp>
      <p:sp>
        <p:nvSpPr>
          <p:cNvPr id="13" name="res-1-2">
            <a:extLst xmlns:a="http://schemas.openxmlformats.org/drawingml/2006/main">
              <a:ext uri="{FF2B5EF4-FFF2-40B4-BE49-F238E27FC236}">
                <a16:creationId xmlns:a16="http://schemas.microsoft.com/office/drawing/2014/main" id="{D21BEE76-C3A8-493C-A133-3A95753B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3133725"/>
            <a:ext cx="222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make -C wasp1 lint-ic</a:t>
            </a:r>
          </a:p>
        </p:txBody>
      </p:sp>
      <p:sp>
        <p:nvSpPr>
          <p:cNvPr id="14" name="res-2-0">
            <a:extLst xmlns:a="http://schemas.openxmlformats.org/drawingml/2006/main">
              <a:ext uri="{FF2B5EF4-FFF2-40B4-BE49-F238E27FC236}">
                <a16:creationId xmlns:a16="http://schemas.microsoft.com/office/drawing/2014/main" id="{3FA78DDA-16E2-41C3-9F45-5B043D6D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24275"/>
            <a:ext cx="222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Virtex-7 lint</a:t>
            </a:r>
          </a:p>
        </p:txBody>
      </p:sp>
      <p:sp>
        <p:nvSpPr>
          <p:cNvPr id="15" name="res-2-1">
            <a:extLst xmlns:a="http://schemas.openxmlformats.org/drawingml/2006/main">
              <a:ext uri="{FF2B5EF4-FFF2-40B4-BE49-F238E27FC236}">
                <a16:creationId xmlns:a16="http://schemas.microsoft.com/office/drawing/2014/main" id="{7507F6AB-1745-44F6-8610-22AE93A3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000" y="3724275"/>
            <a:ext cx="222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PASS</a:t>
            </a:r>
          </a:p>
        </p:txBody>
      </p:sp>
      <p:sp>
        <p:nvSpPr>
          <p:cNvPr id="16" name="res-2-2">
            <a:extLst xmlns:a="http://schemas.openxmlformats.org/drawingml/2006/main">
              <a:ext uri="{FF2B5EF4-FFF2-40B4-BE49-F238E27FC236}">
                <a16:creationId xmlns:a16="http://schemas.microsoft.com/office/drawing/2014/main" id="{4CE4DAF4-6213-4781-80D1-38C999FC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3724275"/>
            <a:ext cx="222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make -C wasp1 lint-fpga-v7</a:t>
            </a:r>
          </a:p>
        </p:txBody>
      </p:sp>
      <p:sp>
        <p:nvSpPr>
          <p:cNvPr id="17" name="res-3-0">
            <a:extLst xmlns:a="http://schemas.openxmlformats.org/drawingml/2006/main">
              <a:ext uri="{FF2B5EF4-FFF2-40B4-BE49-F238E27FC236}">
                <a16:creationId xmlns:a16="http://schemas.microsoft.com/office/drawing/2014/main" id="{9258B00B-61B6-47EA-8304-D007A0FA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14825"/>
            <a:ext cx="222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tb_wasp1 simulation</a:t>
            </a:r>
          </a:p>
        </p:txBody>
      </p:sp>
      <p:sp>
        <p:nvSpPr>
          <p:cNvPr id="18" name="res-3-1">
            <a:extLst xmlns:a="http://schemas.openxmlformats.org/drawingml/2006/main">
              <a:ext uri="{FF2B5EF4-FFF2-40B4-BE49-F238E27FC236}">
                <a16:creationId xmlns:a16="http://schemas.microsoft.com/office/drawing/2014/main" id="{17ED7950-A683-403C-896D-8E9E58E9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000" y="4314825"/>
            <a:ext cx="222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PASS</a:t>
            </a:r>
          </a:p>
        </p:txBody>
      </p:sp>
      <p:sp>
        <p:nvSpPr>
          <p:cNvPr id="19" name="res-3-2">
            <a:extLst xmlns:a="http://schemas.openxmlformats.org/drawingml/2006/main">
              <a:ext uri="{FF2B5EF4-FFF2-40B4-BE49-F238E27FC236}">
                <a16:creationId xmlns:a16="http://schemas.microsoft.com/office/drawing/2014/main" id="{35BDDE68-7D20-4708-B22C-18D1BA2C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4314825"/>
            <a:ext cx="222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pass_count=5</a:t>
            </a:r>
          </a:p>
        </p:txBody>
      </p:sp>
      <p:sp>
        <p:nvSpPr>
          <p:cNvPr id="20" name="res-4-0">
            <a:extLst xmlns:a="http://schemas.openxmlformats.org/drawingml/2006/main">
              <a:ext uri="{FF2B5EF4-FFF2-40B4-BE49-F238E27FC236}">
                <a16:creationId xmlns:a16="http://schemas.microsoft.com/office/drawing/2014/main" id="{272FA7F0-4631-4C1E-AC3D-54C35AFA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05375"/>
            <a:ext cx="222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Observed debug</a:t>
            </a:r>
          </a:p>
        </p:txBody>
      </p:sp>
      <p:sp>
        <p:nvSpPr>
          <p:cNvPr id="21" name="res-4-1">
            <a:extLst xmlns:a="http://schemas.openxmlformats.org/drawingml/2006/main">
              <a:ext uri="{FF2B5EF4-FFF2-40B4-BE49-F238E27FC236}">
                <a16:creationId xmlns:a16="http://schemas.microsoft.com/office/drawing/2014/main" id="{AD740C40-A34C-4B1C-9496-E091D747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000" y="4905375"/>
            <a:ext cx="222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driven</a:t>
            </a:r>
          </a:p>
        </p:txBody>
      </p:sp>
      <p:sp>
        <p:nvSpPr>
          <p:cNvPr id="22" name="res-4-2">
            <a:extLst xmlns:a="http://schemas.openxmlformats.org/drawingml/2006/main">
              <a:ext uri="{FF2B5EF4-FFF2-40B4-BE49-F238E27FC236}">
                <a16:creationId xmlns:a16="http://schemas.microsoft.com/office/drawing/2014/main" id="{9F3E1C10-9428-4BA9-B5A6-401D5EDD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4905375"/>
            <a:ext cx="222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dbg_running=1 dbg_halted=0</a:t>
            </a:r>
          </a:p>
        </p:txBody>
      </p:sp>
      <p:sp>
        <p:nvSpPr>
          <p:cNvPr id="23" name="tag-trap_valid=0">
            <a:extLst xmlns:a="http://schemas.openxmlformats.org/drawingml/2006/main">
              <a:ext uri="{FF2B5EF4-FFF2-40B4-BE49-F238E27FC236}">
                <a16:creationId xmlns:a16="http://schemas.microsoft.com/office/drawing/2014/main" id="{7D8B0259-3A69-4A49-A1D5-63AA66DA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43125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trap_valid=0</a:t>
            </a:r>
          </a:p>
        </p:txBody>
      </p:sp>
      <p:sp>
        <p:nvSpPr>
          <p:cNvPr id="24" name="tag-trap_cause=0x02">
            <a:extLst xmlns:a="http://schemas.openxmlformats.org/drawingml/2006/main">
              <a:ext uri="{FF2B5EF4-FFF2-40B4-BE49-F238E27FC236}">
                <a16:creationId xmlns:a16="http://schemas.microsoft.com/office/drawing/2014/main" id="{EA95A604-DA66-4D40-BD79-5729D859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09875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trap_cause=0x02</a:t>
            </a:r>
          </a:p>
        </p:txBody>
      </p:sp>
      <p:sp>
        <p:nvSpPr>
          <p:cNvPr id="25" name="tag-bus_grant_idx=0">
            <a:extLst xmlns:a="http://schemas.openxmlformats.org/drawingml/2006/main">
              <a:ext uri="{FF2B5EF4-FFF2-40B4-BE49-F238E27FC236}">
                <a16:creationId xmlns:a16="http://schemas.microsoft.com/office/drawing/2014/main" id="{1E6A5E2A-CE2F-4D4B-90D6-E4C801B4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76625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bus_grant_idx=0</a:t>
            </a:r>
          </a:p>
        </p:txBody>
      </p:sp>
      <p:sp>
        <p:nvSpPr>
          <p:cNvPr id="26" name="tag-WDG/I2C idle benign">
            <a:extLst xmlns:a="http://schemas.openxmlformats.org/drawingml/2006/main">
              <a:ext uri="{FF2B5EF4-FFF2-40B4-BE49-F238E27FC236}">
                <a16:creationId xmlns:a16="http://schemas.microsoft.com/office/drawing/2014/main" id="{5F458E4B-911B-44C2-902D-01CA9C05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43375"/>
            <a:ext cx="2333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D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WDG/I2C idle benign</a:t>
            </a:r>
          </a:p>
        </p:txBody>
      </p:sp>
      <p:sp>
        <p:nvSpPr>
          <p:cNvPr id="27" name="res-note">
            <a:extLst xmlns:a="http://schemas.openxmlformats.org/drawingml/2006/main">
              <a:ext uri="{FF2B5EF4-FFF2-40B4-BE49-F238E27FC236}">
                <a16:creationId xmlns:a16="http://schemas.microsoft.com/office/drawing/2014/main" id="{2E088DA1-2341-4125-A8D0-2FE189B8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>Simulation window: reset to 276ns. The test confirms benign reset defaults, first core-side AHB activity, and driven debug status; it does not claim full boot/software coverage.</a:t>
            </a:r>
          </a:p>
        </p:txBody>
      </p:sp>
      <p:sp>
        <p:nvSpPr>
          <p:cNvPr id="28" name="footer-11">
            <a:extLst xmlns:a="http://schemas.openxmlformats.org/drawingml/2006/main">
              <a:ext uri="{FF2B5EF4-FFF2-40B4-BE49-F238E27FC236}">
                <a16:creationId xmlns:a16="http://schemas.microsoft.com/office/drawing/2014/main" id="{BCDAF6F8-ABA2-46A5-A21C-7C3037AB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A5A5A"/>
                </a:solidFill>
              </a:defRPr>
            </a:pPr>
            <a:r>
              <a:rPr sz="1200">
                <a:solidFill>
                  <a:srgbClr val="5A5A5A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482070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7B0F066B-7728-4686-82B1-00FF23D8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A5A5A"/>
                </a:solidFill>
              </a:defRPr>
            </a:pPr>
            <a:r>
              <a:rPr sz="1125" b="1">
                <a:solidFill>
                  <a:srgbClr val="5A5A5A"/>
                </a:solidFill>
              </a:rPr>
              <a:t>wasp1 / SoC Integration Top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302A342-3396-4198-9049-5EE8D348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后续集成关注点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D2874277-E52C-46BB-A064-B487A4E2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>顶层结构已经可 elaboration/smoke，但完整 wasp1 产品化还需要系统软件和 debug/JTAG 闭环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E35EB5B6-25E2-4E38-82F3-315DB023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now">
            <a:extLst xmlns:a="http://schemas.openxmlformats.org/drawingml/2006/main">
              <a:ext uri="{FF2B5EF4-FFF2-40B4-BE49-F238E27FC236}">
                <a16:creationId xmlns:a16="http://schemas.microsoft.com/office/drawing/2014/main" id="{054C5C8A-BC21-4809-A020-F52DB623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286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2D0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SEQ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current top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structural SoC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OTP fetch smoke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IO/debug boundary</a:t>
            </a:r>
          </a:p>
        </p:txBody>
      </p:sp>
      <p:sp>
        <p:nvSpPr>
          <p:cNvPr id="6" name="next">
            <a:extLst xmlns:a="http://schemas.openxmlformats.org/drawingml/2006/main">
              <a:ext uri="{FF2B5EF4-FFF2-40B4-BE49-F238E27FC236}">
                <a16:creationId xmlns:a16="http://schemas.microsoft.com/office/drawing/2014/main" id="{AB387B76-D0DA-4293-8232-E4019647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38375"/>
            <a:ext cx="2381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A8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COMB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integration work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Debug Module/JTAG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OTP programming flow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DMA real memory copy</a:t>
            </a:r>
          </a:p>
        </p:txBody>
      </p:sp>
      <p:sp>
        <p:nvSpPr>
          <p:cNvPr id="7" name="sys">
            <a:extLst xmlns:a="http://schemas.openxmlformats.org/drawingml/2006/main">
              <a:ext uri="{FF2B5EF4-FFF2-40B4-BE49-F238E27FC236}">
                <a16:creationId xmlns:a16="http://schemas.microsoft.com/office/drawing/2014/main" id="{F646FA38-173B-4DFF-B666-446D5381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38375"/>
            <a:ext cx="2286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4FF"/>
          </a:solidFill>
          <a:ln xmlns:a="http://schemas.openxmlformats.org/drawingml/2006/main" w="11430">
            <a:solidFill>
              <a:srgbClr val="2A2A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IF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system validation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OpenOCD/GDB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firmware boot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interrupt-driven tests</a:t>
            </a:r>
          </a:p>
        </p:txBody>
      </p:sp>
      <p:cxnSp>
        <p:nvCxnSpPr>
          <p:cNvPr id="1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143250" y="300037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334250" y="300037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10" name="residual">
            <a:extLst xmlns:a="http://schemas.openxmlformats.org/drawingml/2006/main">
              <a:ext uri="{FF2B5EF4-FFF2-40B4-BE49-F238E27FC236}">
                <a16:creationId xmlns:a16="http://schemas.microsoft.com/office/drawing/2014/main" id="{A60661A7-575C-4A5B-A6F9-5C17CF3B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把 debug leaf/DM/JTAG DTM 接入 wasp1 顶层，实现 OpenOCD/GDB end-to-end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建立 OTP 用户程序装载、LLVM/BSP 输出、真实 boot regression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补 DMA through-memory copy、interrupt-driven firmware、timer/INTC 外设联动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- 后续增加结构 coverage、长时间 SoC random/soak 和 FPGA bring-up checklist</a:t>
            </a:r>
          </a:p>
        </p:txBody>
      </p:sp>
      <p:sp>
        <p:nvSpPr>
          <p:cNvPr id="11" name="footer-12">
            <a:extLst xmlns:a="http://schemas.openxmlformats.org/drawingml/2006/main">
              <a:ext uri="{FF2B5EF4-FFF2-40B4-BE49-F238E27FC236}">
                <a16:creationId xmlns:a16="http://schemas.microsoft.com/office/drawing/2014/main" id="{F03EA4AA-3D75-4154-8A15-B7AF5F20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A5A5A"/>
                </a:solidFill>
              </a:defRPr>
            </a:pPr>
            <a:r>
              <a:rPr sz="1200">
                <a:solidFill>
                  <a:srgbClr val="5A5A5A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838045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2026-06-30T05:52:52.7790000Z</dcterms:created>
  <dcterms:modified xsi:type="dcterms:W3CDTF">2026-06-30T05:52:52.7790000Z</dcterms:modified>
</coreProperties>
</file>